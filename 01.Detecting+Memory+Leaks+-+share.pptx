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7" r:id="rId2"/>
    <p:sldMasterId id="2147483710" r:id="rId3"/>
  </p:sldMasterIdLst>
  <p:notesMasterIdLst>
    <p:notesMasterId r:id="rId108"/>
  </p:notesMasterIdLst>
  <p:sldIdLst>
    <p:sldId id="1816" r:id="rId4"/>
    <p:sldId id="1817" r:id="rId5"/>
    <p:sldId id="1818" r:id="rId6"/>
    <p:sldId id="1819" r:id="rId7"/>
    <p:sldId id="257" r:id="rId8"/>
    <p:sldId id="258" r:id="rId9"/>
    <p:sldId id="261" r:id="rId10"/>
    <p:sldId id="264" r:id="rId11"/>
    <p:sldId id="263" r:id="rId12"/>
    <p:sldId id="268" r:id="rId13"/>
    <p:sldId id="638" r:id="rId14"/>
    <p:sldId id="639" r:id="rId15"/>
    <p:sldId id="1504" r:id="rId16"/>
    <p:sldId id="1820" r:id="rId17"/>
    <p:sldId id="1821" r:id="rId18"/>
    <p:sldId id="259" r:id="rId19"/>
    <p:sldId id="260" r:id="rId20"/>
    <p:sldId id="267" r:id="rId21"/>
    <p:sldId id="351" r:id="rId22"/>
    <p:sldId id="1145" r:id="rId23"/>
    <p:sldId id="1497" r:id="rId24"/>
    <p:sldId id="1498" r:id="rId25"/>
    <p:sldId id="1345" r:id="rId26"/>
    <p:sldId id="1358" r:id="rId27"/>
    <p:sldId id="1499" r:id="rId28"/>
    <p:sldId id="1503" r:id="rId29"/>
    <p:sldId id="1823" r:id="rId30"/>
    <p:sldId id="1506" r:id="rId31"/>
    <p:sldId id="360" r:id="rId32"/>
    <p:sldId id="321" r:id="rId33"/>
    <p:sldId id="1507" r:id="rId34"/>
    <p:sldId id="1508" r:id="rId35"/>
    <p:sldId id="265" r:id="rId36"/>
    <p:sldId id="1452" r:id="rId37"/>
    <p:sldId id="1500" r:id="rId38"/>
    <p:sldId id="363" r:id="rId39"/>
    <p:sldId id="1501" r:id="rId40"/>
    <p:sldId id="362" r:id="rId41"/>
    <p:sldId id="1502" r:id="rId42"/>
    <p:sldId id="1453" r:id="rId43"/>
    <p:sldId id="1149" r:id="rId44"/>
    <p:sldId id="1150" r:id="rId45"/>
    <p:sldId id="276" r:id="rId46"/>
    <p:sldId id="1824" r:id="rId47"/>
    <p:sldId id="1825" r:id="rId48"/>
    <p:sldId id="1413" r:id="rId49"/>
    <p:sldId id="1826" r:id="rId50"/>
    <p:sldId id="1827" r:id="rId51"/>
    <p:sldId id="1322" r:id="rId52"/>
    <p:sldId id="1421" r:id="rId53"/>
    <p:sldId id="1321" r:id="rId54"/>
    <p:sldId id="1324" r:id="rId55"/>
    <p:sldId id="357" r:id="rId56"/>
    <p:sldId id="1509" r:id="rId57"/>
    <p:sldId id="358" r:id="rId58"/>
    <p:sldId id="1323" r:id="rId59"/>
    <p:sldId id="1422" r:id="rId60"/>
    <p:sldId id="278" r:id="rId61"/>
    <p:sldId id="1491" r:id="rId62"/>
    <p:sldId id="280" r:id="rId63"/>
    <p:sldId id="1164" r:id="rId64"/>
    <p:sldId id="1152" r:id="rId65"/>
    <p:sldId id="1153" r:id="rId66"/>
    <p:sldId id="1155" r:id="rId67"/>
    <p:sldId id="1511" r:id="rId68"/>
    <p:sldId id="304" r:id="rId69"/>
    <p:sldId id="641" r:id="rId70"/>
    <p:sldId id="640" r:id="rId71"/>
    <p:sldId id="305" r:id="rId72"/>
    <p:sldId id="306" r:id="rId73"/>
    <p:sldId id="642" r:id="rId74"/>
    <p:sldId id="309" r:id="rId75"/>
    <p:sldId id="308" r:id="rId76"/>
    <p:sldId id="628" r:id="rId77"/>
    <p:sldId id="629" r:id="rId78"/>
    <p:sldId id="630" r:id="rId79"/>
    <p:sldId id="631" r:id="rId80"/>
    <p:sldId id="632" r:id="rId81"/>
    <p:sldId id="643" r:id="rId82"/>
    <p:sldId id="300" r:id="rId83"/>
    <p:sldId id="633" r:id="rId84"/>
    <p:sldId id="634" r:id="rId85"/>
    <p:sldId id="635" r:id="rId86"/>
    <p:sldId id="636" r:id="rId87"/>
    <p:sldId id="637" r:id="rId88"/>
    <p:sldId id="644" r:id="rId89"/>
    <p:sldId id="645" r:id="rId90"/>
    <p:sldId id="650" r:id="rId91"/>
    <p:sldId id="651" r:id="rId92"/>
    <p:sldId id="652" r:id="rId93"/>
    <p:sldId id="653" r:id="rId94"/>
    <p:sldId id="654" r:id="rId95"/>
    <p:sldId id="655" r:id="rId96"/>
    <p:sldId id="656" r:id="rId97"/>
    <p:sldId id="657" r:id="rId98"/>
    <p:sldId id="658" r:id="rId99"/>
    <p:sldId id="659" r:id="rId100"/>
    <p:sldId id="661" r:id="rId101"/>
    <p:sldId id="663" r:id="rId102"/>
    <p:sldId id="660" r:id="rId103"/>
    <p:sldId id="646" r:id="rId104"/>
    <p:sldId id="664" r:id="rId105"/>
    <p:sldId id="648" r:id="rId106"/>
    <p:sldId id="647" r:id="rId10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Dzk6NcUUmi8MNDIWAB/Dw==" hashData="rKeR31cNOjJzLIgJVSXAxdtkRO2sz6XJhejnOgOYDPBDow+5QguX+9/6ate2P0jwI14fapURHqeWXEKCzl1CZg=="/>
  <p:extLst>
    <p:ext uri="{521415D9-36F7-43E2-AB2F-B90AF26B5E84}">
      <p14:sectionLst xmlns:p14="http://schemas.microsoft.com/office/powerpoint/2010/main">
        <p14:section name="Default Section" id="{AD7EFC09-B4D7-4C9D-AF2F-583C018851C1}">
          <p14:sldIdLst>
            <p14:sldId id="1816"/>
            <p14:sldId id="1817"/>
            <p14:sldId id="1818"/>
            <p14:sldId id="1819"/>
            <p14:sldId id="257"/>
          </p14:sldIdLst>
        </p14:section>
        <p14:section name="Introduction to Pointers" id="{6FAF18F1-02AC-4749-B18F-A118A5C1CC09}">
          <p14:sldIdLst>
            <p14:sldId id="258"/>
            <p14:sldId id="261"/>
            <p14:sldId id="264"/>
            <p14:sldId id="263"/>
            <p14:sldId id="268"/>
            <p14:sldId id="638"/>
            <p14:sldId id="639"/>
          </p14:sldIdLst>
        </p14:section>
        <p14:section name="VS Debugging" id="{D05B08B9-7717-4546-B0D0-AA1ED14F2662}">
          <p14:sldIdLst/>
        </p14:section>
        <p14:section name="Debugging Overview" id="{64E5C2A3-9938-4FA0-B67E-6A6C0F55642E}">
          <p14:sldIdLst>
            <p14:sldId id="1504"/>
            <p14:sldId id="1820"/>
            <p14:sldId id="1821"/>
            <p14:sldId id="259"/>
            <p14:sldId id="260"/>
            <p14:sldId id="267"/>
            <p14:sldId id="351"/>
            <p14:sldId id="1145"/>
            <p14:sldId id="1497"/>
            <p14:sldId id="1498"/>
            <p14:sldId id="1345"/>
            <p14:sldId id="1358"/>
            <p14:sldId id="1499"/>
            <p14:sldId id="1503"/>
            <p14:sldId id="1823"/>
            <p14:sldId id="1506"/>
            <p14:sldId id="360"/>
            <p14:sldId id="321"/>
            <p14:sldId id="1507"/>
            <p14:sldId id="1508"/>
            <p14:sldId id="265"/>
            <p14:sldId id="1452"/>
            <p14:sldId id="1500"/>
            <p14:sldId id="363"/>
            <p14:sldId id="1501"/>
            <p14:sldId id="362"/>
            <p14:sldId id="1502"/>
            <p14:sldId id="1453"/>
            <p14:sldId id="1149"/>
            <p14:sldId id="1150"/>
            <p14:sldId id="276"/>
            <p14:sldId id="1824"/>
            <p14:sldId id="1825"/>
            <p14:sldId id="1413"/>
            <p14:sldId id="1826"/>
            <p14:sldId id="1827"/>
            <p14:sldId id="1322"/>
            <p14:sldId id="1421"/>
            <p14:sldId id="1321"/>
            <p14:sldId id="1324"/>
            <p14:sldId id="357"/>
            <p14:sldId id="1509"/>
            <p14:sldId id="358"/>
            <p14:sldId id="1323"/>
            <p14:sldId id="1422"/>
            <p14:sldId id="278"/>
            <p14:sldId id="1491"/>
            <p14:sldId id="280"/>
            <p14:sldId id="1164"/>
            <p14:sldId id="1152"/>
            <p14:sldId id="1153"/>
            <p14:sldId id="1155"/>
            <p14:sldId id="1511"/>
          </p14:sldIdLst>
        </p14:section>
        <p14:section name="C Heap Allocation" id="{0717117C-A39E-4B96-83ED-0B6B59C4A15D}">
          <p14:sldIdLst>
            <p14:sldId id="304"/>
            <p14:sldId id="641"/>
            <p14:sldId id="640"/>
            <p14:sldId id="305"/>
            <p14:sldId id="306"/>
            <p14:sldId id="642"/>
            <p14:sldId id="309"/>
            <p14:sldId id="308"/>
            <p14:sldId id="628"/>
            <p14:sldId id="629"/>
            <p14:sldId id="630"/>
            <p14:sldId id="631"/>
            <p14:sldId id="632"/>
            <p14:sldId id="643"/>
            <p14:sldId id="300"/>
          </p14:sldIdLst>
        </p14:section>
        <p14:section name="Issues" id="{1F7ECC7C-C230-4373-B053-53E7E0B28560}">
          <p14:sldIdLst>
            <p14:sldId id="633"/>
            <p14:sldId id="634"/>
            <p14:sldId id="635"/>
            <p14:sldId id="636"/>
            <p14:sldId id="637"/>
            <p14:sldId id="644"/>
            <p14:sldId id="645"/>
          </p14:sldIdLst>
        </p14:section>
        <p14:section name="Detecting Issues" id="{DF22A45D-D3E1-49B4-BF36-5141AE504EDE}">
          <p14:sldIdLst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</p14:sldIdLst>
        </p14:section>
        <p14:section name="Internals" id="{FBC216BE-5FED-428E-BCD3-0A396003A48D}">
          <p14:sldIdLst>
            <p14:sldId id="659"/>
            <p14:sldId id="661"/>
            <p14:sldId id="663"/>
            <p14:sldId id="660"/>
            <p14:sldId id="646"/>
            <p14:sldId id="664"/>
            <p14:sldId id="648"/>
            <p14:sldId id="6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mar Lone" initials="UL" lastIdx="1" clrIdx="0">
    <p:extLst>
      <p:ext uri="{19B8F6BF-5375-455C-9EA6-DF929625EA0E}">
        <p15:presenceInfo xmlns:p15="http://schemas.microsoft.com/office/powerpoint/2012/main" userId="S-1-5-21-4292198858-1722435285-1222306738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5D12"/>
    <a:srgbClr val="6DAA44"/>
    <a:srgbClr val="EF8943"/>
    <a:srgbClr val="0086EA"/>
    <a:srgbClr val="F2F2F2"/>
    <a:srgbClr val="A4CE88"/>
    <a:srgbClr val="4FD1FF"/>
    <a:srgbClr val="D9B02B"/>
    <a:srgbClr val="365422"/>
    <a:srgbClr val="AD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571ACF-75CC-4478-894F-3966708CB516}" v="4" dt="2023-11-29T14:05:11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13" autoAdjust="0"/>
    <p:restoredTop sz="71589" autoAdjust="0"/>
  </p:normalViewPr>
  <p:slideViewPr>
    <p:cSldViewPr snapToGrid="0">
      <p:cViewPr varScale="1">
        <p:scale>
          <a:sx n="80" d="100"/>
          <a:sy n="80" d="100"/>
        </p:scale>
        <p:origin x="2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theme" Target="theme/theme1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tableStyles" Target="tableStyle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microsoft.com/office/2016/11/relationships/changesInfo" Target="changesInfos/changesInfo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commentAuthors" Target="commentAuthor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mar Lone" userId="f595d8b7-38d8-4368-969a-4ad494059bb7" providerId="ADAL" clId="{5D2A4E48-0098-4F9C-BC7E-5BCD56B429F0}"/>
    <pc:docChg chg="undo custSel addSld delSld modSld addSection modSection">
      <pc:chgData name="Umar Lone" userId="f595d8b7-38d8-4368-969a-4ad494059bb7" providerId="ADAL" clId="{5D2A4E48-0098-4F9C-BC7E-5BCD56B429F0}" dt="2025-10-26T04:41:01.825" v="65" actId="47"/>
      <pc:docMkLst>
        <pc:docMk/>
      </pc:docMkLst>
      <pc:sldChg chg="modSp add mod modNotesTx">
        <pc:chgData name="Umar Lone" userId="f595d8b7-38d8-4368-969a-4ad494059bb7" providerId="ADAL" clId="{5D2A4E48-0098-4F9C-BC7E-5BCD56B429F0}" dt="2025-10-26T04:37:17.212" v="15" actId="6549"/>
        <pc:sldMkLst>
          <pc:docMk/>
          <pc:sldMk cId="0" sldId="259"/>
        </pc:sldMkLst>
        <pc:spChg chg="mod">
          <ac:chgData name="Umar Lone" userId="f595d8b7-38d8-4368-969a-4ad494059bb7" providerId="ADAL" clId="{5D2A4E48-0098-4F9C-BC7E-5BCD56B429F0}" dt="2025-10-26T04:36:42.052" v="3" actId="27636"/>
          <ac:spMkLst>
            <pc:docMk/>
            <pc:sldMk cId="0" sldId="259"/>
            <ac:spMk id="3" creationId="{00000000-0000-0000-0000-000000000000}"/>
          </ac:spMkLst>
        </pc:spChg>
      </pc:sldChg>
      <pc:sldChg chg="add modNotes modNotesTx">
        <pc:chgData name="Umar Lone" userId="f595d8b7-38d8-4368-969a-4ad494059bb7" providerId="ADAL" clId="{5D2A4E48-0098-4F9C-BC7E-5BCD56B429F0}" dt="2025-10-26T04:37:25.234" v="17" actId="6549"/>
        <pc:sldMkLst>
          <pc:docMk/>
          <pc:sldMk cId="0" sldId="260"/>
        </pc:sldMkLst>
      </pc:sldChg>
      <pc:sldChg chg="modSp add mod">
        <pc:chgData name="Umar Lone" userId="f595d8b7-38d8-4368-969a-4ad494059bb7" providerId="ADAL" clId="{5D2A4E48-0098-4F9C-BC7E-5BCD56B429F0}" dt="2025-10-26T04:36:42.072" v="5" actId="27636"/>
        <pc:sldMkLst>
          <pc:docMk/>
          <pc:sldMk cId="0" sldId="265"/>
        </pc:sldMkLst>
        <pc:spChg chg="mod">
          <ac:chgData name="Umar Lone" userId="f595d8b7-38d8-4368-969a-4ad494059bb7" providerId="ADAL" clId="{5D2A4E48-0098-4F9C-BC7E-5BCD56B429F0}" dt="2025-10-26T04:36:42.072" v="5" actId="27636"/>
          <ac:spMkLst>
            <pc:docMk/>
            <pc:sldMk cId="0" sldId="265"/>
            <ac:spMk id="3" creationId="{00000000-0000-0000-0000-000000000000}"/>
          </ac:spMkLst>
        </pc:spChg>
      </pc:sldChg>
      <pc:sldChg chg="add del">
        <pc:chgData name="Umar Lone" userId="f595d8b7-38d8-4368-969a-4ad494059bb7" providerId="ADAL" clId="{5D2A4E48-0098-4F9C-BC7E-5BCD56B429F0}" dt="2025-10-26T04:38:28.265" v="33" actId="47"/>
        <pc:sldMkLst>
          <pc:docMk/>
          <pc:sldMk cId="0" sldId="266"/>
        </pc:sldMkLst>
      </pc:sldChg>
      <pc:sldChg chg="add modNotes modNotesTx">
        <pc:chgData name="Umar Lone" userId="f595d8b7-38d8-4368-969a-4ad494059bb7" providerId="ADAL" clId="{5D2A4E48-0098-4F9C-BC7E-5BCD56B429F0}" dt="2025-10-26T04:37:29.278" v="18" actId="6549"/>
        <pc:sldMkLst>
          <pc:docMk/>
          <pc:sldMk cId="2504978773" sldId="267"/>
        </pc:sldMkLst>
      </pc:sldChg>
      <pc:sldChg chg="add modNotes modNotesTx">
        <pc:chgData name="Umar Lone" userId="f595d8b7-38d8-4368-969a-4ad494059bb7" providerId="ADAL" clId="{5D2A4E48-0098-4F9C-BC7E-5BCD56B429F0}" dt="2025-10-26T04:40:01.475" v="52" actId="6549"/>
        <pc:sldMkLst>
          <pc:docMk/>
          <pc:sldMk cId="0" sldId="276"/>
        </pc:sldMkLst>
      </pc:sldChg>
      <pc:sldChg chg="add modNotes modNotesTx">
        <pc:chgData name="Umar Lone" userId="f595d8b7-38d8-4368-969a-4ad494059bb7" providerId="ADAL" clId="{5D2A4E48-0098-4F9C-BC7E-5BCD56B429F0}" dt="2025-10-26T04:40:27.553" v="58" actId="6549"/>
        <pc:sldMkLst>
          <pc:docMk/>
          <pc:sldMk cId="0" sldId="278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0" sldId="280"/>
        </pc:sldMkLst>
      </pc:sldChg>
      <pc:sldChg chg="add del">
        <pc:chgData name="Umar Lone" userId="f595d8b7-38d8-4368-969a-4ad494059bb7" providerId="ADAL" clId="{5D2A4E48-0098-4F9C-BC7E-5BCD56B429F0}" dt="2025-10-26T04:37:19.512" v="16" actId="47"/>
        <pc:sldMkLst>
          <pc:docMk/>
          <pc:sldMk cId="0" sldId="295"/>
        </pc:sldMkLst>
      </pc:sldChg>
      <pc:sldChg chg="modSp add mod">
        <pc:chgData name="Umar Lone" userId="f595d8b7-38d8-4368-969a-4ad494059bb7" providerId="ADAL" clId="{5D2A4E48-0098-4F9C-BC7E-5BCD56B429F0}" dt="2025-10-26T04:38:13.755" v="28" actId="207"/>
        <pc:sldMkLst>
          <pc:docMk/>
          <pc:sldMk cId="0" sldId="321"/>
        </pc:sldMkLst>
        <pc:spChg chg="mod">
          <ac:chgData name="Umar Lone" userId="f595d8b7-38d8-4368-969a-4ad494059bb7" providerId="ADAL" clId="{5D2A4E48-0098-4F9C-BC7E-5BCD56B429F0}" dt="2025-10-26T04:38:13.755" v="28" actId="207"/>
          <ac:spMkLst>
            <pc:docMk/>
            <pc:sldMk cId="0" sldId="321"/>
            <ac:spMk id="7" creationId="{4D929C53-7478-4179-A85B-D70528C2DA34}"/>
          </ac:spMkLst>
        </pc:spChg>
        <pc:spChg chg="mod">
          <ac:chgData name="Umar Lone" userId="f595d8b7-38d8-4368-969a-4ad494059bb7" providerId="ADAL" clId="{5D2A4E48-0098-4F9C-BC7E-5BCD56B429F0}" dt="2025-10-26T04:38:13.755" v="28" actId="207"/>
          <ac:spMkLst>
            <pc:docMk/>
            <pc:sldMk cId="0" sldId="321"/>
            <ac:spMk id="9" creationId="{DFD03A9E-31B8-483D-A4BC-4A99ABB30A6A}"/>
          </ac:spMkLst>
        </pc:spChg>
        <pc:spChg chg="mod">
          <ac:chgData name="Umar Lone" userId="f595d8b7-38d8-4368-969a-4ad494059bb7" providerId="ADAL" clId="{5D2A4E48-0098-4F9C-BC7E-5BCD56B429F0}" dt="2025-10-26T04:38:13.755" v="28" actId="207"/>
          <ac:spMkLst>
            <pc:docMk/>
            <pc:sldMk cId="0" sldId="321"/>
            <ac:spMk id="11" creationId="{C9026AED-7B40-45F2-B40B-43E69341C947}"/>
          </ac:spMkLst>
        </pc:spChg>
      </pc:sldChg>
      <pc:sldChg chg="add">
        <pc:chgData name="Umar Lone" userId="f595d8b7-38d8-4368-969a-4ad494059bb7" providerId="ADAL" clId="{5D2A4E48-0098-4F9C-BC7E-5BCD56B429F0}" dt="2025-10-26T04:36:41.979" v="2"/>
        <pc:sldMkLst>
          <pc:docMk/>
          <pc:sldMk cId="3557996653" sldId="351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1837300339" sldId="357"/>
        </pc:sldMkLst>
      </pc:sldChg>
      <pc:sldChg chg="add modNotesTx">
        <pc:chgData name="Umar Lone" userId="f595d8b7-38d8-4368-969a-4ad494059bb7" providerId="ADAL" clId="{5D2A4E48-0098-4F9C-BC7E-5BCD56B429F0}" dt="2025-10-26T04:40:18.698" v="56" actId="6549"/>
        <pc:sldMkLst>
          <pc:docMk/>
          <pc:sldMk cId="3163079117" sldId="358"/>
        </pc:sldMkLst>
      </pc:sldChg>
      <pc:sldChg chg="add">
        <pc:chgData name="Umar Lone" userId="f595d8b7-38d8-4368-969a-4ad494059bb7" providerId="ADAL" clId="{5D2A4E48-0098-4F9C-BC7E-5BCD56B429F0}" dt="2025-10-26T04:36:41.979" v="2"/>
        <pc:sldMkLst>
          <pc:docMk/>
          <pc:sldMk cId="1107428371" sldId="360"/>
        </pc:sldMkLst>
      </pc:sldChg>
      <pc:sldChg chg="modSp add mod">
        <pc:chgData name="Umar Lone" userId="f595d8b7-38d8-4368-969a-4ad494059bb7" providerId="ADAL" clId="{5D2A4E48-0098-4F9C-BC7E-5BCD56B429F0}" dt="2025-10-26T04:38:43.615" v="40" actId="207"/>
        <pc:sldMkLst>
          <pc:docMk/>
          <pc:sldMk cId="42525354" sldId="362"/>
        </pc:sldMkLst>
        <pc:spChg chg="mod">
          <ac:chgData name="Umar Lone" userId="f595d8b7-38d8-4368-969a-4ad494059bb7" providerId="ADAL" clId="{5D2A4E48-0098-4F9C-BC7E-5BCD56B429F0}" dt="2025-10-26T04:38:43.615" v="40" actId="207"/>
          <ac:spMkLst>
            <pc:docMk/>
            <pc:sldMk cId="42525354" sldId="362"/>
            <ac:spMk id="9" creationId="{617099CC-D638-47F0-8D93-983E92EBE88E}"/>
          </ac:spMkLst>
        </pc:spChg>
      </pc:sldChg>
      <pc:sldChg chg="modSp add mod">
        <pc:chgData name="Umar Lone" userId="f595d8b7-38d8-4368-969a-4ad494059bb7" providerId="ADAL" clId="{5D2A4E48-0098-4F9C-BC7E-5BCD56B429F0}" dt="2025-10-26T04:38:36.938" v="37" actId="207"/>
        <pc:sldMkLst>
          <pc:docMk/>
          <pc:sldMk cId="1019914367" sldId="363"/>
        </pc:sldMkLst>
        <pc:spChg chg="mod">
          <ac:chgData name="Umar Lone" userId="f595d8b7-38d8-4368-969a-4ad494059bb7" providerId="ADAL" clId="{5D2A4E48-0098-4F9C-BC7E-5BCD56B429F0}" dt="2025-10-26T04:38:35.380" v="36" actId="207"/>
          <ac:spMkLst>
            <pc:docMk/>
            <pc:sldMk cId="1019914367" sldId="363"/>
            <ac:spMk id="4" creationId="{CB3A70B5-C521-258B-9385-DDCBBC004088}"/>
          </ac:spMkLst>
        </pc:spChg>
        <pc:spChg chg="mod">
          <ac:chgData name="Umar Lone" userId="f595d8b7-38d8-4368-969a-4ad494059bb7" providerId="ADAL" clId="{5D2A4E48-0098-4F9C-BC7E-5BCD56B429F0}" dt="2025-10-26T04:38:36.938" v="37" actId="207"/>
          <ac:spMkLst>
            <pc:docMk/>
            <pc:sldMk cId="1019914367" sldId="363"/>
            <ac:spMk id="7" creationId="{D29FE8D5-8B07-65AF-6F85-7B3D49E56184}"/>
          </ac:spMkLst>
        </pc:spChg>
      </pc:sldChg>
      <pc:sldChg chg="modSp add mod">
        <pc:chgData name="Umar Lone" userId="f595d8b7-38d8-4368-969a-4ad494059bb7" providerId="ADAL" clId="{5D2A4E48-0098-4F9C-BC7E-5BCD56B429F0}" dt="2025-10-26T04:37:39.585" v="19" actId="207"/>
        <pc:sldMkLst>
          <pc:docMk/>
          <pc:sldMk cId="1285278270" sldId="1145"/>
        </pc:sldMkLst>
        <pc:spChg chg="mod">
          <ac:chgData name="Umar Lone" userId="f595d8b7-38d8-4368-969a-4ad494059bb7" providerId="ADAL" clId="{5D2A4E48-0098-4F9C-BC7E-5BCD56B429F0}" dt="2025-10-26T04:37:39.585" v="19" actId="207"/>
          <ac:spMkLst>
            <pc:docMk/>
            <pc:sldMk cId="1285278270" sldId="1145"/>
            <ac:spMk id="6" creationId="{CB410A88-6804-BDC3-493F-CC053BE1B519}"/>
          </ac:spMkLst>
        </pc:spChg>
      </pc:sldChg>
      <pc:sldChg chg="add del">
        <pc:chgData name="Umar Lone" userId="f595d8b7-38d8-4368-969a-4ad494059bb7" providerId="ADAL" clId="{5D2A4E48-0098-4F9C-BC7E-5BCD56B429F0}" dt="2025-10-26T04:40:48.722" v="60" actId="47"/>
        <pc:sldMkLst>
          <pc:docMk/>
          <pc:sldMk cId="3805063474" sldId="1148"/>
        </pc:sldMkLst>
      </pc:sldChg>
      <pc:sldChg chg="modSp add mod modNotesTx">
        <pc:chgData name="Umar Lone" userId="f595d8b7-38d8-4368-969a-4ad494059bb7" providerId="ADAL" clId="{5D2A4E48-0098-4F9C-BC7E-5BCD56B429F0}" dt="2025-10-26T04:38:53.613" v="44" actId="6549"/>
        <pc:sldMkLst>
          <pc:docMk/>
          <pc:sldMk cId="1738676628" sldId="1149"/>
        </pc:sldMkLst>
        <pc:spChg chg="mod">
          <ac:chgData name="Umar Lone" userId="f595d8b7-38d8-4368-969a-4ad494059bb7" providerId="ADAL" clId="{5D2A4E48-0098-4F9C-BC7E-5BCD56B429F0}" dt="2025-10-26T04:36:42.078" v="6" actId="27636"/>
          <ac:spMkLst>
            <pc:docMk/>
            <pc:sldMk cId="1738676628" sldId="1149"/>
            <ac:spMk id="5" creationId="{DF87446F-4DA9-4580-8AF2-445F6FFBDB97}"/>
          </ac:spMkLst>
        </pc:spChg>
      </pc:sldChg>
      <pc:sldChg chg="modSp add mod">
        <pc:chgData name="Umar Lone" userId="f595d8b7-38d8-4368-969a-4ad494059bb7" providerId="ADAL" clId="{5D2A4E48-0098-4F9C-BC7E-5BCD56B429F0}" dt="2025-10-26T04:38:58.472" v="46" actId="207"/>
        <pc:sldMkLst>
          <pc:docMk/>
          <pc:sldMk cId="365972215" sldId="1150"/>
        </pc:sldMkLst>
        <pc:spChg chg="mod">
          <ac:chgData name="Umar Lone" userId="f595d8b7-38d8-4368-969a-4ad494059bb7" providerId="ADAL" clId="{5D2A4E48-0098-4F9C-BC7E-5BCD56B429F0}" dt="2025-10-26T04:38:57.062" v="45" actId="207"/>
          <ac:spMkLst>
            <pc:docMk/>
            <pc:sldMk cId="365972215" sldId="1150"/>
            <ac:spMk id="8" creationId="{D75729C1-8CB5-4B91-A134-7604EC64C3A3}"/>
          </ac:spMkLst>
        </pc:spChg>
        <pc:spChg chg="mod">
          <ac:chgData name="Umar Lone" userId="f595d8b7-38d8-4368-969a-4ad494059bb7" providerId="ADAL" clId="{5D2A4E48-0098-4F9C-BC7E-5BCD56B429F0}" dt="2025-10-26T04:38:58.472" v="46" actId="207"/>
          <ac:spMkLst>
            <pc:docMk/>
            <pc:sldMk cId="365972215" sldId="1150"/>
            <ac:spMk id="13" creationId="{A1B93E97-6D07-41A6-AE45-D847A590D755}"/>
          </ac:spMkLst>
        </pc:spChg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854902014" sldId="1151"/>
        </pc:sldMkLst>
      </pc:sldChg>
      <pc:sldChg chg="modSp add mod">
        <pc:chgData name="Umar Lone" userId="f595d8b7-38d8-4368-969a-4ad494059bb7" providerId="ADAL" clId="{5D2A4E48-0098-4F9C-BC7E-5BCD56B429F0}" dt="2025-10-26T04:39:53.258" v="48" actId="27636"/>
        <pc:sldMkLst>
          <pc:docMk/>
          <pc:sldMk cId="3210225733" sldId="1152"/>
        </pc:sldMkLst>
        <pc:spChg chg="mod">
          <ac:chgData name="Umar Lone" userId="f595d8b7-38d8-4368-969a-4ad494059bb7" providerId="ADAL" clId="{5D2A4E48-0098-4F9C-BC7E-5BCD56B429F0}" dt="2025-10-26T04:39:53.258" v="48" actId="27636"/>
          <ac:spMkLst>
            <pc:docMk/>
            <pc:sldMk cId="3210225733" sldId="1152"/>
            <ac:spMk id="3" creationId="{A11BF3ED-BC50-490A-A167-8872BC026689}"/>
          </ac:spMkLst>
        </pc:spChg>
      </pc:sldChg>
      <pc:sldChg chg="add modNotesTx">
        <pc:chgData name="Umar Lone" userId="f595d8b7-38d8-4368-969a-4ad494059bb7" providerId="ADAL" clId="{5D2A4E48-0098-4F9C-BC7E-5BCD56B429F0}" dt="2025-10-26T04:40:55.485" v="61" actId="6549"/>
        <pc:sldMkLst>
          <pc:docMk/>
          <pc:sldMk cId="2248828900" sldId="1153"/>
        </pc:sldMkLst>
      </pc:sldChg>
      <pc:sldChg chg="add del">
        <pc:chgData name="Umar Lone" userId="f595d8b7-38d8-4368-969a-4ad494059bb7" providerId="ADAL" clId="{5D2A4E48-0098-4F9C-BC7E-5BCD56B429F0}" dt="2025-10-26T04:40:56.433" v="62" actId="47"/>
        <pc:sldMkLst>
          <pc:docMk/>
          <pc:sldMk cId="2997642549" sldId="1154"/>
        </pc:sldMkLst>
      </pc:sldChg>
      <pc:sldChg chg="modSp add mod">
        <pc:chgData name="Umar Lone" userId="f595d8b7-38d8-4368-969a-4ad494059bb7" providerId="ADAL" clId="{5D2A4E48-0098-4F9C-BC7E-5BCD56B429F0}" dt="2025-10-26T04:39:53.261" v="49" actId="27636"/>
        <pc:sldMkLst>
          <pc:docMk/>
          <pc:sldMk cId="3967599992" sldId="1155"/>
        </pc:sldMkLst>
        <pc:spChg chg="mod">
          <ac:chgData name="Umar Lone" userId="f595d8b7-38d8-4368-969a-4ad494059bb7" providerId="ADAL" clId="{5D2A4E48-0098-4F9C-BC7E-5BCD56B429F0}" dt="2025-10-26T04:39:53.261" v="49" actId="27636"/>
          <ac:spMkLst>
            <pc:docMk/>
            <pc:sldMk cId="3967599992" sldId="1155"/>
            <ac:spMk id="5" creationId="{FC852423-EE83-4106-BF82-DEE7B548F469}"/>
          </ac:spMkLst>
        </pc:spChg>
      </pc:sldChg>
      <pc:sldChg chg="add del">
        <pc:chgData name="Umar Lone" userId="f595d8b7-38d8-4368-969a-4ad494059bb7" providerId="ADAL" clId="{5D2A4E48-0098-4F9C-BC7E-5BCD56B429F0}" dt="2025-10-26T04:40:59.542" v="63" actId="47"/>
        <pc:sldMkLst>
          <pc:docMk/>
          <pc:sldMk cId="3562477811" sldId="1156"/>
        </pc:sldMkLst>
      </pc:sldChg>
      <pc:sldChg chg="add del">
        <pc:chgData name="Umar Lone" userId="f595d8b7-38d8-4368-969a-4ad494059bb7" providerId="ADAL" clId="{5D2A4E48-0098-4F9C-BC7E-5BCD56B429F0}" dt="2025-10-26T04:41:01.825" v="65" actId="47"/>
        <pc:sldMkLst>
          <pc:docMk/>
          <pc:sldMk cId="281504699" sldId="1157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585234121" sldId="1158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2406241832" sldId="1159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321704287" sldId="1161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260519454" sldId="1163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3838629169" sldId="1164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480529384" sldId="1321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2029793095" sldId="1322"/>
        </pc:sldMkLst>
      </pc:sldChg>
      <pc:sldChg chg="add modNotesTx">
        <pc:chgData name="Umar Lone" userId="f595d8b7-38d8-4368-969a-4ad494059bb7" providerId="ADAL" clId="{5D2A4E48-0098-4F9C-BC7E-5BCD56B429F0}" dt="2025-10-26T04:40:21.852" v="57" actId="6549"/>
        <pc:sldMkLst>
          <pc:docMk/>
          <pc:sldMk cId="636697818" sldId="1323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2937610865" sldId="1324"/>
        </pc:sldMkLst>
      </pc:sldChg>
      <pc:sldChg chg="add">
        <pc:chgData name="Umar Lone" userId="f595d8b7-38d8-4368-969a-4ad494059bb7" providerId="ADAL" clId="{5D2A4E48-0098-4F9C-BC7E-5BCD56B429F0}" dt="2025-10-26T04:36:41.979" v="2"/>
        <pc:sldMkLst>
          <pc:docMk/>
          <pc:sldMk cId="1268800213" sldId="1345"/>
        </pc:sldMkLst>
      </pc:sldChg>
      <pc:sldChg chg="modSp add mod">
        <pc:chgData name="Umar Lone" userId="f595d8b7-38d8-4368-969a-4ad494059bb7" providerId="ADAL" clId="{5D2A4E48-0098-4F9C-BC7E-5BCD56B429F0}" dt="2025-10-26T04:37:50.459" v="22" actId="207"/>
        <pc:sldMkLst>
          <pc:docMk/>
          <pc:sldMk cId="4073906562" sldId="1358"/>
        </pc:sldMkLst>
        <pc:spChg chg="mod">
          <ac:chgData name="Umar Lone" userId="f595d8b7-38d8-4368-969a-4ad494059bb7" providerId="ADAL" clId="{5D2A4E48-0098-4F9C-BC7E-5BCD56B429F0}" dt="2025-10-26T04:37:48.141" v="21" actId="207"/>
          <ac:spMkLst>
            <pc:docMk/>
            <pc:sldMk cId="4073906562" sldId="1358"/>
            <ac:spMk id="3" creationId="{34B0C906-7582-EBF8-EB66-71ADF1790C9A}"/>
          </ac:spMkLst>
        </pc:spChg>
        <pc:spChg chg="mod">
          <ac:chgData name="Umar Lone" userId="f595d8b7-38d8-4368-969a-4ad494059bb7" providerId="ADAL" clId="{5D2A4E48-0098-4F9C-BC7E-5BCD56B429F0}" dt="2025-10-26T04:37:50.459" v="22" actId="207"/>
          <ac:spMkLst>
            <pc:docMk/>
            <pc:sldMk cId="4073906562" sldId="1358"/>
            <ac:spMk id="7" creationId="{01006AB7-36BD-83A4-183B-1B525A97152F}"/>
          </ac:spMkLst>
        </pc:spChg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3301295401" sldId="1413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651652370" sldId="1421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3923101404" sldId="1422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3799727922" sldId="1425"/>
        </pc:sldMkLst>
      </pc:sldChg>
      <pc:sldChg chg="add modNotes modNotesTx">
        <pc:chgData name="Umar Lone" userId="f595d8b7-38d8-4368-969a-4ad494059bb7" providerId="ADAL" clId="{5D2A4E48-0098-4F9C-BC7E-5BCD56B429F0}" dt="2025-10-26T04:38:26.945" v="32" actId="6549"/>
        <pc:sldMkLst>
          <pc:docMk/>
          <pc:sldMk cId="1954934703" sldId="1452"/>
        </pc:sldMkLst>
      </pc:sldChg>
      <pc:sldChg chg="modSp add mod setBg">
        <pc:chgData name="Umar Lone" userId="f595d8b7-38d8-4368-969a-4ad494059bb7" providerId="ADAL" clId="{5D2A4E48-0098-4F9C-BC7E-5BCD56B429F0}" dt="2025-10-26T04:38:49.147" v="42" actId="207"/>
        <pc:sldMkLst>
          <pc:docMk/>
          <pc:sldMk cId="958801014" sldId="1453"/>
        </pc:sldMkLst>
        <pc:spChg chg="mod">
          <ac:chgData name="Umar Lone" userId="f595d8b7-38d8-4368-969a-4ad494059bb7" providerId="ADAL" clId="{5D2A4E48-0098-4F9C-BC7E-5BCD56B429F0}" dt="2025-10-26T04:38:49.147" v="42" actId="207"/>
          <ac:spMkLst>
            <pc:docMk/>
            <pc:sldMk cId="958801014" sldId="1453"/>
            <ac:spMk id="5" creationId="{EB6929F0-1ABD-11DC-7ED2-57E44368B4AC}"/>
          </ac:spMkLst>
        </pc:spChg>
      </pc:sldChg>
      <pc:sldChg chg="add del">
        <pc:chgData name="Umar Lone" userId="f595d8b7-38d8-4368-969a-4ad494059bb7" providerId="ADAL" clId="{5D2A4E48-0098-4F9C-BC7E-5BCD56B429F0}" dt="2025-10-26T04:38:51.688" v="43" actId="47"/>
        <pc:sldMkLst>
          <pc:docMk/>
          <pc:sldMk cId="1185090609" sldId="1490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3132010334" sldId="1491"/>
        </pc:sldMkLst>
      </pc:sldChg>
      <pc:sldChg chg="add">
        <pc:chgData name="Umar Lone" userId="f595d8b7-38d8-4368-969a-4ad494059bb7" providerId="ADAL" clId="{5D2A4E48-0098-4F9C-BC7E-5BCD56B429F0}" dt="2025-10-26T04:36:41.979" v="2"/>
        <pc:sldMkLst>
          <pc:docMk/>
          <pc:sldMk cId="578484980" sldId="1497"/>
        </pc:sldMkLst>
      </pc:sldChg>
      <pc:sldChg chg="modSp add mod">
        <pc:chgData name="Umar Lone" userId="f595d8b7-38d8-4368-969a-4ad494059bb7" providerId="ADAL" clId="{5D2A4E48-0098-4F9C-BC7E-5BCD56B429F0}" dt="2025-10-26T04:37:44.484" v="20" actId="207"/>
        <pc:sldMkLst>
          <pc:docMk/>
          <pc:sldMk cId="434158008" sldId="1498"/>
        </pc:sldMkLst>
        <pc:spChg chg="mod">
          <ac:chgData name="Umar Lone" userId="f595d8b7-38d8-4368-969a-4ad494059bb7" providerId="ADAL" clId="{5D2A4E48-0098-4F9C-BC7E-5BCD56B429F0}" dt="2025-10-26T04:37:44.484" v="20" actId="207"/>
          <ac:spMkLst>
            <pc:docMk/>
            <pc:sldMk cId="434158008" sldId="1498"/>
            <ac:spMk id="3" creationId="{C7D7C292-56A3-B15F-C930-8B4FFC63E640}"/>
          </ac:spMkLst>
        </pc:spChg>
      </pc:sldChg>
      <pc:sldChg chg="modSp add mod">
        <pc:chgData name="Umar Lone" userId="f595d8b7-38d8-4368-969a-4ad494059bb7" providerId="ADAL" clId="{5D2A4E48-0098-4F9C-BC7E-5BCD56B429F0}" dt="2025-10-26T04:37:53.461" v="23" actId="207"/>
        <pc:sldMkLst>
          <pc:docMk/>
          <pc:sldMk cId="1916143876" sldId="1499"/>
        </pc:sldMkLst>
        <pc:spChg chg="mod">
          <ac:chgData name="Umar Lone" userId="f595d8b7-38d8-4368-969a-4ad494059bb7" providerId="ADAL" clId="{5D2A4E48-0098-4F9C-BC7E-5BCD56B429F0}" dt="2025-10-26T04:37:53.461" v="23" actId="207"/>
          <ac:spMkLst>
            <pc:docMk/>
            <pc:sldMk cId="1916143876" sldId="1499"/>
            <ac:spMk id="6" creationId="{400932D9-3088-93FF-AFB7-9735C8CD38A9}"/>
          </ac:spMkLst>
        </pc:spChg>
      </pc:sldChg>
      <pc:sldChg chg="modSp add mod">
        <pc:chgData name="Umar Lone" userId="f595d8b7-38d8-4368-969a-4ad494059bb7" providerId="ADAL" clId="{5D2A4E48-0098-4F9C-BC7E-5BCD56B429F0}" dt="2025-10-26T04:38:32.417" v="35" actId="207"/>
        <pc:sldMkLst>
          <pc:docMk/>
          <pc:sldMk cId="93080730" sldId="1500"/>
        </pc:sldMkLst>
        <pc:spChg chg="mod">
          <ac:chgData name="Umar Lone" userId="f595d8b7-38d8-4368-969a-4ad494059bb7" providerId="ADAL" clId="{5D2A4E48-0098-4F9C-BC7E-5BCD56B429F0}" dt="2025-10-26T04:38:30.954" v="34" actId="207"/>
          <ac:spMkLst>
            <pc:docMk/>
            <pc:sldMk cId="93080730" sldId="1500"/>
            <ac:spMk id="7" creationId="{FD7CFAA5-9A96-A9F9-28D8-4020AC503967}"/>
          </ac:spMkLst>
        </pc:spChg>
        <pc:spChg chg="mod">
          <ac:chgData name="Umar Lone" userId="f595d8b7-38d8-4368-969a-4ad494059bb7" providerId="ADAL" clId="{5D2A4E48-0098-4F9C-BC7E-5BCD56B429F0}" dt="2025-10-26T04:38:32.417" v="35" actId="207"/>
          <ac:spMkLst>
            <pc:docMk/>
            <pc:sldMk cId="93080730" sldId="1500"/>
            <ac:spMk id="15" creationId="{9CB7F46A-4E54-5A4E-3349-BE8CE3E5AB33}"/>
          </ac:spMkLst>
        </pc:spChg>
      </pc:sldChg>
      <pc:sldChg chg="modSp add mod">
        <pc:chgData name="Umar Lone" userId="f595d8b7-38d8-4368-969a-4ad494059bb7" providerId="ADAL" clId="{5D2A4E48-0098-4F9C-BC7E-5BCD56B429F0}" dt="2025-10-26T04:38:41.019" v="39" actId="207"/>
        <pc:sldMkLst>
          <pc:docMk/>
          <pc:sldMk cId="161647723" sldId="1501"/>
        </pc:sldMkLst>
        <pc:spChg chg="mod">
          <ac:chgData name="Umar Lone" userId="f595d8b7-38d8-4368-969a-4ad494059bb7" providerId="ADAL" clId="{5D2A4E48-0098-4F9C-BC7E-5BCD56B429F0}" dt="2025-10-26T04:38:39.481" v="38" actId="207"/>
          <ac:spMkLst>
            <pc:docMk/>
            <pc:sldMk cId="161647723" sldId="1501"/>
            <ac:spMk id="5" creationId="{298C020D-703E-7420-2EAC-0998D1AF8CA9}"/>
          </ac:spMkLst>
        </pc:spChg>
        <pc:spChg chg="mod">
          <ac:chgData name="Umar Lone" userId="f595d8b7-38d8-4368-969a-4ad494059bb7" providerId="ADAL" clId="{5D2A4E48-0098-4F9C-BC7E-5BCD56B429F0}" dt="2025-10-26T04:38:41.019" v="39" actId="207"/>
          <ac:spMkLst>
            <pc:docMk/>
            <pc:sldMk cId="161647723" sldId="1501"/>
            <ac:spMk id="7" creationId="{87CB9C0B-3EFD-7657-201C-4197505A7F36}"/>
          </ac:spMkLst>
        </pc:spChg>
      </pc:sldChg>
      <pc:sldChg chg="modSp add mod">
        <pc:chgData name="Umar Lone" userId="f595d8b7-38d8-4368-969a-4ad494059bb7" providerId="ADAL" clId="{5D2A4E48-0098-4F9C-BC7E-5BCD56B429F0}" dt="2025-10-26T04:38:46.159" v="41" actId="207"/>
        <pc:sldMkLst>
          <pc:docMk/>
          <pc:sldMk cId="3088678717" sldId="1502"/>
        </pc:sldMkLst>
        <pc:spChg chg="mod">
          <ac:chgData name="Umar Lone" userId="f595d8b7-38d8-4368-969a-4ad494059bb7" providerId="ADAL" clId="{5D2A4E48-0098-4F9C-BC7E-5BCD56B429F0}" dt="2025-10-26T04:38:46.159" v="41" actId="207"/>
          <ac:spMkLst>
            <pc:docMk/>
            <pc:sldMk cId="3088678717" sldId="1502"/>
            <ac:spMk id="5" creationId="{D0727526-CF54-EE1E-623D-AE1856691A04}"/>
          </ac:spMkLst>
        </pc:spChg>
      </pc:sldChg>
      <pc:sldChg chg="add">
        <pc:chgData name="Umar Lone" userId="f595d8b7-38d8-4368-969a-4ad494059bb7" providerId="ADAL" clId="{5D2A4E48-0098-4F9C-BC7E-5BCD56B429F0}" dt="2025-10-26T04:36:41.979" v="2"/>
        <pc:sldMkLst>
          <pc:docMk/>
          <pc:sldMk cId="794116921" sldId="1503"/>
        </pc:sldMkLst>
      </pc:sldChg>
      <pc:sldChg chg="add modNotesTx">
        <pc:chgData name="Umar Lone" userId="f595d8b7-38d8-4368-969a-4ad494059bb7" providerId="ADAL" clId="{5D2A4E48-0098-4F9C-BC7E-5BCD56B429F0}" dt="2025-10-26T04:37:04.385" v="12" actId="6549"/>
        <pc:sldMkLst>
          <pc:docMk/>
          <pc:sldMk cId="3735479458" sldId="1504"/>
        </pc:sldMkLst>
      </pc:sldChg>
      <pc:sldChg chg="add del modNotes">
        <pc:chgData name="Umar Lone" userId="f595d8b7-38d8-4368-969a-4ad494059bb7" providerId="ADAL" clId="{5D2A4E48-0098-4F9C-BC7E-5BCD56B429F0}" dt="2025-10-26T04:37:57.921" v="25" actId="47"/>
        <pc:sldMkLst>
          <pc:docMk/>
          <pc:sldMk cId="790042260" sldId="1505"/>
        </pc:sldMkLst>
      </pc:sldChg>
      <pc:sldChg chg="add modNotesTx">
        <pc:chgData name="Umar Lone" userId="f595d8b7-38d8-4368-969a-4ad494059bb7" providerId="ADAL" clId="{5D2A4E48-0098-4F9C-BC7E-5BCD56B429F0}" dt="2025-10-26T04:38:06.013" v="27" actId="6549"/>
        <pc:sldMkLst>
          <pc:docMk/>
          <pc:sldMk cId="2797464681" sldId="1506"/>
        </pc:sldMkLst>
      </pc:sldChg>
      <pc:sldChg chg="modSp add mod">
        <pc:chgData name="Umar Lone" userId="f595d8b7-38d8-4368-969a-4ad494059bb7" providerId="ADAL" clId="{5D2A4E48-0098-4F9C-BC7E-5BCD56B429F0}" dt="2025-10-26T04:38:19.458" v="30" actId="207"/>
        <pc:sldMkLst>
          <pc:docMk/>
          <pc:sldMk cId="218314073" sldId="1507"/>
        </pc:sldMkLst>
        <pc:spChg chg="mod">
          <ac:chgData name="Umar Lone" userId="f595d8b7-38d8-4368-969a-4ad494059bb7" providerId="ADAL" clId="{5D2A4E48-0098-4F9C-BC7E-5BCD56B429F0}" dt="2025-10-26T04:38:19.458" v="30" actId="207"/>
          <ac:spMkLst>
            <pc:docMk/>
            <pc:sldMk cId="218314073" sldId="1507"/>
            <ac:spMk id="4" creationId="{0688BD6C-1A5F-E262-F2F7-712065A3D833}"/>
          </ac:spMkLst>
        </pc:spChg>
        <pc:spChg chg="mod">
          <ac:chgData name="Umar Lone" userId="f595d8b7-38d8-4368-969a-4ad494059bb7" providerId="ADAL" clId="{5D2A4E48-0098-4F9C-BC7E-5BCD56B429F0}" dt="2025-10-26T04:38:17.983" v="29" actId="207"/>
          <ac:spMkLst>
            <pc:docMk/>
            <pc:sldMk cId="218314073" sldId="1507"/>
            <ac:spMk id="6" creationId="{192CDEE1-3CF5-7995-4620-024AF07F2AB2}"/>
          </ac:spMkLst>
        </pc:spChg>
      </pc:sldChg>
      <pc:sldChg chg="modSp add mod">
        <pc:chgData name="Umar Lone" userId="f595d8b7-38d8-4368-969a-4ad494059bb7" providerId="ADAL" clId="{5D2A4E48-0098-4F9C-BC7E-5BCD56B429F0}" dt="2025-10-26T04:38:21.865" v="31" actId="207"/>
        <pc:sldMkLst>
          <pc:docMk/>
          <pc:sldMk cId="4117571909" sldId="1508"/>
        </pc:sldMkLst>
        <pc:spChg chg="mod">
          <ac:chgData name="Umar Lone" userId="f595d8b7-38d8-4368-969a-4ad494059bb7" providerId="ADAL" clId="{5D2A4E48-0098-4F9C-BC7E-5BCD56B429F0}" dt="2025-10-26T04:38:21.865" v="31" actId="207"/>
          <ac:spMkLst>
            <pc:docMk/>
            <pc:sldMk cId="4117571909" sldId="1508"/>
            <ac:spMk id="4" creationId="{71BBFD1B-6F3F-B84B-1A04-53D3D090DBBF}"/>
          </ac:spMkLst>
        </pc:spChg>
      </pc:sldChg>
      <pc:sldChg chg="add modNotesTx">
        <pc:chgData name="Umar Lone" userId="f595d8b7-38d8-4368-969a-4ad494059bb7" providerId="ADAL" clId="{5D2A4E48-0098-4F9C-BC7E-5BCD56B429F0}" dt="2025-10-26T04:40:16.500" v="55" actId="6549"/>
        <pc:sldMkLst>
          <pc:docMk/>
          <pc:sldMk cId="2149999502" sldId="1509"/>
        </pc:sldMkLst>
      </pc:sldChg>
      <pc:sldChg chg="add modNotesTx">
        <pc:chgData name="Umar Lone" userId="f595d8b7-38d8-4368-969a-4ad494059bb7" providerId="ADAL" clId="{5D2A4E48-0098-4F9C-BC7E-5BCD56B429F0}" dt="2025-10-26T04:41:01.061" v="64" actId="6549"/>
        <pc:sldMkLst>
          <pc:docMk/>
          <pc:sldMk cId="4114736636" sldId="1511"/>
        </pc:sldMkLst>
      </pc:sldChg>
      <pc:sldChg chg="add modNotesTx">
        <pc:chgData name="Umar Lone" userId="f595d8b7-38d8-4368-969a-4ad494059bb7" providerId="ADAL" clId="{5D2A4E48-0098-4F9C-BC7E-5BCD56B429F0}" dt="2025-10-26T04:37:11.223" v="13" actId="6549"/>
        <pc:sldMkLst>
          <pc:docMk/>
          <pc:sldMk cId="0" sldId="1820"/>
        </pc:sldMkLst>
      </pc:sldChg>
      <pc:sldChg chg="add modNotesTx">
        <pc:chgData name="Umar Lone" userId="f595d8b7-38d8-4368-969a-4ad494059bb7" providerId="ADAL" clId="{5D2A4E48-0098-4F9C-BC7E-5BCD56B429F0}" dt="2025-10-26T04:37:14.153" v="14" actId="6549"/>
        <pc:sldMkLst>
          <pc:docMk/>
          <pc:sldMk cId="0" sldId="1821"/>
        </pc:sldMkLst>
      </pc:sldChg>
      <pc:sldChg chg="add del modNotes">
        <pc:chgData name="Umar Lone" userId="f595d8b7-38d8-4368-969a-4ad494059bb7" providerId="ADAL" clId="{5D2A4E48-0098-4F9C-BC7E-5BCD56B429F0}" dt="2025-10-26T04:37:56.649" v="24" actId="47"/>
        <pc:sldMkLst>
          <pc:docMk/>
          <pc:sldMk cId="0" sldId="1822"/>
        </pc:sldMkLst>
      </pc:sldChg>
      <pc:sldChg chg="modSp add mod modNotesTx">
        <pc:chgData name="Umar Lone" userId="f595d8b7-38d8-4368-969a-4ad494059bb7" providerId="ADAL" clId="{5D2A4E48-0098-4F9C-BC7E-5BCD56B429F0}" dt="2025-10-26T04:38:01.863" v="26" actId="6549"/>
        <pc:sldMkLst>
          <pc:docMk/>
          <pc:sldMk cId="0" sldId="1823"/>
        </pc:sldMkLst>
        <pc:spChg chg="mod">
          <ac:chgData name="Umar Lone" userId="f595d8b7-38d8-4368-969a-4ad494059bb7" providerId="ADAL" clId="{5D2A4E48-0098-4F9C-BC7E-5BCD56B429F0}" dt="2025-10-26T04:36:42.067" v="4" actId="27636"/>
          <ac:spMkLst>
            <pc:docMk/>
            <pc:sldMk cId="0" sldId="1823"/>
            <ac:spMk id="3" creationId="{00000000-0000-0000-0000-000000000000}"/>
          </ac:spMkLst>
        </pc:spChg>
      </pc:sldChg>
      <pc:sldChg chg="add del">
        <pc:chgData name="Umar Lone" userId="f595d8b7-38d8-4368-969a-4ad494059bb7" providerId="ADAL" clId="{5D2A4E48-0098-4F9C-BC7E-5BCD56B429F0}" dt="2025-10-26T04:40:05.982" v="54" actId="47"/>
        <pc:sldMkLst>
          <pc:docMk/>
          <pc:sldMk cId="1818616973" sldId="1824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2259066144" sldId="1825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2067531417" sldId="1826"/>
        </pc:sldMkLst>
      </pc:sldChg>
      <pc:sldChg chg="add">
        <pc:chgData name="Umar Lone" userId="f595d8b7-38d8-4368-969a-4ad494059bb7" providerId="ADAL" clId="{5D2A4E48-0098-4F9C-BC7E-5BCD56B429F0}" dt="2025-10-26T04:39:53.177" v="47"/>
        <pc:sldMkLst>
          <pc:docMk/>
          <pc:sldMk cId="316083913" sldId="1827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2644928970" sldId="1828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3879994914" sldId="1829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1001029205" sldId="1830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2386686561" sldId="1831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4275519867" sldId="1832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2589518381" sldId="1833"/>
        </pc:sldMkLst>
      </pc:sldChg>
      <pc:sldChg chg="add del">
        <pc:chgData name="Umar Lone" userId="f595d8b7-38d8-4368-969a-4ad494059bb7" providerId="ADAL" clId="{5D2A4E48-0098-4F9C-BC7E-5BCD56B429F0}" dt="2025-10-26T04:40:45.054" v="59" actId="47"/>
        <pc:sldMkLst>
          <pc:docMk/>
          <pc:sldMk cId="3450619188" sldId="1834"/>
        </pc:sldMkLst>
      </pc:sldChg>
    </pc:docChg>
  </pc:docChgLst>
  <pc:docChgLst>
    <pc:chgData name="Umar Lone" userId="f595d8b7-38d8-4368-969a-4ad494059bb7" providerId="ADAL" clId="{5FEBFB4A-AA77-4D73-A4A5-76BDFAF11AD1}"/>
    <pc:docChg chg="custSel addSld delSld modSld modSection">
      <pc:chgData name="Umar Lone" userId="f595d8b7-38d8-4368-969a-4ad494059bb7" providerId="ADAL" clId="{5FEBFB4A-AA77-4D73-A4A5-76BDFAF11AD1}" dt="2025-06-17T04:33:22.069" v="28" actId="47"/>
      <pc:docMkLst>
        <pc:docMk/>
      </pc:docMkLst>
      <pc:sldChg chg="del">
        <pc:chgData name="Umar Lone" userId="f595d8b7-38d8-4368-969a-4ad494059bb7" providerId="ADAL" clId="{5FEBFB4A-AA77-4D73-A4A5-76BDFAF11AD1}" dt="2025-06-17T04:33:22.069" v="28" actId="47"/>
        <pc:sldMkLst>
          <pc:docMk/>
          <pc:sldMk cId="636536686" sldId="256"/>
        </pc:sldMkLst>
      </pc:sldChg>
      <pc:sldChg chg="modSp add mod">
        <pc:chgData name="Umar Lone" userId="f595d8b7-38d8-4368-969a-4ad494059bb7" providerId="ADAL" clId="{5FEBFB4A-AA77-4D73-A4A5-76BDFAF11AD1}" dt="2025-06-17T04:33:18.172" v="27" actId="27636"/>
        <pc:sldMkLst>
          <pc:docMk/>
          <pc:sldMk cId="293861354" sldId="1816"/>
        </pc:sldMkLst>
      </pc:sldChg>
      <pc:sldChg chg="delSp add setBg delDesignElem">
        <pc:chgData name="Umar Lone" userId="f595d8b7-38d8-4368-969a-4ad494059bb7" providerId="ADAL" clId="{5FEBFB4A-AA77-4D73-A4A5-76BDFAF11AD1}" dt="2025-06-17T04:32:47.748" v="3"/>
        <pc:sldMkLst>
          <pc:docMk/>
          <pc:sldMk cId="159805832" sldId="1817"/>
        </pc:sldMkLst>
      </pc:sldChg>
      <pc:sldChg chg="delSp add modTransition setBg delDesignElem">
        <pc:chgData name="Umar Lone" userId="f595d8b7-38d8-4368-969a-4ad494059bb7" providerId="ADAL" clId="{5FEBFB4A-AA77-4D73-A4A5-76BDFAF11AD1}" dt="2025-06-17T04:32:47.748" v="3"/>
        <pc:sldMkLst>
          <pc:docMk/>
          <pc:sldMk cId="1001972288" sldId="1818"/>
        </pc:sldMkLst>
      </pc:sldChg>
      <pc:sldChg chg="delSp add modTransition setBg delDesignElem">
        <pc:chgData name="Umar Lone" userId="f595d8b7-38d8-4368-969a-4ad494059bb7" providerId="ADAL" clId="{5FEBFB4A-AA77-4D73-A4A5-76BDFAF11AD1}" dt="2025-06-17T04:32:47.748" v="3"/>
        <pc:sldMkLst>
          <pc:docMk/>
          <pc:sldMk cId="1868883747" sldId="1819"/>
        </pc:sldMkLst>
      </pc:sldChg>
    </pc:docChg>
  </pc:docChgLst>
  <pc:docChgLst>
    <pc:chgData name="Umar Lone" userId="f595d8b7-38d8-4368-969a-4ad494059bb7" providerId="ADAL" clId="{EC571ACF-75CC-4478-894F-3966708CB516}"/>
    <pc:docChg chg="undo custSel modMainMaster">
      <pc:chgData name="Umar Lone" userId="f595d8b7-38d8-4368-969a-4ad494059bb7" providerId="ADAL" clId="{EC571ACF-75CC-4478-894F-3966708CB516}" dt="2023-11-29T14:04:57.437" v="55" actId="20577"/>
      <pc:docMkLst>
        <pc:docMk/>
      </pc:docMkLst>
      <pc:sldMasterChg chg="modSp mod modSldLayout">
        <pc:chgData name="Umar Lone" userId="f595d8b7-38d8-4368-969a-4ad494059bb7" providerId="ADAL" clId="{EC571ACF-75CC-4478-894F-3966708CB516}" dt="2023-11-29T14:04:57.437" v="55" actId="20577"/>
        <pc:sldMasterMkLst>
          <pc:docMk/>
          <pc:sldMasterMk cId="208569719" sldId="2147483710"/>
        </pc:sldMasterMkLst>
        <pc:sldLayoutChg chg="modSp mod">
          <pc:chgData name="Umar Lone" userId="f595d8b7-38d8-4368-969a-4ad494059bb7" providerId="ADAL" clId="{EC571ACF-75CC-4478-894F-3966708CB516}" dt="2023-11-29T14:03:40.700" v="43" actId="6549"/>
          <pc:sldLayoutMkLst>
            <pc:docMk/>
            <pc:sldMasterMk cId="208569719" sldId="2147483710"/>
            <pc:sldLayoutMk cId="33174580" sldId="2147483711"/>
          </pc:sldLayoutMkLst>
        </pc:sldLayoutChg>
        <pc:sldLayoutChg chg="modSp mod">
          <pc:chgData name="Umar Lone" userId="f595d8b7-38d8-4368-969a-4ad494059bb7" providerId="ADAL" clId="{EC571ACF-75CC-4478-894F-3966708CB516}" dt="2023-11-29T14:04:12.974" v="45"/>
          <pc:sldLayoutMkLst>
            <pc:docMk/>
            <pc:sldMasterMk cId="208569719" sldId="2147483710"/>
            <pc:sldLayoutMk cId="1804501872" sldId="2147483712"/>
          </pc:sldLayoutMkLst>
        </pc:sldLayoutChg>
      </pc:sldMasterChg>
    </pc:docChg>
  </pc:docChgLst>
  <pc:docChgLst>
    <pc:chgData name="Umar Lone" userId="f595d8b7-38d8-4368-969a-4ad494059bb7" providerId="ADAL" clId="{BD009F13-1DDC-48D5-A704-CDB5A4096F6B}"/>
    <pc:docChg chg="delSld modSection">
      <pc:chgData name="Umar Lone" userId="f595d8b7-38d8-4368-969a-4ad494059bb7" providerId="ADAL" clId="{BD009F13-1DDC-48D5-A704-CDB5A4096F6B}" dt="2020-03-18T14:49:12.494" v="1" actId="47"/>
      <pc:docMkLst>
        <pc:docMk/>
      </pc:docMkLst>
      <pc:sldChg chg="del">
        <pc:chgData name="Umar Lone" userId="f595d8b7-38d8-4368-969a-4ad494059bb7" providerId="ADAL" clId="{BD009F13-1DDC-48D5-A704-CDB5A4096F6B}" dt="2020-03-18T14:48:43.541" v="0" actId="47"/>
        <pc:sldMkLst>
          <pc:docMk/>
          <pc:sldMk cId="3608415247" sldId="303"/>
        </pc:sldMkLst>
      </pc:sldChg>
      <pc:sldChg chg="del">
        <pc:chgData name="Umar Lone" userId="f595d8b7-38d8-4368-969a-4ad494059bb7" providerId="ADAL" clId="{BD009F13-1DDC-48D5-A704-CDB5A4096F6B}" dt="2020-03-18T14:49:12.494" v="1" actId="47"/>
        <pc:sldMkLst>
          <pc:docMk/>
          <pc:sldMk cId="2023818039" sldId="649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19T10:30:39.809" idx="1">
    <p:pos x="4228" y="2178"/>
    <p:text>Show example of a function accepting a pointer and then check for the validity of the pointer</p:text>
    <p:extLst>
      <p:ext uri="{C676402C-5697-4E1C-873F-D02D1690AC5C}">
        <p15:threadingInfo xmlns:p15="http://schemas.microsoft.com/office/powerpoint/2012/main" timeZoneBias="-33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CC92E-DB63-49C6-9A2B-F00F4CE91280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63A02-6DF3-4F3A-9667-A87C901D09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85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561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99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59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73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72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956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Simplest form of logging/tracing.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11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Automatically removed in release builds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474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sz="1000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424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72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871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In case of assertion, the diagnostic message will contain the entire expression,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957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67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Imagine writing a serialize function to write an object into a file . Instead of checking for the type at runtime, check at compile-time.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59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41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5236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24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914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210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2996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9177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8990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161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3A7200-DCFF-49D9-B57D-763631418C55}" type="slidenum">
              <a:rPr lang="en-IN" smtClean="0"/>
              <a:pPr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131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63A02-6DF3-4F3A-9667-A87C901D0988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090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63A02-6DF3-4F3A-9667-A87C901D0988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99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63A02-6DF3-4F3A-9667-A87C901D0988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70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907972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4320" b="0">
                <a:solidFill>
                  <a:schemeClr val="accent1">
                    <a:lumMod val="75000"/>
                  </a:schemeClr>
                </a:solidFill>
                <a:effectLst>
                  <a:outerShdw blurRad="63500" sx="101000" sy="101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F752F-DC11-4EE2-850B-86054F517B3D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2305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09743-F93F-40D1-909C-BEBDB793EF41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0392"/>
            <a:ext cx="3860800" cy="363854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6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8570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6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B06AC-B399-4AF1-8435-A9CA4F65C679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60533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A59A3-2158-47D9-8652-D16D0654950B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76385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6"/>
            <a:ext cx="5389033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0CD34-6241-4001-A209-413E374F0C77}" type="datetime1">
              <a:rPr lang="en-IN" smtClean="0"/>
              <a:t>26-10-2025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4851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F72C-3422-4BF2-AD21-99E300BF1867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49553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B2C45-6B41-4786-9414-42B34E5BD641}" type="datetime1">
              <a:rPr lang="en-IN" smtClean="0"/>
              <a:t>26-10-2025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54572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5" y="273052"/>
            <a:ext cx="4011084" cy="116205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5" y="1435104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85C4D-4790-4347-B322-F8FA09D928B9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38389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3B2DC-B21B-4ADA-8546-EF14BCBC9D37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49725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0EB39-2643-4D06-AD1F-7FFCF77DE247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0379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6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6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9870B-3DB2-4BD4-B4E7-EBB4FBCFC2DA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495080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2AC37-2A38-4A82-B85B-09D3A8ADD6D1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50887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907972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4320" b="0">
                <a:solidFill>
                  <a:schemeClr val="accent1">
                    <a:lumMod val="75000"/>
                  </a:schemeClr>
                </a:solidFill>
                <a:effectLst>
                  <a:outerShdw blurRad="63500" sx="101000" sy="101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2065-13B8-4EAF-AD19-2A53F4F5C7E0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91670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53139-D511-4F51-8372-D79159DE6851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0392"/>
            <a:ext cx="3860800" cy="363854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6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098620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6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DCA46-C6EE-4EEA-83BD-42348C3B02AA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400720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F9CF3-4A85-4097-ABD8-2B85455E3280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421418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6"/>
            <a:ext cx="5386917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6"/>
            <a:ext cx="5389033" cy="639762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5C049-DC84-4F34-86D5-32EE20961022}" type="datetime1">
              <a:rPr lang="en-IN" smtClean="0"/>
              <a:t>26-10-2025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427927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5B9E2-BFD5-47DF-AB8C-55D40CC03434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789475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34A5-8B6E-4CC4-85AF-FE6A61872690}" type="datetime1">
              <a:rPr lang="en-IN" smtClean="0"/>
              <a:t>26-10-2025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5841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5" y="273052"/>
            <a:ext cx="4011084" cy="116205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5" y="1435104"/>
            <a:ext cx="4011084" cy="469106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C9D4-A904-469D-AED3-558C9C724EC5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0070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1DC9-843B-48AC-BE93-D6824ADC5498}" type="datetime1">
              <a:rPr lang="en-IN" smtClean="0"/>
              <a:t>26-10-2025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7451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6CBE7-9D14-4C4E-A785-316573CCDF5B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648964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6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6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3B94-3A2F-4EB1-89C9-D08A6D53788D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70009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1AE2D-BE56-49C3-8B7A-A44563452732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173114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EBF49-01B7-4203-974D-5CB44BE8B91E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4580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1567-E2F8-4B99-B28C-0523AF3E3CA9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501872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012C2-17FD-4155-BCA6-83B29D52E5B1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56463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D007-049E-44C1-A76F-AB4F64472DF8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333396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8E50-93FC-43D4-B11B-C165500BD708}" type="datetime1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16603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D0383-7BF9-4F38-A300-0823FA263F12}" type="datetime1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744000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387F-D6AA-4644-8A13-46D7553F952B}" type="datetime1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747811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ED5C0-4B0A-434D-87B3-7DC75221C697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63446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A843D-68E1-4695-A3D3-1A4547B57020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68424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0DC5C-261D-4D1A-BE9F-44C20D728AAF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494472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7DAA-DA4A-4D17-A292-E66A41B47658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14880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06545"/>
            <a:ext cx="12192000" cy="54852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6353102"/>
            <a:ext cx="2844800" cy="36512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l">
              <a:defRPr lang="en-US" sz="1200" b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fld id="{5BD1C30E-E6D7-496D-987D-35EA7166E8B8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251" y="6353102"/>
            <a:ext cx="677949" cy="36512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200" b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0" y="1371600"/>
            <a:ext cx="10972800" cy="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101600">
              <a:schemeClr val="bg1">
                <a:lumMod val="85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66400" y="6714246"/>
            <a:ext cx="1625600" cy="18947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109728" tIns="54864" rIns="109728" bIns="54864" rtlCol="0" anchor="b"/>
          <a:lstStyle>
            <a:defPPr>
              <a:defRPr lang="en-US"/>
            </a:defPPr>
            <a:lvl1pPr algn="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pPr lvl="0" algn="r"/>
            <a:r>
              <a:rPr lang="en-US" sz="720" dirty="0"/>
              <a:t>Umar 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4800" y="13071"/>
            <a:ext cx="1761717" cy="414521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algn="ct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20" b="1" dirty="0"/>
              <a:t>Poash</a:t>
            </a:r>
            <a:r>
              <a:rPr lang="en-US" sz="1320" b="0" dirty="0"/>
              <a:t>™ </a:t>
            </a:r>
            <a:r>
              <a:rPr lang="en-US" sz="960" b="0" dirty="0"/>
              <a:t>Technologies</a:t>
            </a:r>
            <a:endParaRPr lang="en-US" sz="1320" b="0" dirty="0"/>
          </a:p>
        </p:txBody>
      </p: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10464800" y="123398"/>
            <a:ext cx="337032" cy="288082"/>
            <a:chOff x="7773763" y="26631"/>
            <a:chExt cx="353849" cy="336063"/>
          </a:xfrm>
        </p:grpSpPr>
        <p:sp>
          <p:nvSpPr>
            <p:cNvPr id="12" name="Teardrop 11"/>
            <p:cNvSpPr/>
            <p:nvPr/>
          </p:nvSpPr>
          <p:spPr>
            <a:xfrm rot="17659996">
              <a:off x="7893608" y="152389"/>
              <a:ext cx="88386" cy="100946"/>
            </a:xfrm>
            <a:prstGeom prst="teardrop">
              <a:avLst/>
            </a:prstGeom>
            <a:ln/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3" name="Teardrop 12"/>
            <p:cNvSpPr/>
            <p:nvPr/>
          </p:nvSpPr>
          <p:spPr>
            <a:xfrm rot="10471268">
              <a:off x="7906322" y="26631"/>
              <a:ext cx="100240" cy="89009"/>
            </a:xfrm>
            <a:prstGeom prst="teardrop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4" name="Teardrop 13"/>
            <p:cNvSpPr/>
            <p:nvPr/>
          </p:nvSpPr>
          <p:spPr>
            <a:xfrm rot="3094758">
              <a:off x="7780043" y="74295"/>
              <a:ext cx="88386" cy="100946"/>
            </a:xfrm>
            <a:prstGeom prst="teardrop">
              <a:avLst/>
            </a:prstGeom>
            <a:ln/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5" name="Arc 14"/>
            <p:cNvSpPr/>
            <p:nvPr/>
          </p:nvSpPr>
          <p:spPr>
            <a:xfrm rot="13049277">
              <a:off x="7857991" y="116297"/>
              <a:ext cx="269621" cy="246397"/>
            </a:xfrm>
            <a:prstGeom prst="arc">
              <a:avLst/>
            </a:prstGeom>
            <a:ln w="12700">
              <a:solidFill>
                <a:srgbClr val="70AC2E"/>
              </a:solidFill>
            </a:ln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0392"/>
            <a:ext cx="3860800" cy="363854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6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6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push dir="u"/>
  </p:transition>
  <p:hf sldNum="0" hdr="0" dt="0"/>
  <p:txStyles>
    <p:titleStyle>
      <a:lvl1pPr algn="ctr" defTabSz="1097280" rtl="0" eaLnBrk="1" latinLnBrk="0" hangingPunct="1">
        <a:spcBef>
          <a:spcPct val="0"/>
        </a:spcBef>
        <a:buNone/>
        <a:defRPr sz="5280" kern="1200">
          <a:solidFill>
            <a:srgbClr val="376092"/>
          </a:solidFill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0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0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06545"/>
            <a:ext cx="12192000" cy="54852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6353102"/>
            <a:ext cx="2844800" cy="36512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l">
              <a:defRPr lang="en-US" sz="1200" b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fld id="{F193F0D4-011C-4393-93EB-2BFD92DFCF54}" type="datetime1">
              <a:rPr lang="en-IN" smtClean="0"/>
              <a:t>26-10-2025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251" y="6353102"/>
            <a:ext cx="677949" cy="36512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200" b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fld id="{ED949064-50A4-4754-B3E7-525293DF356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0" y="1371600"/>
            <a:ext cx="10972800" cy="0"/>
          </a:xfrm>
          <a:prstGeom prst="line">
            <a:avLst/>
          </a:prstGeom>
          <a:ln w="38100">
            <a:solidFill>
              <a:srgbClr val="FFC000"/>
            </a:solidFill>
          </a:ln>
          <a:effectLst>
            <a:glow rad="101600">
              <a:schemeClr val="bg1">
                <a:lumMod val="85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66400" y="6714246"/>
            <a:ext cx="1625600" cy="189475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109728" tIns="54864" rIns="109728" bIns="54864" rtlCol="0" anchor="b"/>
          <a:lstStyle>
            <a:defPPr>
              <a:defRPr lang="en-US"/>
            </a:defPPr>
            <a:lvl1pPr algn="r">
              <a:defRPr sz="10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pPr lvl="0" algn="r"/>
            <a:r>
              <a:rPr lang="en-US" sz="720" dirty="0"/>
              <a:t>Umar 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4800" y="13071"/>
            <a:ext cx="1761717" cy="414521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algn="ct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20" b="1" dirty="0"/>
              <a:t>Poash</a:t>
            </a:r>
            <a:r>
              <a:rPr lang="en-US" sz="1320" b="0" dirty="0"/>
              <a:t>™ </a:t>
            </a:r>
            <a:r>
              <a:rPr lang="en-US" sz="960" b="0" dirty="0"/>
              <a:t>Technologies</a:t>
            </a:r>
            <a:endParaRPr lang="en-US" sz="1320" b="0" dirty="0"/>
          </a:p>
        </p:txBody>
      </p: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10464800" y="123398"/>
            <a:ext cx="337032" cy="288082"/>
            <a:chOff x="7773763" y="26631"/>
            <a:chExt cx="353849" cy="336063"/>
          </a:xfrm>
        </p:grpSpPr>
        <p:sp>
          <p:nvSpPr>
            <p:cNvPr id="12" name="Teardrop 11"/>
            <p:cNvSpPr/>
            <p:nvPr/>
          </p:nvSpPr>
          <p:spPr>
            <a:xfrm rot="17659996">
              <a:off x="7893608" y="152389"/>
              <a:ext cx="88386" cy="100946"/>
            </a:xfrm>
            <a:prstGeom prst="teardrop">
              <a:avLst/>
            </a:prstGeom>
            <a:ln/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3" name="Teardrop 12"/>
            <p:cNvSpPr/>
            <p:nvPr/>
          </p:nvSpPr>
          <p:spPr>
            <a:xfrm rot="10471268">
              <a:off x="7906322" y="26631"/>
              <a:ext cx="100240" cy="89009"/>
            </a:xfrm>
            <a:prstGeom prst="teardrop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4" name="Teardrop 13"/>
            <p:cNvSpPr/>
            <p:nvPr/>
          </p:nvSpPr>
          <p:spPr>
            <a:xfrm rot="3094758">
              <a:off x="7780043" y="74295"/>
              <a:ext cx="88386" cy="100946"/>
            </a:xfrm>
            <a:prstGeom prst="teardrop">
              <a:avLst/>
            </a:prstGeom>
            <a:ln/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  <p:sp>
          <p:nvSpPr>
            <p:cNvPr id="15" name="Arc 14"/>
            <p:cNvSpPr/>
            <p:nvPr/>
          </p:nvSpPr>
          <p:spPr>
            <a:xfrm rot="13049277">
              <a:off x="7857991" y="116297"/>
              <a:ext cx="269621" cy="246397"/>
            </a:xfrm>
            <a:prstGeom prst="arc">
              <a:avLst/>
            </a:prstGeom>
            <a:ln w="12700">
              <a:solidFill>
                <a:srgbClr val="70AC2E"/>
              </a:solidFill>
            </a:ln>
            <a:effectLst>
              <a:outerShdw blurRad="1016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en-US" sz="1320">
                  <a:effectLst/>
                  <a:ea typeface="Times New Roman"/>
                  <a:cs typeface="Times New Roman"/>
                </a:rPr>
                <a:t> </a:t>
              </a:r>
              <a:endParaRPr lang="en-US" sz="1320">
                <a:effectLst/>
                <a:ea typeface="Calibri"/>
                <a:cs typeface="Times New Roman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0392"/>
            <a:ext cx="3860800" cy="363854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 anchor="ctr"/>
          <a:lstStyle>
            <a:lvl1pPr algn="ctr">
              <a:defRPr lang="en-US" sz="168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21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ransition spd="slow">
    <p:push dir="u"/>
  </p:transition>
  <p:hf sldNum="0" hdr="0" dt="0"/>
  <p:txStyles>
    <p:titleStyle>
      <a:lvl1pPr algn="ctr" defTabSz="1097280" rtl="0" eaLnBrk="1" latinLnBrk="0" hangingPunct="1">
        <a:spcBef>
          <a:spcPct val="0"/>
        </a:spcBef>
        <a:buNone/>
        <a:defRPr sz="5280" kern="1200">
          <a:solidFill>
            <a:srgbClr val="376092"/>
          </a:solidFill>
          <a:effectLst>
            <a:outerShdw blurRad="63500" sx="101000" sy="101000" algn="ctr" rotWithShape="0">
              <a:prstClr val="black">
                <a:alpha val="2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411480" indent="-411480" algn="l" defTabSz="1097280" rtl="0" eaLnBrk="1" latinLnBrk="0" hangingPunct="1">
        <a:spcBef>
          <a:spcPct val="20000"/>
        </a:spcBef>
        <a:buFont typeface="Arial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1097280" rtl="0" eaLnBrk="1" latinLnBrk="0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65970-A8E7-4A74-9D0F-62BDF1F9179D}" type="datetime1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learning.poash.com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4554E-772B-4FC5-96DA-FB5414D9535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0430283" y="13166"/>
            <a:ext cx="1761717" cy="414521"/>
          </a:xfrm>
          <a:prstGeom prst="rect">
            <a:avLst/>
          </a:prstGeom>
          <a:effectLst>
            <a:outerShdw blurRad="25400" algn="tr" rotWithShape="0">
              <a:prstClr val="black">
                <a:alpha val="50000"/>
              </a:prstClr>
            </a:outerShdw>
          </a:effectLst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algn="ct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  <a:effectLst/>
              </a:defRPr>
            </a:lvl1pPr>
          </a:lstStyle>
          <a:p>
            <a:pPr marL="0" marR="0" lvl="0" indent="0" algn="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20" b="1" dirty="0" err="1"/>
              <a:t>Poash</a:t>
            </a:r>
            <a:r>
              <a:rPr lang="en-US" sz="1320" b="0" dirty="0"/>
              <a:t>® </a:t>
            </a:r>
            <a:r>
              <a:rPr lang="en-US" sz="960" b="0" dirty="0"/>
              <a:t>Technologies</a:t>
            </a:r>
            <a:endParaRPr lang="en-US" sz="1320" b="0" dirty="0"/>
          </a:p>
        </p:txBody>
      </p:sp>
    </p:spTree>
    <p:extLst>
      <p:ext uri="{BB962C8B-B14F-4D97-AF65-F5344CB8AC3E}">
        <p14:creationId xmlns:p14="http://schemas.microsoft.com/office/powerpoint/2010/main" val="20856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push dir="u"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learning.poash.com" TargetMode="External"/><Relationship Id="rId2" Type="http://schemas.openxmlformats.org/officeDocument/2006/relationships/hyperlink" Target="http://www.poash.com/" TargetMode="Externa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7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7EAE-577D-C349-EAE7-B5478879D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Detecting Memory Leaks in C/C++ Applications using Visual Studio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7ED50-3FF9-4394-1852-9885CA4E0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Umar Lone</a:t>
            </a:r>
          </a:p>
          <a:p>
            <a:r>
              <a:rPr lang="en-US" dirty="0">
                <a:hlinkClick r:id="rId2"/>
              </a:rPr>
              <a:t>www.poash.com</a:t>
            </a:r>
            <a:endParaRPr lang="en-US" dirty="0"/>
          </a:p>
          <a:p>
            <a:r>
              <a:rPr lang="en-US" dirty="0">
                <a:hlinkClick r:id="rId3"/>
              </a:rPr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6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CD99-6D4A-3667-FB30-77D3978D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learning@poash</a:t>
            </a:r>
            <a:endParaRPr lang="en-IN" sz="5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0965F-5161-1A17-F20B-7F4F051F9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26" y="557189"/>
            <a:ext cx="9955348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A945-7CA9-D689-1958-52DE81BE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learning@poash</a:t>
            </a:r>
            <a:endParaRPr lang="en-IN" sz="5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4E574-C7C5-DD4A-44AB-07718CB2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07" y="557189"/>
            <a:ext cx="5478386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7228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7D9B-2856-6AD3-52AD-DDE039DB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learning@poash</a:t>
            </a:r>
            <a:endParaRPr lang="en-IN" sz="5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D1AFE-C4C1-D96B-EA5D-97317E071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361" y="264114"/>
            <a:ext cx="6212228" cy="509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837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3D8-CF3C-461C-81B2-C855F4C8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4AF2-06F2-4B8E-A719-60D5284B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Understand C/C++ memory management in depth</a:t>
            </a:r>
          </a:p>
          <a:p>
            <a:r>
              <a:rPr lang="en-IN" dirty="0"/>
              <a:t>Identify issues with memory management</a:t>
            </a:r>
          </a:p>
          <a:p>
            <a:r>
              <a:rPr lang="en-IN" dirty="0"/>
              <a:t>Detect and isolate memory leaks</a:t>
            </a:r>
          </a:p>
          <a:p>
            <a:r>
              <a:rPr lang="en-IN" dirty="0"/>
              <a:t>Create a custom leak detector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E5037-46E3-F03D-3CB2-02219EF8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66544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C50E-B824-40E3-8323-BCEFA46B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40ED8-D318-4D4C-BCFA-2592A4CC4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program is started, virtual memory is allocated and is called address space</a:t>
            </a:r>
          </a:p>
          <a:p>
            <a:r>
              <a:rPr lang="en-IN" dirty="0"/>
              <a:t>Virtual address space provides an environment for the executable to run</a:t>
            </a:r>
          </a:p>
          <a:p>
            <a:r>
              <a:rPr lang="en-IN" dirty="0"/>
              <a:t>Size depends on the platform</a:t>
            </a:r>
          </a:p>
          <a:p>
            <a:r>
              <a:rPr lang="en-IN" dirty="0"/>
              <a:t>Some parts of the process are used for storing data</a:t>
            </a:r>
          </a:p>
          <a:p>
            <a:pPr lvl="1"/>
            <a:r>
              <a:rPr lang="en-IN" dirty="0"/>
              <a:t>global, static, local &amp; runtime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77D6C-8E54-F49A-7212-71574A09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242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17B383-5219-417E-A325-96BEE757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61651-D00D-4353-8C45-EFBEF7547AC4}"/>
              </a:ext>
            </a:extLst>
          </p:cNvPr>
          <p:cNvSpPr/>
          <p:nvPr/>
        </p:nvSpPr>
        <p:spPr>
          <a:xfrm>
            <a:off x="838200" y="1958109"/>
            <a:ext cx="2078182" cy="3953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D08C1-1EA5-4CD4-9442-2687F97557DB}"/>
              </a:ext>
            </a:extLst>
          </p:cNvPr>
          <p:cNvSpPr/>
          <p:nvPr/>
        </p:nvSpPr>
        <p:spPr>
          <a:xfrm>
            <a:off x="838200" y="5153488"/>
            <a:ext cx="2078182" cy="4895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 Segment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1F812B-DFFA-406D-835E-4143AAE82474}"/>
              </a:ext>
            </a:extLst>
          </p:cNvPr>
          <p:cNvSpPr/>
          <p:nvPr/>
        </p:nvSpPr>
        <p:spPr>
          <a:xfrm>
            <a:off x="838200" y="4669587"/>
            <a:ext cx="2078182" cy="489527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Segment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C778D-5449-4C44-AABA-74E927EDA190}"/>
              </a:ext>
            </a:extLst>
          </p:cNvPr>
          <p:cNvSpPr/>
          <p:nvPr/>
        </p:nvSpPr>
        <p:spPr>
          <a:xfrm>
            <a:off x="838200" y="2849987"/>
            <a:ext cx="2078182" cy="4895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A67B9-9B23-43EE-A7A3-FCA65545EB25}"/>
              </a:ext>
            </a:extLst>
          </p:cNvPr>
          <p:cNvSpPr/>
          <p:nvPr/>
        </p:nvSpPr>
        <p:spPr>
          <a:xfrm>
            <a:off x="838200" y="4192869"/>
            <a:ext cx="2078182" cy="489527"/>
          </a:xfrm>
          <a:prstGeom prst="rect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EE1EF72-1236-492E-9BBB-3AE192AAD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894966"/>
              </p:ext>
            </p:extLst>
          </p:nvPr>
        </p:nvGraphicFramePr>
        <p:xfrm>
          <a:off x="4932218" y="2513444"/>
          <a:ext cx="6308437" cy="18542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698977">
                  <a:extLst>
                    <a:ext uri="{9D8B030D-6E8A-4147-A177-3AD203B41FA5}">
                      <a16:colId xmlns:a16="http://schemas.microsoft.com/office/drawing/2014/main" val="1109441218"/>
                    </a:ext>
                  </a:extLst>
                </a:gridCol>
                <a:gridCol w="4609460">
                  <a:extLst>
                    <a:ext uri="{9D8B030D-6E8A-4147-A177-3AD203B41FA5}">
                      <a16:colId xmlns:a16="http://schemas.microsoft.com/office/drawing/2014/main" val="169639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54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 Segment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Program executable code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981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Segment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&amp; static variables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683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Heap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Dynamically allocated memory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59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variables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55033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2D2B419-4053-459F-B29F-7A4CD1C2B266}"/>
              </a:ext>
            </a:extLst>
          </p:cNvPr>
          <p:cNvSpPr txBox="1"/>
          <p:nvPr/>
        </p:nvSpPr>
        <p:spPr>
          <a:xfrm>
            <a:off x="396885" y="6057511"/>
            <a:ext cx="2960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Address Space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8FF2A4-FF85-4081-884D-0FD24D133FEC}"/>
              </a:ext>
            </a:extLst>
          </p:cNvPr>
          <p:cNvCxnSpPr>
            <a:cxnSpLocks/>
          </p:cNvCxnSpPr>
          <p:nvPr/>
        </p:nvCxnSpPr>
        <p:spPr>
          <a:xfrm flipV="1">
            <a:off x="2316891" y="3823415"/>
            <a:ext cx="0" cy="36945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84C83E-7070-4A00-9DC5-E10843748E88}"/>
              </a:ext>
            </a:extLst>
          </p:cNvPr>
          <p:cNvCxnSpPr>
            <a:cxnSpLocks/>
          </p:cNvCxnSpPr>
          <p:nvPr/>
        </p:nvCxnSpPr>
        <p:spPr>
          <a:xfrm flipH="1">
            <a:off x="1347760" y="3324616"/>
            <a:ext cx="1" cy="39716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9EEC73-8EFB-4CA1-A46E-CA9FA55B7B44}"/>
              </a:ext>
            </a:extLst>
          </p:cNvPr>
          <p:cNvSpPr txBox="1"/>
          <p:nvPr/>
        </p:nvSpPr>
        <p:spPr>
          <a:xfrm>
            <a:off x="2916382" y="5738638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0x00000000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53034C-4A96-DE7E-8838-92C60393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1516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screen&#10;&#10;Description generated with high confidence">
            <a:extLst>
              <a:ext uri="{FF2B5EF4-FFF2-40B4-BE49-F238E27FC236}">
                <a16:creationId xmlns:a16="http://schemas.microsoft.com/office/drawing/2014/main" id="{EE7A4513-446D-42DA-9225-3B927825A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192" y="2026341"/>
            <a:ext cx="6780700" cy="3807459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8A2567-D800-476E-B16C-2FC8D43F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455C39-C057-43CC-90BD-7DCAEC5AF34F}"/>
              </a:ext>
            </a:extLst>
          </p:cNvPr>
          <p:cNvCxnSpPr>
            <a:cxnSpLocks/>
          </p:cNvCxnSpPr>
          <p:nvPr/>
        </p:nvCxnSpPr>
        <p:spPr>
          <a:xfrm flipH="1">
            <a:off x="2942903" y="2593101"/>
            <a:ext cx="1489055" cy="2211828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37F6DB-BFFA-4432-B9F2-1218D58C010A}"/>
              </a:ext>
            </a:extLst>
          </p:cNvPr>
          <p:cNvCxnSpPr>
            <a:cxnSpLocks/>
          </p:cNvCxnSpPr>
          <p:nvPr/>
        </p:nvCxnSpPr>
        <p:spPr>
          <a:xfrm flipH="1" flipV="1">
            <a:off x="2916381" y="3019359"/>
            <a:ext cx="1836853" cy="66594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AA7A32-EA8B-413B-990B-86DCDDFCB665}"/>
              </a:ext>
            </a:extLst>
          </p:cNvPr>
          <p:cNvCxnSpPr>
            <a:cxnSpLocks/>
          </p:cNvCxnSpPr>
          <p:nvPr/>
        </p:nvCxnSpPr>
        <p:spPr>
          <a:xfrm flipH="1" flipV="1">
            <a:off x="2942903" y="3200400"/>
            <a:ext cx="1810330" cy="239728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C33EEA-1C9F-444E-9EC5-2F0DAA9088DF}"/>
              </a:ext>
            </a:extLst>
          </p:cNvPr>
          <p:cNvCxnSpPr>
            <a:cxnSpLocks/>
          </p:cNvCxnSpPr>
          <p:nvPr/>
        </p:nvCxnSpPr>
        <p:spPr>
          <a:xfrm flipH="1">
            <a:off x="2942903" y="4144107"/>
            <a:ext cx="1884471" cy="869323"/>
          </a:xfrm>
          <a:prstGeom prst="straightConnector1">
            <a:avLst/>
          </a:prstGeom>
          <a:ln w="28575">
            <a:solidFill>
              <a:srgbClr val="0070C0"/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B09E81-478A-4F9E-BB87-B0EC4DDBF350}"/>
              </a:ext>
            </a:extLst>
          </p:cNvPr>
          <p:cNvCxnSpPr>
            <a:cxnSpLocks/>
          </p:cNvCxnSpPr>
          <p:nvPr/>
        </p:nvCxnSpPr>
        <p:spPr>
          <a:xfrm flipH="1">
            <a:off x="2942903" y="4605603"/>
            <a:ext cx="1884472" cy="81925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F1277CA-9B81-473D-B931-007E358BF709}"/>
              </a:ext>
            </a:extLst>
          </p:cNvPr>
          <p:cNvSpPr/>
          <p:nvPr/>
        </p:nvSpPr>
        <p:spPr>
          <a:xfrm>
            <a:off x="838199" y="1953490"/>
            <a:ext cx="2078182" cy="3953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80E700-BB67-4196-957C-BDB88307F438}"/>
              </a:ext>
            </a:extLst>
          </p:cNvPr>
          <p:cNvSpPr/>
          <p:nvPr/>
        </p:nvSpPr>
        <p:spPr>
          <a:xfrm>
            <a:off x="838199" y="5148869"/>
            <a:ext cx="2078182" cy="4895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 Segment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3149D0-1944-4D90-B588-8F0A0F658A56}"/>
              </a:ext>
            </a:extLst>
          </p:cNvPr>
          <p:cNvSpPr/>
          <p:nvPr/>
        </p:nvSpPr>
        <p:spPr>
          <a:xfrm>
            <a:off x="838199" y="4664968"/>
            <a:ext cx="2078182" cy="489527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Segment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1E781D-1375-4071-A3E4-7C5922767F15}"/>
              </a:ext>
            </a:extLst>
          </p:cNvPr>
          <p:cNvSpPr/>
          <p:nvPr/>
        </p:nvSpPr>
        <p:spPr>
          <a:xfrm>
            <a:off x="838199" y="2845368"/>
            <a:ext cx="2078182" cy="4895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0B9F53-0B82-45E7-8112-C600FF1C1B29}"/>
              </a:ext>
            </a:extLst>
          </p:cNvPr>
          <p:cNvSpPr/>
          <p:nvPr/>
        </p:nvSpPr>
        <p:spPr>
          <a:xfrm>
            <a:off x="838199" y="4188250"/>
            <a:ext cx="2078182" cy="489527"/>
          </a:xfrm>
          <a:prstGeom prst="rect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DD58444-F0F5-4AD0-9F3D-C5A0AAFC09EC}"/>
              </a:ext>
            </a:extLst>
          </p:cNvPr>
          <p:cNvCxnSpPr>
            <a:cxnSpLocks/>
          </p:cNvCxnSpPr>
          <p:nvPr/>
        </p:nvCxnSpPr>
        <p:spPr>
          <a:xfrm flipV="1">
            <a:off x="2316890" y="3818796"/>
            <a:ext cx="0" cy="36945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FC16949-B501-4BD0-90F1-AD76B35E937E}"/>
              </a:ext>
            </a:extLst>
          </p:cNvPr>
          <p:cNvCxnSpPr>
            <a:cxnSpLocks/>
          </p:cNvCxnSpPr>
          <p:nvPr/>
        </p:nvCxnSpPr>
        <p:spPr>
          <a:xfrm flipH="1">
            <a:off x="1347759" y="3319997"/>
            <a:ext cx="1" cy="39716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E6665B-E504-432F-9897-8C64D57EAECA}"/>
              </a:ext>
            </a:extLst>
          </p:cNvPr>
          <p:cNvSpPr txBox="1"/>
          <p:nvPr/>
        </p:nvSpPr>
        <p:spPr>
          <a:xfrm>
            <a:off x="396885" y="6057511"/>
            <a:ext cx="2960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Address Space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DDE30-CACD-4D34-B120-1248E76DE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0104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8330-ABAA-4C0F-AEDF-87C9F33F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237D0-21D1-4180-B1DC-3F7B5EE67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pointer is like a variable, except that it holds address instead of the value</a:t>
            </a:r>
          </a:p>
          <a:p>
            <a:r>
              <a:rPr lang="en-US" dirty="0"/>
              <a:t>Syntax is different than a variable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 err="1">
                <a:solidFill>
                  <a:schemeClr val="accent5">
                    <a:lumMod val="75000"/>
                  </a:schemeClr>
                </a:solidFill>
              </a:rPr>
              <a:t>int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 *p = &amp;&lt;variable&gt; or dynamic memory</a:t>
            </a:r>
          </a:p>
          <a:p>
            <a:pPr marL="0" indent="0" algn="ctr">
              <a:buNone/>
            </a:pPr>
            <a:endParaRPr lang="en-US" i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/>
              <a:t>A pointer can hold address of </a:t>
            </a:r>
          </a:p>
          <a:p>
            <a:pPr lvl="1"/>
            <a:r>
              <a:rPr lang="en-US" dirty="0"/>
              <a:t>variable</a:t>
            </a:r>
          </a:p>
          <a:p>
            <a:pPr lvl="1"/>
            <a:r>
              <a:rPr lang="en-US" dirty="0"/>
              <a:t>pointer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function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D553-0B2A-8EA1-DAB4-5E170A8FC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748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C2C6C9A-4CD6-45C0-878C-2A31DC612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862" y="2072470"/>
            <a:ext cx="3009900" cy="227647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DBCBC7-A50F-4D36-BC72-C9E7A860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152D59-22A2-4E4D-A81F-F88CA44DB78C}"/>
              </a:ext>
            </a:extLst>
          </p:cNvPr>
          <p:cNvSpPr/>
          <p:nvPr/>
        </p:nvSpPr>
        <p:spPr>
          <a:xfrm>
            <a:off x="2263345" y="1871112"/>
            <a:ext cx="2078182" cy="39531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8FC229-8E25-4682-9482-E83E55C3D28B}"/>
              </a:ext>
            </a:extLst>
          </p:cNvPr>
          <p:cNvSpPr/>
          <p:nvPr/>
        </p:nvSpPr>
        <p:spPr>
          <a:xfrm>
            <a:off x="2263345" y="5066491"/>
            <a:ext cx="2078182" cy="4895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 Segment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BDA96-FE8D-4202-A6D6-5538594B3B8E}"/>
              </a:ext>
            </a:extLst>
          </p:cNvPr>
          <p:cNvSpPr/>
          <p:nvPr/>
        </p:nvSpPr>
        <p:spPr>
          <a:xfrm>
            <a:off x="2263345" y="4582590"/>
            <a:ext cx="2078182" cy="489527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Segment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9AF91-3ECC-4E7C-AA39-150FA2788830}"/>
              </a:ext>
            </a:extLst>
          </p:cNvPr>
          <p:cNvSpPr/>
          <p:nvPr/>
        </p:nvSpPr>
        <p:spPr>
          <a:xfrm>
            <a:off x="2263345" y="2762990"/>
            <a:ext cx="2078182" cy="48952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3DB7C4-8668-47AF-BD04-22AA9663B6F3}"/>
              </a:ext>
            </a:extLst>
          </p:cNvPr>
          <p:cNvSpPr/>
          <p:nvPr/>
        </p:nvSpPr>
        <p:spPr>
          <a:xfrm>
            <a:off x="2263345" y="4105872"/>
            <a:ext cx="2078182" cy="489527"/>
          </a:xfrm>
          <a:prstGeom prst="rect">
            <a:avLst/>
          </a:prstGeom>
          <a:solidFill>
            <a:srgbClr val="7030A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C55CF5-8305-40F6-BC2D-8AFD1A83B2F7}"/>
              </a:ext>
            </a:extLst>
          </p:cNvPr>
          <p:cNvCxnSpPr>
            <a:cxnSpLocks/>
          </p:cNvCxnSpPr>
          <p:nvPr/>
        </p:nvCxnSpPr>
        <p:spPr>
          <a:xfrm flipV="1">
            <a:off x="3742036" y="3736418"/>
            <a:ext cx="0" cy="369454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59FB3F-209A-4EEE-8EF9-16B2F8A92C70}"/>
              </a:ext>
            </a:extLst>
          </p:cNvPr>
          <p:cNvCxnSpPr>
            <a:cxnSpLocks/>
          </p:cNvCxnSpPr>
          <p:nvPr/>
        </p:nvCxnSpPr>
        <p:spPr>
          <a:xfrm flipH="1">
            <a:off x="2772905" y="3237619"/>
            <a:ext cx="1" cy="39716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 w="lg" len="lg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D1F0EE-A743-40E3-BB58-A87EEC33F943}"/>
              </a:ext>
            </a:extLst>
          </p:cNvPr>
          <p:cNvGrpSpPr/>
          <p:nvPr/>
        </p:nvGrpSpPr>
        <p:grpSpPr>
          <a:xfrm>
            <a:off x="4341530" y="3305316"/>
            <a:ext cx="4634829" cy="1170629"/>
            <a:chOff x="4341530" y="3305316"/>
            <a:chExt cx="4634829" cy="11706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0913A3-CFC2-46DF-BBCD-4CD6BE675662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>
              <a:off x="8393665" y="3411636"/>
              <a:ext cx="0" cy="1064308"/>
            </a:xfrm>
            <a:prstGeom prst="straightConnector1">
              <a:avLst/>
            </a:prstGeom>
            <a:ln w="28575">
              <a:solidFill>
                <a:srgbClr val="7030A0"/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F72A68E-D774-41F5-A4D9-9276DEA566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1530" y="4475945"/>
              <a:ext cx="4052135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 w="lg" len="lg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ight Brace 27">
              <a:extLst>
                <a:ext uri="{FF2B5EF4-FFF2-40B4-BE49-F238E27FC236}">
                  <a16:creationId xmlns:a16="http://schemas.microsoft.com/office/drawing/2014/main" id="{523B22FF-06E9-4286-B7F6-235BE36F459B}"/>
                </a:ext>
              </a:extLst>
            </p:cNvPr>
            <p:cNvSpPr/>
            <p:nvPr/>
          </p:nvSpPr>
          <p:spPr>
            <a:xfrm rot="5400000">
              <a:off x="8340505" y="2775782"/>
              <a:ext cx="106320" cy="1165388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FD75BA7-AB4C-4460-86C8-61E4D651EC6C}"/>
              </a:ext>
            </a:extLst>
          </p:cNvPr>
          <p:cNvSpPr txBox="1"/>
          <p:nvPr/>
        </p:nvSpPr>
        <p:spPr>
          <a:xfrm>
            <a:off x="1822030" y="5904973"/>
            <a:ext cx="2960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Address Space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14ABAA-B3AD-4CB9-8FED-F21AB0F528FD}"/>
              </a:ext>
            </a:extLst>
          </p:cNvPr>
          <p:cNvGrpSpPr/>
          <p:nvPr/>
        </p:nvGrpSpPr>
        <p:grpSpPr>
          <a:xfrm>
            <a:off x="4341528" y="2574656"/>
            <a:ext cx="2365534" cy="1675865"/>
            <a:chOff x="4341528" y="2574656"/>
            <a:chExt cx="2365534" cy="1675865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5B874C8-EE2F-4B49-9835-8DE8DBF633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1528" y="2962056"/>
              <a:ext cx="1300447" cy="0"/>
            </a:xfrm>
            <a:prstGeom prst="straightConnector1">
              <a:avLst/>
            </a:prstGeom>
            <a:ln w="28575" cap="rnd">
              <a:solidFill>
                <a:schemeClr val="accent2">
                  <a:lumMod val="75000"/>
                </a:schemeClr>
              </a:solidFill>
              <a:tailEnd type="triangle" w="lg" len="lg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BBCC55C2-27DC-4D1F-AE49-411F4C6D5C6B}"/>
                </a:ext>
              </a:extLst>
            </p:cNvPr>
            <p:cNvSpPr/>
            <p:nvPr/>
          </p:nvSpPr>
          <p:spPr>
            <a:xfrm rot="10800000">
              <a:off x="6562025" y="2574656"/>
              <a:ext cx="145037" cy="1675865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AD4A5C9-E26A-4FE0-A3CB-3EB79C2CF2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1975" y="3411636"/>
              <a:ext cx="896921" cy="0"/>
            </a:xfrm>
            <a:prstGeom prst="straightConnector1">
              <a:avLst/>
            </a:prstGeom>
            <a:ln w="28575" cap="rnd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8684AF6-3C07-42CB-BB27-E63C24C4B093}"/>
                </a:ext>
              </a:extLst>
            </p:cNvPr>
            <p:cNvCxnSpPr>
              <a:cxnSpLocks/>
            </p:cNvCxnSpPr>
            <p:nvPr/>
          </p:nvCxnSpPr>
          <p:spPr>
            <a:xfrm>
              <a:off x="5641975" y="2962056"/>
              <a:ext cx="0" cy="449580"/>
            </a:xfrm>
            <a:prstGeom prst="straightConnector1">
              <a:avLst/>
            </a:prstGeom>
            <a:ln w="28575" cap="rnd">
              <a:solidFill>
                <a:schemeClr val="accent2">
                  <a:lumMod val="75000"/>
                </a:schemeClr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254D762-86BD-4EF9-BF62-6B7E458596D6}"/>
              </a:ext>
            </a:extLst>
          </p:cNvPr>
          <p:cNvGrpSpPr/>
          <p:nvPr/>
        </p:nvGrpSpPr>
        <p:grpSpPr>
          <a:xfrm>
            <a:off x="4341530" y="3798554"/>
            <a:ext cx="4634829" cy="1088871"/>
            <a:chOff x="4341530" y="3798554"/>
            <a:chExt cx="4634829" cy="1088871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9918229-93CA-4B5C-B3E1-43464DE25F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1530" y="4887425"/>
              <a:ext cx="4052135" cy="0"/>
            </a:xfrm>
            <a:prstGeom prst="straightConnector1">
              <a:avLst/>
            </a:prstGeom>
            <a:ln w="28575">
              <a:solidFill>
                <a:srgbClr val="0086EA"/>
              </a:solidFill>
              <a:tailEnd type="triangle" w="lg" len="lg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7EB30D9-ECBA-434E-B085-CC164225DD9C}"/>
                </a:ext>
              </a:extLst>
            </p:cNvPr>
            <p:cNvCxnSpPr>
              <a:cxnSpLocks/>
            </p:cNvCxnSpPr>
            <p:nvPr/>
          </p:nvCxnSpPr>
          <p:spPr>
            <a:xfrm>
              <a:off x="8393661" y="3904874"/>
              <a:ext cx="1" cy="982551"/>
            </a:xfrm>
            <a:prstGeom prst="straightConnector1">
              <a:avLst/>
            </a:prstGeom>
            <a:ln w="28575" cap="rnd">
              <a:solidFill>
                <a:srgbClr val="0086EA"/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ight Brace 36">
              <a:extLst>
                <a:ext uri="{FF2B5EF4-FFF2-40B4-BE49-F238E27FC236}">
                  <a16:creationId xmlns:a16="http://schemas.microsoft.com/office/drawing/2014/main" id="{2A4FE31F-C118-4C26-A3A1-15B8D4304912}"/>
                </a:ext>
              </a:extLst>
            </p:cNvPr>
            <p:cNvSpPr/>
            <p:nvPr/>
          </p:nvSpPr>
          <p:spPr>
            <a:xfrm rot="5400000">
              <a:off x="8340505" y="3269020"/>
              <a:ext cx="106320" cy="1165388"/>
            </a:xfrm>
            <a:prstGeom prst="rightBrace">
              <a:avLst/>
            </a:prstGeom>
            <a:ln w="28575">
              <a:solidFill>
                <a:srgbClr val="0086E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6C8C9E3-729C-40EA-B955-D79D337A9ECC}"/>
              </a:ext>
            </a:extLst>
          </p:cNvPr>
          <p:cNvGrpSpPr/>
          <p:nvPr/>
        </p:nvGrpSpPr>
        <p:grpSpPr>
          <a:xfrm>
            <a:off x="4341531" y="4217801"/>
            <a:ext cx="4484216" cy="1239457"/>
            <a:chOff x="4341531" y="3647968"/>
            <a:chExt cx="4484216" cy="1239457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38963DE-7232-48D0-A72D-A29A7F7B1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1531" y="4887425"/>
              <a:ext cx="4192864" cy="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 w="lg" len="lg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485B64F-3F98-42F7-BB5B-AC53606F0CDE}"/>
                </a:ext>
              </a:extLst>
            </p:cNvPr>
            <p:cNvCxnSpPr>
              <a:cxnSpLocks/>
            </p:cNvCxnSpPr>
            <p:nvPr/>
          </p:nvCxnSpPr>
          <p:spPr>
            <a:xfrm>
              <a:off x="8534395" y="3904874"/>
              <a:ext cx="1" cy="982551"/>
            </a:xfrm>
            <a:prstGeom prst="straightConnector1">
              <a:avLst/>
            </a:prstGeom>
            <a:ln w="28575" cap="rnd">
              <a:solidFill>
                <a:schemeClr val="accent6">
                  <a:lumMod val="75000"/>
                </a:schemeClr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DB86D853-31ED-4A2C-9861-DB0D7B94CC01}"/>
                </a:ext>
              </a:extLst>
            </p:cNvPr>
            <p:cNvSpPr/>
            <p:nvPr/>
          </p:nvSpPr>
          <p:spPr>
            <a:xfrm rot="5400000">
              <a:off x="8475202" y="3415812"/>
              <a:ext cx="118389" cy="582701"/>
            </a:xfrm>
            <a:prstGeom prst="rightBrac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DA3BB-74DB-B8E9-63F8-A999B17F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976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AF54-C5BA-4B59-8E1D-25BFBC5E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Byte Ordering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DE9DC-5C20-4636-9472-24E4E938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Specifies the order in which a sequence of bytes is stored in the memory</a:t>
            </a:r>
          </a:p>
          <a:p>
            <a:r>
              <a:rPr lang="en-IN" dirty="0"/>
              <a:t>Big Endian : most significant byte is stored first (the first byte in the data)</a:t>
            </a:r>
          </a:p>
          <a:p>
            <a:r>
              <a:rPr lang="en-IN" dirty="0"/>
              <a:t>Little Endian : least significant byte is stored first (the last byte in the data)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91D7E-5AF7-2E2D-32B2-75F3EF8A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45827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C2EE23-31E0-4A7F-BF24-2DD15155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C12BE-6B98-41B0-9717-6612B909BAE4}"/>
              </a:ext>
            </a:extLst>
          </p:cNvPr>
          <p:cNvSpPr/>
          <p:nvPr/>
        </p:nvSpPr>
        <p:spPr>
          <a:xfrm>
            <a:off x="5527516" y="3564675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D5108-9431-4914-B377-5B25B0BE02CD}"/>
              </a:ext>
            </a:extLst>
          </p:cNvPr>
          <p:cNvSpPr/>
          <p:nvPr/>
        </p:nvSpPr>
        <p:spPr>
          <a:xfrm>
            <a:off x="6352534" y="3564675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CF9FFF-5171-4846-A2E0-D1F5BF1AFD53}"/>
              </a:ext>
            </a:extLst>
          </p:cNvPr>
          <p:cNvSpPr/>
          <p:nvPr/>
        </p:nvSpPr>
        <p:spPr>
          <a:xfrm>
            <a:off x="7177551" y="3564675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1FE34E-3A3E-4820-8FC1-CC03D2452702}"/>
              </a:ext>
            </a:extLst>
          </p:cNvPr>
          <p:cNvSpPr/>
          <p:nvPr/>
        </p:nvSpPr>
        <p:spPr>
          <a:xfrm>
            <a:off x="8002569" y="3564675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3E33D-32A7-4DA9-8BFA-6371AC40AA3D}"/>
              </a:ext>
            </a:extLst>
          </p:cNvPr>
          <p:cNvSpPr txBox="1"/>
          <p:nvPr/>
        </p:nvSpPr>
        <p:spPr>
          <a:xfrm>
            <a:off x="5559621" y="323557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0x100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F2FA9-4335-4397-9A58-BEEF181B8576}"/>
              </a:ext>
            </a:extLst>
          </p:cNvPr>
          <p:cNvSpPr txBox="1"/>
          <p:nvPr/>
        </p:nvSpPr>
        <p:spPr>
          <a:xfrm>
            <a:off x="6384639" y="323557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0x200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D886C2-342B-4DB9-8BBA-71E2EDB024BE}"/>
              </a:ext>
            </a:extLst>
          </p:cNvPr>
          <p:cNvSpPr txBox="1"/>
          <p:nvPr/>
        </p:nvSpPr>
        <p:spPr>
          <a:xfrm>
            <a:off x="7209655" y="323557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0x300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3A971-D935-4BAA-A7CB-A91A1D99C52B}"/>
              </a:ext>
            </a:extLst>
          </p:cNvPr>
          <p:cNvSpPr txBox="1"/>
          <p:nvPr/>
        </p:nvSpPr>
        <p:spPr>
          <a:xfrm>
            <a:off x="8034673" y="3235575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0x400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CC4834-E749-4498-88CF-6CEB003CDC58}"/>
              </a:ext>
            </a:extLst>
          </p:cNvPr>
          <p:cNvSpPr/>
          <p:nvPr/>
        </p:nvSpPr>
        <p:spPr>
          <a:xfrm>
            <a:off x="5527516" y="5149794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830D26-C505-4D64-A70C-AEF8B21C257E}"/>
              </a:ext>
            </a:extLst>
          </p:cNvPr>
          <p:cNvSpPr/>
          <p:nvPr/>
        </p:nvSpPr>
        <p:spPr>
          <a:xfrm>
            <a:off x="6352534" y="5149794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CDD862-9DD1-4007-A90C-C584A72835E6}"/>
              </a:ext>
            </a:extLst>
          </p:cNvPr>
          <p:cNvSpPr/>
          <p:nvPr/>
        </p:nvSpPr>
        <p:spPr>
          <a:xfrm>
            <a:off x="7177551" y="5149794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473097-63E9-4C43-86C4-E364D861E36D}"/>
              </a:ext>
            </a:extLst>
          </p:cNvPr>
          <p:cNvSpPr/>
          <p:nvPr/>
        </p:nvSpPr>
        <p:spPr>
          <a:xfrm>
            <a:off x="8002569" y="5149794"/>
            <a:ext cx="825018" cy="747252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414E6-ADE9-4CCF-8BF9-97ED38FFB153}"/>
              </a:ext>
            </a:extLst>
          </p:cNvPr>
          <p:cNvSpPr txBox="1"/>
          <p:nvPr/>
        </p:nvSpPr>
        <p:spPr>
          <a:xfrm>
            <a:off x="4679123" y="2090170"/>
            <a:ext cx="1859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int value 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054C73-91D5-4C58-A6E2-4854A3DBA066}"/>
              </a:ext>
            </a:extLst>
          </p:cNvPr>
          <p:cNvSpPr txBox="1"/>
          <p:nvPr/>
        </p:nvSpPr>
        <p:spPr>
          <a:xfrm>
            <a:off x="2910238" y="3679029"/>
            <a:ext cx="1489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Big Endian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06D730-C560-492D-A00F-157BF4663672}"/>
              </a:ext>
            </a:extLst>
          </p:cNvPr>
          <p:cNvSpPr txBox="1"/>
          <p:nvPr/>
        </p:nvSpPr>
        <p:spPr>
          <a:xfrm>
            <a:off x="2880742" y="5233593"/>
            <a:ext cx="1733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Little Endian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11C88A-7D76-43FA-8EBB-4CC9B7198267}"/>
              </a:ext>
            </a:extLst>
          </p:cNvPr>
          <p:cNvSpPr txBox="1"/>
          <p:nvPr/>
        </p:nvSpPr>
        <p:spPr>
          <a:xfrm>
            <a:off x="6183905" y="1406648"/>
            <a:ext cx="662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MSB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487E14-62F0-42EA-A08A-75FC1BBD24BE}"/>
              </a:ext>
            </a:extLst>
          </p:cNvPr>
          <p:cNvSpPr txBox="1"/>
          <p:nvPr/>
        </p:nvSpPr>
        <p:spPr>
          <a:xfrm>
            <a:off x="7314984" y="1381752"/>
            <a:ext cx="550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LSB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F22306-4165-410A-9551-E00F71FB6B47}"/>
              </a:ext>
            </a:extLst>
          </p:cNvPr>
          <p:cNvCxnSpPr>
            <a:cxnSpLocks/>
          </p:cNvCxnSpPr>
          <p:nvPr/>
        </p:nvCxnSpPr>
        <p:spPr>
          <a:xfrm>
            <a:off x="6538451" y="1782794"/>
            <a:ext cx="0" cy="3624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F56CBA3-EEDB-4245-A417-FB0117DF4FCD}"/>
              </a:ext>
            </a:extLst>
          </p:cNvPr>
          <p:cNvCxnSpPr>
            <a:cxnSpLocks/>
          </p:cNvCxnSpPr>
          <p:nvPr/>
        </p:nvCxnSpPr>
        <p:spPr>
          <a:xfrm>
            <a:off x="7590060" y="1766704"/>
            <a:ext cx="0" cy="3624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B8686FA-CC77-4BF3-AC2E-8F157663001B}"/>
              </a:ext>
            </a:extLst>
          </p:cNvPr>
          <p:cNvSpPr txBox="1"/>
          <p:nvPr/>
        </p:nvSpPr>
        <p:spPr>
          <a:xfrm>
            <a:off x="6279644" y="2081614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7E0933-83A4-4A56-B381-8E631061BBDD}"/>
              </a:ext>
            </a:extLst>
          </p:cNvPr>
          <p:cNvSpPr txBox="1"/>
          <p:nvPr/>
        </p:nvSpPr>
        <p:spPr>
          <a:xfrm>
            <a:off x="7425316" y="207819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78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3A1B89-0FA6-4DBC-B30A-E2FEA120E01D}"/>
              </a:ext>
            </a:extLst>
          </p:cNvPr>
          <p:cNvSpPr txBox="1"/>
          <p:nvPr/>
        </p:nvSpPr>
        <p:spPr>
          <a:xfrm>
            <a:off x="6670085" y="2077434"/>
            <a:ext cx="915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C67416-B74F-48FE-BAC4-395B68CA5E8B}"/>
              </a:ext>
            </a:extLst>
          </p:cNvPr>
          <p:cNvSpPr txBox="1"/>
          <p:nvPr/>
        </p:nvSpPr>
        <p:spPr>
          <a:xfrm>
            <a:off x="7809336" y="2077434"/>
            <a:ext cx="280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90C820-4DC4-49B9-9980-3C587B9CAF3B}"/>
              </a:ext>
            </a:extLst>
          </p:cNvPr>
          <p:cNvSpPr txBox="1"/>
          <p:nvPr/>
        </p:nvSpPr>
        <p:spPr>
          <a:xfrm>
            <a:off x="5559621" y="473547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0x100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F5C023-5D78-4D74-B6B4-EEE199F242C0}"/>
              </a:ext>
            </a:extLst>
          </p:cNvPr>
          <p:cNvSpPr txBox="1"/>
          <p:nvPr/>
        </p:nvSpPr>
        <p:spPr>
          <a:xfrm>
            <a:off x="6384639" y="473547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0x200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441944-F656-42DD-B035-BF3B65F24542}"/>
              </a:ext>
            </a:extLst>
          </p:cNvPr>
          <p:cNvSpPr txBox="1"/>
          <p:nvPr/>
        </p:nvSpPr>
        <p:spPr>
          <a:xfrm>
            <a:off x="7209655" y="473547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0x300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99192E-29EB-447E-84E9-B99FD4265010}"/>
              </a:ext>
            </a:extLst>
          </p:cNvPr>
          <p:cNvSpPr txBox="1"/>
          <p:nvPr/>
        </p:nvSpPr>
        <p:spPr>
          <a:xfrm>
            <a:off x="8034673" y="4735476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0x400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029EFC-0874-4A15-B3F6-A0F60AF64183}"/>
              </a:ext>
            </a:extLst>
          </p:cNvPr>
          <p:cNvSpPr txBox="1"/>
          <p:nvPr/>
        </p:nvSpPr>
        <p:spPr>
          <a:xfrm>
            <a:off x="6419984" y="24678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D1A013-54AC-4B0D-9630-FDCD98DC06D7}"/>
              </a:ext>
            </a:extLst>
          </p:cNvPr>
          <p:cNvSpPr txBox="1"/>
          <p:nvPr/>
        </p:nvSpPr>
        <p:spPr>
          <a:xfrm>
            <a:off x="6765043" y="24678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E5DF07-C4B9-4A33-B766-3907F0DEC494}"/>
              </a:ext>
            </a:extLst>
          </p:cNvPr>
          <p:cNvSpPr txBox="1"/>
          <p:nvPr/>
        </p:nvSpPr>
        <p:spPr>
          <a:xfrm>
            <a:off x="7160902" y="24678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F5BA9C-FA50-4313-ABBD-18AD066AD48E}"/>
              </a:ext>
            </a:extLst>
          </p:cNvPr>
          <p:cNvSpPr txBox="1"/>
          <p:nvPr/>
        </p:nvSpPr>
        <p:spPr>
          <a:xfrm>
            <a:off x="7521843" y="24676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B31732-48D3-478B-ED2C-DC6EA1AD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8813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6E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86EA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3" grpId="0"/>
      <p:bldP spid="14" grpId="0"/>
      <p:bldP spid="15" grpId="0"/>
      <p:bldP spid="16" grpId="0"/>
      <p:bldP spid="17" grpId="0" animBg="1"/>
      <p:bldP spid="18" grpId="0" animBg="1"/>
      <p:bldP spid="19" grpId="0" animBg="1"/>
      <p:bldP spid="20" grpId="0" animBg="1"/>
      <p:bldP spid="22" grpId="0"/>
      <p:bldP spid="23" grpId="0"/>
      <p:bldP spid="25" grpId="0"/>
      <p:bldP spid="26" grpId="0"/>
      <p:bldP spid="35" grpId="0"/>
      <p:bldP spid="36" grpId="0"/>
      <p:bldP spid="3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71B9-1B3E-BD90-471F-B9619D61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bug?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0166-7382-B05C-AA68-E030E7711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Defect that breaks the intended behavior of the program</a:t>
            </a:r>
          </a:p>
          <a:p>
            <a:r>
              <a:rPr lang="en-US" dirty="0"/>
              <a:t>Shows up as wrong result, crash, leak, slow execution, etc.</a:t>
            </a:r>
          </a:p>
          <a:p>
            <a:r>
              <a:rPr lang="en-US" dirty="0"/>
              <a:t>Introduced due to unclear requirements, logic mistakes or environment differences</a:t>
            </a:r>
          </a:p>
          <a:p>
            <a:r>
              <a:rPr lang="en-US" dirty="0"/>
              <a:t>Hard to avoid in software development process, but need to be minimized as much as possible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479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debugging?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of locating, tracking &amp; reducing the bugs in software</a:t>
            </a:r>
          </a:p>
          <a:p>
            <a:r>
              <a:rPr lang="en-US" dirty="0"/>
              <a:t>Common process: reproduce -&gt; isolate -&gt; fix -&gt; verify</a:t>
            </a:r>
          </a:p>
          <a:p>
            <a:r>
              <a:rPr lang="en-US" dirty="0"/>
              <a:t>Key techniques: breakpoints, stepping, reading call stacks &amp; logging values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Tools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tools exist for debugging</a:t>
            </a:r>
          </a:p>
          <a:p>
            <a:r>
              <a:rPr lang="en-US" dirty="0"/>
              <a:t>Called symbolic debuggers </a:t>
            </a:r>
          </a:p>
          <a:p>
            <a:pPr lvl="1"/>
            <a:r>
              <a:rPr lang="en-US" dirty="0"/>
              <a:t>Point to the faulting code in the source</a:t>
            </a:r>
          </a:p>
          <a:p>
            <a:r>
              <a:rPr lang="en-US" dirty="0"/>
              <a:t>Provide functionality to ease debugging</a:t>
            </a:r>
          </a:p>
          <a:p>
            <a:r>
              <a:rPr lang="en-IN" dirty="0"/>
              <a:t>Some debuggers are command-line based; other provide IDE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Debuggers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main categories of debuggers- </a:t>
            </a:r>
            <a:r>
              <a:rPr lang="en-IN" dirty="0"/>
              <a:t>User mode &amp; Kernel mode debuggers</a:t>
            </a:r>
          </a:p>
          <a:p>
            <a:r>
              <a:rPr lang="en-US" dirty="0"/>
              <a:t>User mode debuggers are used for debugging user applications. </a:t>
            </a:r>
          </a:p>
          <a:p>
            <a:pPr lvl="1"/>
            <a:r>
              <a:rPr lang="en-US" dirty="0"/>
              <a:t>Visual Studio debugger, NTSD, CDB,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Kernel mode debuggers are used to debug the OS kernel and are mostly used for debugging device drivers. </a:t>
            </a:r>
          </a:p>
          <a:p>
            <a:pPr lvl="1"/>
            <a:r>
              <a:rPr lang="en-US" dirty="0" err="1"/>
              <a:t>WinDBG</a:t>
            </a:r>
            <a:r>
              <a:rPr lang="en-US" dirty="0"/>
              <a:t> &amp; Kernel Debugger (KD)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Without Debuggers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Defensive coding can minimize debugging</a:t>
            </a:r>
          </a:p>
          <a:p>
            <a:r>
              <a:rPr lang="en-US" dirty="0"/>
              <a:t>Logging can provide information about program during execution</a:t>
            </a:r>
          </a:p>
          <a:p>
            <a:r>
              <a:rPr lang="en-US" dirty="0"/>
              <a:t>In C++, </a:t>
            </a:r>
          </a:p>
          <a:p>
            <a:pPr lvl="1"/>
            <a:r>
              <a:rPr lang="en-US" dirty="0"/>
              <a:t>Prefer strong types over raw types</a:t>
            </a:r>
          </a:p>
          <a:p>
            <a:pPr lvl="1"/>
            <a:r>
              <a:rPr lang="en-US" dirty="0"/>
              <a:t>Use RAII</a:t>
            </a:r>
          </a:p>
          <a:p>
            <a:pPr lvl="1"/>
            <a:r>
              <a:rPr lang="en-US" dirty="0"/>
              <a:t>If unavoidable, use runtime checks</a:t>
            </a:r>
          </a:p>
          <a:p>
            <a:pPr lvl="1"/>
            <a:r>
              <a:rPr lang="en-US" dirty="0"/>
              <a:t>Validate inputs at boundaries</a:t>
            </a:r>
          </a:p>
          <a:p>
            <a:r>
              <a:rPr lang="en-US" dirty="0"/>
              <a:t>Treat warnings as errors</a:t>
            </a:r>
          </a:p>
          <a:p>
            <a:r>
              <a:rPr lang="en-US" dirty="0"/>
              <a:t>Use sanitizers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Tracing/Logging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Technique to output debugging information during program execution </a:t>
            </a:r>
          </a:p>
          <a:p>
            <a:pPr lvl="1"/>
            <a:r>
              <a:rPr lang="en-US" dirty="0"/>
              <a:t>Terminal</a:t>
            </a:r>
          </a:p>
          <a:p>
            <a:pPr lvl="1"/>
            <a:r>
              <a:rPr lang="en-US" dirty="0"/>
              <a:t>Output window</a:t>
            </a:r>
          </a:p>
          <a:p>
            <a:pPr lvl="1"/>
            <a:r>
              <a:rPr lang="en-US" dirty="0"/>
              <a:t>File</a:t>
            </a:r>
          </a:p>
          <a:p>
            <a:r>
              <a:rPr lang="en-US" dirty="0"/>
              <a:t>Can help identify source through line numbers, function or file names</a:t>
            </a:r>
          </a:p>
          <a:p>
            <a:r>
              <a:rPr lang="en-US" dirty="0"/>
              <a:t>Some IDEs provide tracing support</a:t>
            </a:r>
          </a:p>
        </p:txBody>
      </p:sp>
    </p:spTree>
    <p:extLst>
      <p:ext uri="{BB962C8B-B14F-4D97-AF65-F5344CB8AC3E}">
        <p14:creationId xmlns:p14="http://schemas.microsoft.com/office/powerpoint/2010/main" val="250497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Function Tracing</a:t>
            </a:r>
            <a:r>
              <a:rPr lang="en-US" dirty="0"/>
              <a:t> (MSVC)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MSVC provides several macros that are useful for function level tracing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__FUNCDNAME__ </a:t>
            </a:r>
            <a:r>
              <a:rPr lang="en-US" dirty="0"/>
              <a:t>: expands to the decorated name of the function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__FUNCTION__ </a:t>
            </a:r>
            <a:r>
              <a:rPr lang="en-US" dirty="0"/>
              <a:t>: expands to the undecorated name of the function without parameter list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__FUNCSIG__</a:t>
            </a:r>
            <a:r>
              <a:rPr lang="en-US" i="1" dirty="0"/>
              <a:t> </a:t>
            </a:r>
            <a:r>
              <a:rPr lang="en-US" dirty="0"/>
              <a:t>:expands to the undecorated name of the function along with the parameter list</a:t>
            </a:r>
          </a:p>
          <a:p>
            <a:pPr lvl="1"/>
            <a:r>
              <a:rPr lang="en-US" i="1" dirty="0">
                <a:solidFill>
                  <a:schemeClr val="tx2"/>
                </a:solidFill>
              </a:rPr>
              <a:t>__</a:t>
            </a:r>
            <a:r>
              <a:rPr lang="en-US" i="1" dirty="0" err="1">
                <a:solidFill>
                  <a:schemeClr val="tx2"/>
                </a:solidFill>
              </a:rPr>
              <a:t>func</a:t>
            </a:r>
            <a:r>
              <a:rPr lang="en-US" i="1" dirty="0">
                <a:solidFill>
                  <a:schemeClr val="tx2"/>
                </a:solidFill>
              </a:rPr>
              <a:t>__ : </a:t>
            </a:r>
            <a:r>
              <a:rPr lang="en-US" dirty="0"/>
              <a:t>ISO C99 standard macro that expands to undecorated name of the function without parameter list</a:t>
            </a:r>
          </a:p>
        </p:txBody>
      </p:sp>
    </p:spTree>
    <p:extLst>
      <p:ext uri="{BB962C8B-B14F-4D97-AF65-F5344CB8AC3E}">
        <p14:creationId xmlns:p14="http://schemas.microsoft.com/office/powerpoint/2010/main" val="3557996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ADC32-7175-406E-9C6B-D3C3FF0A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10A88-6804-BDC3-493F-CC053BE1B519}"/>
              </a:ext>
            </a:extLst>
          </p:cNvPr>
          <p:cNvSpPr txBox="1"/>
          <p:nvPr/>
        </p:nvSpPr>
        <p:spPr>
          <a:xfrm>
            <a:off x="2418080" y="1482969"/>
            <a:ext cx="7355840" cy="29361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80" dirty="0">
                <a:solidFill>
                  <a:srgbClr val="C792EA"/>
                </a:solidFill>
                <a:latin typeface="Iosevka" panose="02000509030000000004" pitchFamily="49" charset="0"/>
              </a:rPr>
              <a:t>template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&lt;</a:t>
            </a:r>
            <a:r>
              <a:rPr lang="en-IN" sz="1680" dirty="0" err="1">
                <a:solidFill>
                  <a:srgbClr val="C792EA"/>
                </a:solidFill>
                <a:latin typeface="Iosevka" panose="02000509030000000004" pitchFamily="49" charset="0"/>
              </a:rPr>
              <a:t>typename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T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&gt;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C792EA"/>
                </a:solidFill>
                <a:latin typeface="Iosevka" panose="02000509030000000004" pitchFamily="49" charset="0"/>
              </a:rPr>
              <a:t>class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b="1" dirty="0">
                <a:solidFill>
                  <a:srgbClr val="4EC9B0"/>
                </a:solidFill>
                <a:latin typeface="Iosevka" panose="02000509030000000004" pitchFamily="49" charset="0"/>
              </a:rPr>
              <a:t>Array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{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C792EA"/>
                </a:solidFill>
                <a:latin typeface="Iosevka" panose="02000509030000000004" pitchFamily="49" charset="0"/>
              </a:rPr>
              <a:t>public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   </a:t>
            </a:r>
            <a:r>
              <a:rPr lang="en-IN" sz="1680" dirty="0">
                <a:solidFill>
                  <a:srgbClr val="C792EA"/>
                </a:solidFill>
                <a:latin typeface="Iosevka" panose="02000509030000000004" pitchFamily="49" charset="0"/>
              </a:rPr>
              <a:t>void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resize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FCB6B"/>
                </a:solidFill>
                <a:latin typeface="Iosevka" panose="02000509030000000004" pitchFamily="49" charset="0"/>
              </a:rPr>
              <a:t>size_t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new_size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{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   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std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::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cout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__</a:t>
            </a:r>
            <a:r>
              <a:rPr lang="en-IN" sz="1680" dirty="0" err="1">
                <a:solidFill>
                  <a:srgbClr val="C3E88D"/>
                </a:solidFill>
                <a:latin typeface="Iosevka" panose="02000509030000000004" pitchFamily="49" charset="0"/>
              </a:rPr>
              <a:t>func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__: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__</a:t>
            </a:r>
            <a:r>
              <a:rPr lang="en-IN" sz="1680" dirty="0" err="1">
                <a:solidFill>
                  <a:srgbClr val="F07178"/>
                </a:solidFill>
                <a:latin typeface="Iosevka" panose="02000509030000000004" pitchFamily="49" charset="0"/>
              </a:rPr>
              <a:t>func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'\n';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   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std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::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cout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__FUNCDNAME__: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__FUNCDNAME__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'\n';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   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std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::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cout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__FUNCTION__: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__FUNCTION__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'\n';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   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std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::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cout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__FUNCSIG__: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__FUNCSIG__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'\n';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    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std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::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cout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__FILE__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</a:t>
            </a:r>
            <a:r>
              <a:rPr lang="en-IN" sz="1680" dirty="0">
                <a:solidFill>
                  <a:srgbClr val="C3E88D"/>
                </a:solidFill>
                <a:latin typeface="Iosevka" panose="02000509030000000004" pitchFamily="49" charset="0"/>
              </a:rPr>
              <a:t>: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__LINE__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&lt;&lt;</a:t>
            </a: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'\n';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  <a:t>   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}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};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F84B8-47F3-C4BA-57A9-CD8E1E094E3A}"/>
              </a:ext>
            </a:extLst>
          </p:cNvPr>
          <p:cNvSpPr txBox="1"/>
          <p:nvPr/>
        </p:nvSpPr>
        <p:spPr>
          <a:xfrm>
            <a:off x="2939626" y="5089414"/>
            <a:ext cx="64753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80" dirty="0"/>
              <a:t>__</a:t>
            </a:r>
            <a:r>
              <a:rPr lang="en-IN" sz="1680" dirty="0" err="1"/>
              <a:t>func</a:t>
            </a:r>
            <a:r>
              <a:rPr lang="en-IN" sz="1680" dirty="0"/>
              <a:t>__:resize</a:t>
            </a:r>
          </a:p>
          <a:p>
            <a:r>
              <a:rPr lang="en-IN" sz="1680" dirty="0"/>
              <a:t>__FUNCDNAME__:?resize@?$</a:t>
            </a:r>
            <a:r>
              <a:rPr lang="en-IN" sz="1680" dirty="0" err="1"/>
              <a:t>Array@H</a:t>
            </a:r>
            <a:r>
              <a:rPr lang="en-IN" sz="1680" dirty="0"/>
              <a:t>@@QAEXI@Z</a:t>
            </a:r>
          </a:p>
          <a:p>
            <a:r>
              <a:rPr lang="en-IN" sz="1680" dirty="0"/>
              <a:t>__</a:t>
            </a:r>
            <a:r>
              <a:rPr lang="en-IN" sz="1680" dirty="0" err="1"/>
              <a:t>FUNCTION__:Array</a:t>
            </a:r>
            <a:r>
              <a:rPr lang="en-IN" sz="1680" dirty="0"/>
              <a:t>&lt;int&gt;::resize</a:t>
            </a:r>
          </a:p>
          <a:p>
            <a:r>
              <a:rPr lang="en-IN" sz="1680" dirty="0"/>
              <a:t>__</a:t>
            </a:r>
            <a:r>
              <a:rPr lang="en-IN" sz="1680" dirty="0" err="1"/>
              <a:t>FUNCSIG__:void</a:t>
            </a:r>
            <a:r>
              <a:rPr lang="en-IN" sz="1680" dirty="0"/>
              <a:t> __</a:t>
            </a:r>
            <a:r>
              <a:rPr lang="en-IN" sz="1680" dirty="0" err="1"/>
              <a:t>thiscall</a:t>
            </a:r>
            <a:r>
              <a:rPr lang="en-IN" sz="1680" dirty="0"/>
              <a:t> Array&lt;int&gt;::resize(unsigned int)</a:t>
            </a:r>
          </a:p>
          <a:p>
            <a:r>
              <a:rPr lang="en-IN" sz="1680" dirty="0"/>
              <a:t>E:\VS Debugging\</a:t>
            </a:r>
            <a:r>
              <a:rPr lang="en-IN" sz="1680" dirty="0" err="1"/>
              <a:t>vscode</a:t>
            </a:r>
            <a:r>
              <a:rPr lang="en-IN" sz="1680" dirty="0"/>
              <a:t>\main.cpp:20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90C4262-37C2-3546-15C2-42E1E98E2DFE}"/>
              </a:ext>
            </a:extLst>
          </p:cNvPr>
          <p:cNvSpPr/>
          <p:nvPr/>
        </p:nvSpPr>
        <p:spPr>
          <a:xfrm>
            <a:off x="5781039" y="4437625"/>
            <a:ext cx="358987" cy="491710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</p:spTree>
    <p:extLst>
      <p:ext uri="{BB962C8B-B14F-4D97-AF65-F5344CB8AC3E}">
        <p14:creationId xmlns:p14="http://schemas.microsoft.com/office/powerpoint/2010/main" val="128527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068F-054D-4785-121F-D860F11A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C++20 std::</a:t>
            </a:r>
            <a:r>
              <a:rPr lang="en-US" dirty="0" err="1"/>
              <a:t>source_location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9F426-FCE0-3F58-6206-DACB66447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Alternatively, use </a:t>
            </a:r>
            <a:r>
              <a:rPr lang="en-US" i="1" dirty="0"/>
              <a:t>std::</a:t>
            </a:r>
            <a:r>
              <a:rPr lang="en-US" i="1" dirty="0" err="1"/>
              <a:t>source_location</a:t>
            </a:r>
            <a:r>
              <a:rPr lang="en-US" i="1" dirty="0"/>
              <a:t> </a:t>
            </a:r>
            <a:r>
              <a:rPr lang="en-US" dirty="0"/>
              <a:t>class from C++20</a:t>
            </a:r>
          </a:p>
          <a:p>
            <a:r>
              <a:rPr lang="en-US" dirty="0" err="1"/>
              <a:t>Typesafe</a:t>
            </a:r>
            <a:r>
              <a:rPr lang="en-US" dirty="0"/>
              <a:t> with well structured members</a:t>
            </a:r>
          </a:p>
          <a:p>
            <a:r>
              <a:rPr lang="en-US" dirty="0"/>
              <a:t>Can be passed around in code, stored or formatted</a:t>
            </a:r>
          </a:p>
          <a:p>
            <a:r>
              <a:rPr lang="en-US" dirty="0"/>
              <a:t>Less macro boilerplate code</a:t>
            </a:r>
          </a:p>
          <a:p>
            <a:r>
              <a:rPr lang="en-IN" dirty="0"/>
              <a:t>Standardized</a:t>
            </a:r>
          </a:p>
        </p:txBody>
      </p:sp>
    </p:spTree>
    <p:extLst>
      <p:ext uri="{BB962C8B-B14F-4D97-AF65-F5344CB8AC3E}">
        <p14:creationId xmlns:p14="http://schemas.microsoft.com/office/powerpoint/2010/main" val="57848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A187C1-204A-C1E7-82D9-F5CF8E109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BD4D1-4278-3BD7-85FC-F8DAA385CEA5}"/>
              </a:ext>
            </a:extLst>
          </p:cNvPr>
          <p:cNvSpPr txBox="1"/>
          <p:nvPr/>
        </p:nvSpPr>
        <p:spPr>
          <a:xfrm>
            <a:off x="1090510" y="5059832"/>
            <a:ext cx="10620584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80" dirty="0"/>
              <a:t>File: E:\VS Debugging\</a:t>
            </a:r>
            <a:r>
              <a:rPr lang="en-IN" sz="1680" dirty="0" err="1"/>
              <a:t>vscode</a:t>
            </a:r>
            <a:r>
              <a:rPr lang="en-IN" sz="1680" dirty="0"/>
              <a:t>\main.cpp, Line: 21, Function: int __</a:t>
            </a:r>
            <a:r>
              <a:rPr lang="en-IN" sz="1680" dirty="0" err="1"/>
              <a:t>cdecl</a:t>
            </a:r>
            <a:r>
              <a:rPr lang="en-IN" sz="1680" dirty="0"/>
              <a:t> main(void)</a:t>
            </a:r>
          </a:p>
          <a:p>
            <a:r>
              <a:rPr lang="en-IN" sz="1680" dirty="0"/>
              <a:t>File: E:\VS Debugging\</a:t>
            </a:r>
            <a:r>
              <a:rPr lang="en-IN" sz="1680" dirty="0" err="1"/>
              <a:t>vscode</a:t>
            </a:r>
            <a:r>
              <a:rPr lang="en-IN" sz="1680" dirty="0"/>
              <a:t>\main.cpp, Line: 15, Function: void __</a:t>
            </a:r>
            <a:r>
              <a:rPr lang="en-IN" sz="1680" dirty="0" err="1"/>
              <a:t>thiscall</a:t>
            </a:r>
            <a:r>
              <a:rPr lang="en-IN" sz="1680" dirty="0"/>
              <a:t> Array&lt;int&gt;::resize(unsigned int)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387CB3E9-7B56-7AF7-D008-9710C573BD91}"/>
              </a:ext>
            </a:extLst>
          </p:cNvPr>
          <p:cNvSpPr/>
          <p:nvPr/>
        </p:nvSpPr>
        <p:spPr>
          <a:xfrm>
            <a:off x="5784428" y="4138508"/>
            <a:ext cx="392852" cy="541866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16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7C292-56A3-B15F-C930-8B4FFC63E640}"/>
              </a:ext>
            </a:extLst>
          </p:cNvPr>
          <p:cNvSpPr txBox="1"/>
          <p:nvPr/>
        </p:nvSpPr>
        <p:spPr>
          <a:xfrm>
            <a:off x="1862667" y="1900118"/>
            <a:ext cx="9306560" cy="18651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void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00E6E6"/>
                </a:solidFill>
                <a:latin typeface="Iosevka" panose="02000509030000000004" pitchFamily="49" charset="0"/>
              </a:rPr>
              <a:t>Log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FF7A17"/>
                </a:solidFill>
                <a:latin typeface="Iosevka" panose="02000509030000000004" pitchFamily="49" charset="0"/>
              </a:rPr>
              <a:t>source_location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loc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FF7A17"/>
                </a:solidFill>
                <a:latin typeface="Iosevka" panose="02000509030000000004" pitchFamily="49" charset="0"/>
              </a:rPr>
              <a:t>source_location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>
                <a:solidFill>
                  <a:srgbClr val="DCDCAA"/>
                </a:solidFill>
                <a:latin typeface="Iosevka" panose="02000509030000000004" pitchFamily="49" charset="0"/>
              </a:rPr>
              <a:t>current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EEA4AB"/>
                </a:solidFill>
                <a:latin typeface="Iosevka" panose="02000509030000000004" pitchFamily="49" charset="0"/>
              </a:rPr>
              <a:t>cout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4EC9B0"/>
                </a:solidFill>
                <a:latin typeface="Iosevka" panose="02000509030000000004" pitchFamily="49" charset="0"/>
              </a:rPr>
              <a:t>&lt;&lt;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>
                <a:solidFill>
                  <a:srgbClr val="00E6E6"/>
                </a:solidFill>
                <a:latin typeface="Iosevka" panose="02000509030000000004" pitchFamily="49" charset="0"/>
              </a:rPr>
              <a:t>format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920" i="1" dirty="0">
                <a:solidFill>
                  <a:srgbClr val="FFFF00"/>
                </a:solidFill>
                <a:latin typeface="Iosevka" panose="02000509030000000004" pitchFamily="49" charset="0"/>
              </a:rPr>
              <a:t>File: {}, Line: {}, Function: {}</a:t>
            </a:r>
            <a:r>
              <a:rPr lang="en-IN" sz="1920" dirty="0">
                <a:solidFill>
                  <a:srgbClr val="FFD68F"/>
                </a:solidFill>
                <a:latin typeface="Iosevka" panose="02000509030000000004" pitchFamily="49" charset="0"/>
              </a:rPr>
              <a:t>\n</a:t>
            </a:r>
            <a:r>
              <a:rPr lang="en-IN" sz="192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920" dirty="0" err="1">
                <a:solidFill>
                  <a:srgbClr val="9A9A9A"/>
                </a:solidFill>
                <a:latin typeface="Iosevka" panose="02000509030000000004" pitchFamily="49" charset="0"/>
              </a:rPr>
              <a:t>loc</a:t>
            </a:r>
            <a:r>
              <a:rPr lang="en-IN" sz="192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920" dirty="0" err="1">
                <a:solidFill>
                  <a:srgbClr val="CCFE89"/>
                </a:solidFill>
                <a:latin typeface="Iosevka" panose="02000509030000000004" pitchFamily="49" charset="0"/>
              </a:rPr>
              <a:t>file_name</a:t>
            </a:r>
            <a:r>
              <a:rPr lang="en-IN" sz="192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920" dirty="0" err="1">
                <a:solidFill>
                  <a:srgbClr val="9A9A9A"/>
                </a:solidFill>
                <a:latin typeface="Iosevka" panose="02000509030000000004" pitchFamily="49" charset="0"/>
              </a:rPr>
              <a:t>loc</a:t>
            </a:r>
            <a:r>
              <a:rPr lang="en-IN" sz="192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920" dirty="0" err="1">
                <a:solidFill>
                  <a:srgbClr val="CCFE89"/>
                </a:solidFill>
                <a:latin typeface="Iosevka" panose="02000509030000000004" pitchFamily="49" charset="0"/>
              </a:rPr>
              <a:t>line</a:t>
            </a:r>
            <a:r>
              <a:rPr lang="en-IN" sz="192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920" dirty="0" err="1">
                <a:solidFill>
                  <a:srgbClr val="9A9A9A"/>
                </a:solidFill>
                <a:latin typeface="Iosevka" panose="02000509030000000004" pitchFamily="49" charset="0"/>
              </a:rPr>
              <a:t>loc</a:t>
            </a:r>
            <a:r>
              <a:rPr lang="en-IN" sz="192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920" dirty="0" err="1">
                <a:solidFill>
                  <a:srgbClr val="CCFE89"/>
                </a:solidFill>
                <a:latin typeface="Iosevka" panose="02000509030000000004" pitchFamily="49" charset="0"/>
              </a:rPr>
              <a:t>function_name</a:t>
            </a:r>
            <a:r>
              <a:rPr lang="en-IN" sz="192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92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15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BA5F-896F-48B0-96F8-A8E618F8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Reporting Macros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9919-430D-46F4-91CD-FCD7C7303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Macros provided by debug C/C++ runtime</a:t>
            </a:r>
          </a:p>
          <a:p>
            <a:r>
              <a:rPr lang="en-US" dirty="0"/>
              <a:t>Display debug messages as debugger output in VS</a:t>
            </a:r>
          </a:p>
          <a:p>
            <a:r>
              <a:rPr lang="en-US" dirty="0"/>
              <a:t>The macros end with a number signifying number of arguments they accept</a:t>
            </a:r>
          </a:p>
          <a:p>
            <a:r>
              <a:rPr lang="en-US" dirty="0"/>
              <a:t>Multiple versions (including </a:t>
            </a:r>
            <a:r>
              <a:rPr lang="en-US" i="1" dirty="0" err="1"/>
              <a:t>wchar_t</a:t>
            </a:r>
            <a:r>
              <a:rPr lang="en-US" dirty="0"/>
              <a:t>) of these macros are provided</a:t>
            </a:r>
          </a:p>
          <a:p>
            <a:pPr lvl="1"/>
            <a:r>
              <a:rPr lang="en-US" dirty="0"/>
              <a:t>_</a:t>
            </a:r>
            <a:r>
              <a:rPr lang="en-US" dirty="0" err="1"/>
              <a:t>RPT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</a:t>
            </a:r>
            <a:r>
              <a:rPr lang="en-US" dirty="0"/>
              <a:t> – only shows the message</a:t>
            </a:r>
          </a:p>
          <a:p>
            <a:pPr lvl="1"/>
            <a:r>
              <a:rPr lang="en-US" dirty="0"/>
              <a:t>_</a:t>
            </a:r>
            <a:r>
              <a:rPr lang="en-US" dirty="0" err="1"/>
              <a:t>RPTF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</a:t>
            </a:r>
            <a:r>
              <a:rPr lang="en-US" dirty="0"/>
              <a:t> – shows message along with file &amp; line number</a:t>
            </a:r>
          </a:p>
          <a:p>
            <a:r>
              <a:rPr lang="en-US" dirty="0"/>
              <a:t>Require </a:t>
            </a:r>
            <a:r>
              <a:rPr lang="en-US" i="1" dirty="0"/>
              <a:t>&lt;</a:t>
            </a:r>
            <a:r>
              <a:rPr lang="en-US" i="1" dirty="0" err="1"/>
              <a:t>crtdbg.h</a:t>
            </a:r>
            <a:r>
              <a:rPr lang="en-US" i="1" dirty="0"/>
              <a:t>&gt; </a:t>
            </a:r>
            <a:r>
              <a:rPr lang="en-US" dirty="0"/>
              <a:t>header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80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9D12C2-1F70-4391-B8F9-EA7302BF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Macros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B0C906-7582-EBF8-EB66-71ADF1790C9A}"/>
              </a:ext>
            </a:extLst>
          </p:cNvPr>
          <p:cNvSpPr txBox="1"/>
          <p:nvPr/>
        </p:nvSpPr>
        <p:spPr>
          <a:xfrm>
            <a:off x="838200" y="1839648"/>
            <a:ext cx="10515600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    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E9178"/>
                </a:solidFill>
                <a:latin typeface="Iosevka" panose="02000509030000000004" pitchFamily="49" charset="0"/>
              </a:rPr>
              <a:t>%s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_RPTN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...)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__VA_ARGS__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b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</a:b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_RPTW0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    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_RPT_BASE_W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FCB6B"/>
                </a:solidFill>
                <a:latin typeface="Iosevka" panose="02000509030000000004" pitchFamily="49" charset="0"/>
              </a:rPr>
              <a:t>L</a:t>
            </a:r>
            <a:r>
              <a:rPr lang="en-IN" sz="1680" dirty="0" err="1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 err="1">
                <a:solidFill>
                  <a:srgbClr val="CE9178"/>
                </a:solidFill>
                <a:latin typeface="Iosevka" panose="02000509030000000004" pitchFamily="49" charset="0"/>
              </a:rPr>
              <a:t>%ls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_RPTWN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...)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_RPT_BASE_W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__VA_ARGS__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br>
              <a:rPr lang="en-IN" sz="1680" dirty="0">
                <a:solidFill>
                  <a:srgbClr val="D4D4D4"/>
                </a:solidFill>
                <a:latin typeface="Iosevka" panose="02000509030000000004" pitchFamily="49" charset="0"/>
              </a:rPr>
            </a:b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_RPTF0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    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__FILE__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__LINE__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CE9178"/>
                </a:solidFill>
                <a:latin typeface="Iosevka" panose="02000509030000000004" pitchFamily="49" charset="0"/>
              </a:rPr>
              <a:t>%s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",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_RPTFN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F78C6C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...)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_RPT_BASE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rptno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__FILE__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__LINE__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NULL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 err="1">
                <a:solidFill>
                  <a:srgbClr val="57C3D1"/>
                </a:solidFill>
                <a:latin typeface="Iosevka" panose="02000509030000000004" pitchFamily="49" charset="0"/>
              </a:rPr>
              <a:t>msg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__VA_ARGS__</a:t>
            </a: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)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6AB7-36BD-83A4-183B-1B525A97152F}"/>
              </a:ext>
            </a:extLst>
          </p:cNvPr>
          <p:cNvSpPr txBox="1"/>
          <p:nvPr/>
        </p:nvSpPr>
        <p:spPr>
          <a:xfrm>
            <a:off x="838200" y="4862247"/>
            <a:ext cx="6096000" cy="112646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_RPT1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-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5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57C3D1"/>
                </a:solidFill>
                <a:latin typeface="Iosevka" panose="02000509030000000004" pitchFamily="49" charset="0"/>
              </a:rPr>
              <a:t>_RPTN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_RPTW1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-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5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57C3D1"/>
                </a:solidFill>
                <a:latin typeface="Iosevka" panose="02000509030000000004" pitchFamily="49" charset="0"/>
              </a:rPr>
              <a:t>_RPTWN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_RPTF1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-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5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57C3D1"/>
                </a:solidFill>
                <a:latin typeface="Iosevka" panose="02000509030000000004" pitchFamily="49" charset="0"/>
              </a:rPr>
              <a:t>_RPTFN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  <a:p>
            <a:pPr>
              <a:buNone/>
            </a:pPr>
            <a:r>
              <a:rPr lang="en-IN" sz="1680" dirty="0">
                <a:solidFill>
                  <a:srgbClr val="89DDFF"/>
                </a:solidFill>
                <a:latin typeface="Iosevka" panose="02000509030000000004" pitchFamily="49" charset="0"/>
              </a:rPr>
              <a:t>#define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82AAFF"/>
                </a:solidFill>
                <a:latin typeface="Iosevka" panose="02000509030000000004" pitchFamily="49" charset="0"/>
              </a:rPr>
              <a:t>_RPTFW1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07178"/>
                </a:solidFill>
                <a:latin typeface="Iosevka" panose="02000509030000000004" pitchFamily="49" charset="0"/>
              </a:rPr>
              <a:t>-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 </a:t>
            </a:r>
            <a:r>
              <a:rPr lang="en-IN" sz="1680" dirty="0">
                <a:solidFill>
                  <a:srgbClr val="F78C6C"/>
                </a:solidFill>
                <a:latin typeface="Iosevka" panose="02000509030000000004" pitchFamily="49" charset="0"/>
              </a:rPr>
              <a:t>5</a:t>
            </a:r>
            <a:r>
              <a:rPr lang="en-IN" sz="1680" dirty="0">
                <a:solidFill>
                  <a:srgbClr val="FFCB6B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57C3D1"/>
                </a:solidFill>
                <a:latin typeface="Iosevka" panose="02000509030000000004" pitchFamily="49" charset="0"/>
              </a:rPr>
              <a:t>_RPTFWN</a:t>
            </a:r>
            <a:endParaRPr lang="en-IN" sz="1680" dirty="0">
              <a:solidFill>
                <a:srgbClr val="D4D4D4"/>
              </a:solidFill>
              <a:latin typeface="Iosevka" panose="0200050903000000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26CF9-8E4E-A53F-E3B8-292BD7D995D4}"/>
              </a:ext>
            </a:extLst>
          </p:cNvPr>
          <p:cNvSpPr txBox="1"/>
          <p:nvPr/>
        </p:nvSpPr>
        <p:spPr>
          <a:xfrm>
            <a:off x="1679279" y="6171685"/>
            <a:ext cx="8516755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80" i="1" dirty="0"/>
              <a:t>Note : Only useful in Visual Studio where the debugger output is displayed in the output window</a:t>
            </a:r>
            <a:endParaRPr lang="en-IN" sz="1680" i="1" dirty="0"/>
          </a:p>
        </p:txBody>
      </p:sp>
    </p:spTree>
    <p:extLst>
      <p:ext uri="{BB962C8B-B14F-4D97-AF65-F5344CB8AC3E}">
        <p14:creationId xmlns:p14="http://schemas.microsoft.com/office/powerpoint/2010/main" val="407390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A906-D738-B977-C459-0A63A1B3E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69EC5-A48D-E5E7-75DE-7A5A628E3182}"/>
              </a:ext>
            </a:extLst>
          </p:cNvPr>
          <p:cNvSpPr txBox="1"/>
          <p:nvPr/>
        </p:nvSpPr>
        <p:spPr>
          <a:xfrm>
            <a:off x="2289386" y="5865011"/>
            <a:ext cx="7919720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80" dirty="0">
                <a:latin typeface="Cascadia Mono" panose="020B0609020000020004" pitchFamily="49" charset="0"/>
              </a:rPr>
              <a:t>Starting program</a:t>
            </a:r>
          </a:p>
          <a:p>
            <a:r>
              <a:rPr lang="en-IN" sz="1680" dirty="0">
                <a:latin typeface="Cascadia Mono" panose="020B0609020000020004" pitchFamily="49" charset="0"/>
              </a:rPr>
              <a:t>E:\vstudio\codeprep\Examples\main.cpp(7) : Resizing array</a:t>
            </a:r>
            <a:endParaRPr lang="en-IN" sz="168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932D9-3088-93FF-AFB7-9735C8CD38A9}"/>
              </a:ext>
            </a:extLst>
          </p:cNvPr>
          <p:cNvSpPr txBox="1"/>
          <p:nvPr/>
        </p:nvSpPr>
        <p:spPr>
          <a:xfrm>
            <a:off x="3562774" y="1690689"/>
            <a:ext cx="4511040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80" dirty="0">
                <a:solidFill>
                  <a:srgbClr val="9B9B9B"/>
                </a:solidFill>
                <a:latin typeface="Iosevka" panose="02000509030000000004" pitchFamily="49" charset="0"/>
              </a:rPr>
              <a:t>#include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&lt;</a:t>
            </a:r>
            <a:r>
              <a:rPr lang="en-IN" sz="1680" i="1" dirty="0" err="1">
                <a:solidFill>
                  <a:srgbClr val="FFFF00"/>
                </a:solidFill>
                <a:latin typeface="Iosevka" panose="02000509030000000004" pitchFamily="49" charset="0"/>
              </a:rPr>
              <a:t>crtdbg.h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&gt;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80B0E0"/>
                </a:solidFill>
                <a:latin typeface="Iosevka" panose="02000509030000000004" pitchFamily="49" charset="0"/>
              </a:rPr>
              <a:t>template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&lt;</a:t>
            </a:r>
            <a:r>
              <a:rPr lang="en-IN" sz="1680" dirty="0" err="1">
                <a:solidFill>
                  <a:srgbClr val="80B0E0"/>
                </a:solidFill>
                <a:latin typeface="Iosevka" panose="02000509030000000004" pitchFamily="49" charset="0"/>
              </a:rPr>
              <a:t>typename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0EE90"/>
                </a:solidFill>
                <a:latin typeface="Iosevka" panose="02000509030000000004" pitchFamily="49" charset="0"/>
              </a:rPr>
              <a:t>T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80B0E0"/>
                </a:solidFill>
                <a:latin typeface="Iosevka" panose="02000509030000000004" pitchFamily="49" charset="0"/>
              </a:rPr>
              <a:t>class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FF7A17"/>
                </a:solidFill>
                <a:latin typeface="Iosevka" panose="02000509030000000004" pitchFamily="49" charset="0"/>
              </a:rPr>
              <a:t>Array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50B050"/>
                </a:solidFill>
                <a:latin typeface="Iosevka" panose="02000509030000000004" pitchFamily="49" charset="0"/>
              </a:rPr>
              <a:t>public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: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void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resize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4EC9B0"/>
                </a:solidFill>
                <a:latin typeface="Iosevka" panose="02000509030000000004" pitchFamily="49" charset="0"/>
              </a:rPr>
              <a:t>size_t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 err="1">
                <a:solidFill>
                  <a:srgbClr val="9A9A9A"/>
                </a:solidFill>
                <a:latin typeface="Iosevka" panose="02000509030000000004" pitchFamily="49" charset="0"/>
              </a:rPr>
              <a:t>new_size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_RPTF0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Resizing array</a:t>
            </a:r>
            <a:r>
              <a:rPr lang="en-IN" sz="1680" dirty="0">
                <a:solidFill>
                  <a:srgbClr val="FFD68F"/>
                </a:solidFill>
                <a:latin typeface="Iosevka" panose="02000509030000000004" pitchFamily="49" charset="0"/>
              </a:rPr>
              <a:t>\n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00E6E6"/>
                </a:solidFill>
                <a:latin typeface="Iosevka" panose="02000509030000000004" pitchFamily="49" charset="0"/>
              </a:rPr>
              <a:t>main</a:t>
            </a: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()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_RPT0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Starting program</a:t>
            </a:r>
            <a:r>
              <a:rPr lang="en-IN" sz="1680" dirty="0">
                <a:solidFill>
                  <a:srgbClr val="FFD68F"/>
                </a:solidFill>
                <a:latin typeface="Iosevka" panose="02000509030000000004" pitchFamily="49" charset="0"/>
              </a:rPr>
              <a:t>\n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680" dirty="0">
                <a:solidFill>
                  <a:srgbClr val="FF7A17"/>
                </a:solidFill>
                <a:latin typeface="Iosevka" panose="02000509030000000004" pitchFamily="49" charset="0"/>
              </a:rPr>
              <a:t>Array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&lt;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CDCFE"/>
                </a:solidFill>
                <a:latin typeface="Iosevka" panose="02000509030000000004" pitchFamily="49" charset="0"/>
              </a:rPr>
              <a:t>s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680" dirty="0" err="1">
                <a:solidFill>
                  <a:srgbClr val="9CDCFE"/>
                </a:solidFill>
                <a:latin typeface="Iosevka" panose="02000509030000000004" pitchFamily="49" charset="0"/>
              </a:rPr>
              <a:t>s</a:t>
            </a:r>
            <a:r>
              <a:rPr lang="en-IN" sz="168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680" dirty="0" err="1">
                <a:solidFill>
                  <a:srgbClr val="CCFE89"/>
                </a:solidFill>
                <a:latin typeface="Iosevka" panose="02000509030000000004" pitchFamily="49" charset="0"/>
              </a:rPr>
              <a:t>resize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10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68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14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D2BC-C228-0DE0-FF2E-1BA24A2E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Specifiers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575FE7-F88B-3C1B-8C98-370FF4212908}"/>
              </a:ext>
            </a:extLst>
          </p:cNvPr>
          <p:cNvGraphicFramePr>
            <a:graphicFrameLocks noGrp="1"/>
          </p:cNvGraphicFramePr>
          <p:nvPr/>
        </p:nvGraphicFramePr>
        <p:xfrm>
          <a:off x="2003731" y="1502791"/>
          <a:ext cx="8449002" cy="5036128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816334">
                  <a:extLst>
                    <a:ext uri="{9D8B030D-6E8A-4147-A177-3AD203B41FA5}">
                      <a16:colId xmlns:a16="http://schemas.microsoft.com/office/drawing/2014/main" val="4088536923"/>
                    </a:ext>
                  </a:extLst>
                </a:gridCol>
                <a:gridCol w="2816334">
                  <a:extLst>
                    <a:ext uri="{9D8B030D-6E8A-4147-A177-3AD203B41FA5}">
                      <a16:colId xmlns:a16="http://schemas.microsoft.com/office/drawing/2014/main" val="1288599237"/>
                    </a:ext>
                  </a:extLst>
                </a:gridCol>
                <a:gridCol w="2816334">
                  <a:extLst>
                    <a:ext uri="{9D8B030D-6E8A-4147-A177-3AD203B41FA5}">
                      <a16:colId xmlns:a16="http://schemas.microsoft.com/office/drawing/2014/main" val="3207508457"/>
                    </a:ext>
                  </a:extLst>
                </a:gridCol>
              </a:tblGrid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C++ Type</a:t>
                      </a:r>
                      <a:endParaRPr lang="en-IN" sz="1400"/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_RPTn / MSVC Debug Macros</a:t>
                      </a:r>
                      <a:endParaRPr lang="en-IN" sz="1400"/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printf / std::printf</a:t>
                      </a:r>
                      <a:endParaRPr lang="en-IN" sz="1400"/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042675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495828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unsigned int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%u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353370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long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804820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unsigned long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282588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long long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%I64d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%lld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422407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unsigned long long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%I64u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%llu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226096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float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%f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%f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296782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double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%f or %lf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%f or %lf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655457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char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%c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%c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126883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char* (C-string)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%s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%s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038925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wchar_t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%C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%lc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468803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wchar_t*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%S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%ls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446071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void* (pointer)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%p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%p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285240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size_t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%Iu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%zu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939937"/>
                  </a:ext>
                </a:extLst>
              </a:tr>
              <a:tr h="31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ptrdiff_t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%Id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%td</a:t>
                      </a:r>
                    </a:p>
                  </a:txBody>
                  <a:tcPr marL="77731" marR="77731" marT="38866" marB="38866"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1502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11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ANSI C Assertion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ANSI C defines a macro called </a:t>
            </a:r>
            <a:r>
              <a:rPr lang="en-US" i="1" dirty="0">
                <a:cs typeface="Times New Roman" pitchFamily="18" charset="0"/>
              </a:rPr>
              <a:t>assert(exp)</a:t>
            </a:r>
            <a:r>
              <a:rPr lang="en-US" dirty="0"/>
              <a:t> defined in &lt;</a:t>
            </a:r>
            <a:r>
              <a:rPr lang="en-US" i="1" dirty="0" err="1">
                <a:cs typeface="Times New Roman" pitchFamily="18" charset="0"/>
              </a:rPr>
              <a:t>assert.h</a:t>
            </a:r>
            <a:r>
              <a:rPr lang="en-US" i="1" dirty="0">
                <a:cs typeface="Times New Roman" pitchFamily="18" charset="0"/>
              </a:rPr>
              <a:t>&gt;</a:t>
            </a:r>
            <a:r>
              <a:rPr lang="en-US" dirty="0"/>
              <a:t> </a:t>
            </a:r>
          </a:p>
          <a:p>
            <a:r>
              <a:rPr lang="en-US" sz="3720" dirty="0"/>
              <a:t>On failure, </a:t>
            </a:r>
            <a:r>
              <a:rPr lang="en-US" i="1" dirty="0">
                <a:cs typeface="Times New Roman" pitchFamily="18" charset="0"/>
              </a:rPr>
              <a:t>assert</a:t>
            </a:r>
            <a:r>
              <a:rPr lang="en-US" dirty="0"/>
              <a:t> terminates the program </a:t>
            </a:r>
          </a:p>
          <a:p>
            <a:pPr lvl="1"/>
            <a:r>
              <a:rPr lang="en-US" dirty="0"/>
              <a:t>sends its output to </a:t>
            </a:r>
            <a:r>
              <a:rPr lang="en-US" i="1" dirty="0">
                <a:cs typeface="Times New Roman" pitchFamily="18" charset="0"/>
              </a:rPr>
              <a:t>stderr</a:t>
            </a:r>
            <a:r>
              <a:rPr lang="en-US" dirty="0"/>
              <a:t>, if the application is a console application</a:t>
            </a:r>
          </a:p>
          <a:p>
            <a:pPr lvl="1"/>
            <a:r>
              <a:rPr lang="en-US" dirty="0"/>
              <a:t>it shows the assertion failure in a dialog box along with the expression for GUI applications</a:t>
            </a:r>
          </a:p>
          <a:p>
            <a:r>
              <a:rPr lang="en-US" dirty="0"/>
              <a:t>Assertion checking can be turned off by defining </a:t>
            </a:r>
            <a:r>
              <a:rPr lang="en-US" i="1" dirty="0">
                <a:cs typeface="Times New Roman" pitchFamily="18" charset="0"/>
              </a:rPr>
              <a:t>NDEBUG</a:t>
            </a:r>
            <a:r>
              <a:rPr lang="en-US" dirty="0"/>
              <a:t> macro before including </a:t>
            </a:r>
            <a:r>
              <a:rPr lang="en-US" i="1" dirty="0">
                <a:cs typeface="Times New Roman" pitchFamily="18" charset="0"/>
              </a:rPr>
              <a:t>&lt;</a:t>
            </a:r>
            <a:r>
              <a:rPr lang="en-US" i="1" dirty="0" err="1">
                <a:cs typeface="Times New Roman" pitchFamily="18" charset="0"/>
              </a:rPr>
              <a:t>assert.h</a:t>
            </a:r>
            <a:r>
              <a:rPr lang="en-US" i="1" dirty="0">
                <a:cs typeface="Times New Roman" pitchFamily="18" charset="0"/>
              </a:rPr>
              <a:t>&gt;</a:t>
            </a:r>
          </a:p>
          <a:p>
            <a:r>
              <a:rPr lang="en-US" dirty="0"/>
              <a:t>Helps surface programmer mistakes at the exact location, not later as a vague crash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5F24-E11E-AD8D-C605-76B8CC53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C7DCE-4204-AF5C-17DE-6D727E4C2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Preconditions – guard expectations about inputs from trusted callers</a:t>
            </a:r>
          </a:p>
          <a:p>
            <a:r>
              <a:rPr lang="en-IN" dirty="0"/>
              <a:t>Postconditions – verify results after a function executes</a:t>
            </a:r>
          </a:p>
          <a:p>
            <a:r>
              <a:rPr lang="en-IN" dirty="0"/>
              <a:t>Invariants – enforce rules that should always hold across operations</a:t>
            </a:r>
          </a:p>
        </p:txBody>
      </p:sp>
    </p:spTree>
    <p:extLst>
      <p:ext uri="{BB962C8B-B14F-4D97-AF65-F5344CB8AC3E}">
        <p14:creationId xmlns:p14="http://schemas.microsoft.com/office/powerpoint/2010/main" val="279746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Visual C++ Asserts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C++ supports following types of assertions:</a:t>
            </a:r>
          </a:p>
          <a:p>
            <a:pPr lvl="1"/>
            <a:r>
              <a:rPr lang="en-US" dirty="0"/>
              <a:t>ANSI </a:t>
            </a:r>
            <a:r>
              <a:rPr lang="en-US" sz="3600" i="1" dirty="0">
                <a:cs typeface="Times New Roman" pitchFamily="18" charset="0"/>
              </a:rPr>
              <a:t>assert() </a:t>
            </a:r>
            <a:r>
              <a:rPr lang="en-US" dirty="0"/>
              <a:t>macro</a:t>
            </a:r>
          </a:p>
          <a:p>
            <a:pPr lvl="1"/>
            <a:r>
              <a:rPr lang="en-US" dirty="0"/>
              <a:t>CRT assertions </a:t>
            </a:r>
          </a:p>
          <a:p>
            <a:pPr lvl="1"/>
            <a:r>
              <a:rPr lang="en-US" dirty="0"/>
              <a:t>MFC Assertions</a:t>
            </a:r>
          </a:p>
          <a:p>
            <a:pPr lvl="1"/>
            <a:r>
              <a:rPr lang="en-US" dirty="0"/>
              <a:t>ATL Assertions through </a:t>
            </a:r>
            <a:r>
              <a:rPr lang="en-US" sz="3600" i="1" dirty="0">
                <a:cs typeface="Times New Roman" pitchFamily="18" charset="0"/>
              </a:rPr>
              <a:t>ATLASSERT</a:t>
            </a:r>
          </a:p>
          <a:p>
            <a:r>
              <a:rPr lang="en-IN" dirty="0"/>
              <a:t>C++11 added a compile-time assertion through </a:t>
            </a:r>
            <a:r>
              <a:rPr lang="en-IN" i="1" dirty="0" err="1"/>
              <a:t>static_assert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10742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29C53-7478-4179-A85B-D70528C2DA34}"/>
              </a:ext>
            </a:extLst>
          </p:cNvPr>
          <p:cNvSpPr txBox="1"/>
          <p:nvPr/>
        </p:nvSpPr>
        <p:spPr>
          <a:xfrm>
            <a:off x="3523389" y="3179023"/>
            <a:ext cx="5557619" cy="13849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440" dirty="0" err="1">
                <a:solidFill>
                  <a:srgbClr val="D5A2DF"/>
                </a:solidFill>
                <a:latin typeface="JetBrains Mono" pitchFamily="2" charset="0"/>
              </a:rPr>
              <a:t>const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D5A2DF"/>
                </a:solidFill>
                <a:latin typeface="JetBrains Mono" pitchFamily="2" charset="0"/>
              </a:rPr>
              <a:t>char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&amp;</a:t>
            </a:r>
            <a:r>
              <a:rPr lang="en-IN" sz="1440" dirty="0" err="1">
                <a:solidFill>
                  <a:srgbClr val="DC5503"/>
                </a:solidFill>
                <a:latin typeface="JetBrains Mono" pitchFamily="2" charset="0"/>
              </a:rPr>
              <a:t>NString</a:t>
            </a:r>
            <a:r>
              <a:rPr lang="en-IN" sz="1440" dirty="0">
                <a:solidFill>
                  <a:srgbClr val="82B7E1"/>
                </a:solidFill>
                <a:latin typeface="JetBrains Mono" pitchFamily="2" charset="0"/>
              </a:rPr>
              <a:t>::</a:t>
            </a:r>
            <a:r>
              <a:rPr lang="en-IN" sz="1440" dirty="0">
                <a:solidFill>
                  <a:srgbClr val="008B8B"/>
                </a:solidFill>
                <a:latin typeface="JetBrains Mono" pitchFamily="2" charset="0"/>
              </a:rPr>
              <a:t>operator</a:t>
            </a:r>
            <a:r>
              <a:rPr lang="en-IN" sz="1440" dirty="0">
                <a:solidFill>
                  <a:srgbClr val="008B8B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008B8B"/>
                </a:solidFill>
                <a:latin typeface="JetBrains Mono" pitchFamily="2" charset="0"/>
              </a:rPr>
              <a:t>[]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 dirty="0">
                <a:solidFill>
                  <a:srgbClr val="D5A2DF"/>
                </a:solidFill>
                <a:latin typeface="JetBrains Mono" pitchFamily="2" charset="0"/>
              </a:rPr>
              <a:t>int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C8C8C8"/>
                </a:solidFill>
                <a:latin typeface="JetBrains Mono" pitchFamily="2" charset="0"/>
              </a:rPr>
              <a:t>index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 err="1">
                <a:solidFill>
                  <a:srgbClr val="D5A2DF"/>
                </a:solidFill>
                <a:latin typeface="JetBrains Mono" pitchFamily="2" charset="0"/>
              </a:rPr>
              <a:t>const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{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US" sz="144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US" sz="1440" i="1" dirty="0">
                <a:solidFill>
                  <a:srgbClr val="7E7E7E"/>
                </a:solidFill>
                <a:latin typeface="JetBrains Mono" pitchFamily="2" charset="0"/>
              </a:rPr>
              <a:t>//check</a:t>
            </a:r>
            <a:r>
              <a:rPr lang="en-US" sz="1440" i="1" dirty="0">
                <a:solidFill>
                  <a:srgbClr val="7E7E7E"/>
                </a:solidFill>
                <a:latin typeface="Cambria" panose="02040503050406030204" pitchFamily="18" charset="0"/>
              </a:rPr>
              <a:t> </a:t>
            </a:r>
            <a:r>
              <a:rPr lang="en-US" sz="1440" i="1" dirty="0">
                <a:solidFill>
                  <a:srgbClr val="7E7E7E"/>
                </a:solidFill>
                <a:latin typeface="JetBrains Mono" pitchFamily="2" charset="0"/>
              </a:rPr>
              <a:t>if</a:t>
            </a:r>
            <a:r>
              <a:rPr lang="en-US" sz="1440" i="1" dirty="0">
                <a:solidFill>
                  <a:srgbClr val="7E7E7E"/>
                </a:solidFill>
                <a:latin typeface="Cambria" panose="02040503050406030204" pitchFamily="18" charset="0"/>
              </a:rPr>
              <a:t> </a:t>
            </a:r>
            <a:r>
              <a:rPr lang="en-US" sz="1440" i="1" dirty="0">
                <a:solidFill>
                  <a:srgbClr val="7E7E7E"/>
                </a:solidFill>
                <a:latin typeface="JetBrains Mono" pitchFamily="2" charset="0"/>
              </a:rPr>
              <a:t>index</a:t>
            </a:r>
            <a:r>
              <a:rPr lang="en-US" sz="1440" i="1" dirty="0">
                <a:solidFill>
                  <a:srgbClr val="7E7E7E"/>
                </a:solidFill>
                <a:latin typeface="Cambria" panose="02040503050406030204" pitchFamily="18" charset="0"/>
              </a:rPr>
              <a:t> </a:t>
            </a:r>
            <a:r>
              <a:rPr lang="en-US" sz="1440" i="1" dirty="0">
                <a:solidFill>
                  <a:srgbClr val="7E7E7E"/>
                </a:solidFill>
                <a:latin typeface="JetBrains Mono" pitchFamily="2" charset="0"/>
              </a:rPr>
              <a:t>is</a:t>
            </a:r>
            <a:r>
              <a:rPr lang="en-US" sz="1440" i="1" dirty="0">
                <a:solidFill>
                  <a:srgbClr val="7E7E7E"/>
                </a:solidFill>
                <a:latin typeface="Cambria" panose="02040503050406030204" pitchFamily="18" charset="0"/>
              </a:rPr>
              <a:t> </a:t>
            </a:r>
            <a:r>
              <a:rPr lang="en-US" sz="1440" i="1" dirty="0">
                <a:solidFill>
                  <a:srgbClr val="7E7E7E"/>
                </a:solidFill>
                <a:latin typeface="JetBrains Mono" pitchFamily="2" charset="0"/>
              </a:rPr>
              <a:t>valid</a:t>
            </a:r>
            <a:endParaRPr lang="en-US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 dirty="0">
                <a:solidFill>
                  <a:srgbClr val="FF48A4"/>
                </a:solidFill>
                <a:latin typeface="JetBrains Mono" pitchFamily="2" charset="0"/>
              </a:rPr>
              <a:t>assert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 dirty="0">
                <a:solidFill>
                  <a:srgbClr val="C8C8C8"/>
                </a:solidFill>
                <a:latin typeface="JetBrains Mono" pitchFamily="2" charset="0"/>
              </a:rPr>
              <a:t>index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&lt;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 err="1">
                <a:solidFill>
                  <a:srgbClr val="61DC67"/>
                </a:solidFill>
                <a:latin typeface="JetBrains Mono" pitchFamily="2" charset="0"/>
              </a:rPr>
              <a:t>m_Length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 dirty="0">
                <a:solidFill>
                  <a:srgbClr val="6B6BE9"/>
                </a:solidFill>
                <a:latin typeface="JetBrains Mono" pitchFamily="2" charset="0"/>
              </a:rPr>
              <a:t>return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 err="1">
                <a:solidFill>
                  <a:srgbClr val="61DC67"/>
                </a:solidFill>
                <a:latin typeface="JetBrains Mono" pitchFamily="2" charset="0"/>
              </a:rPr>
              <a:t>m_pBuffer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[</a:t>
            </a:r>
            <a:r>
              <a:rPr lang="en-IN" sz="1440" dirty="0">
                <a:solidFill>
                  <a:srgbClr val="C8C8C8"/>
                </a:solidFill>
                <a:latin typeface="JetBrains Mono" pitchFamily="2" charset="0"/>
              </a:rPr>
              <a:t>index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]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}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endParaRPr lang="en-IN" sz="120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03A9E-31B8-483D-A4BC-4A99ABB30A6A}"/>
              </a:ext>
            </a:extLst>
          </p:cNvPr>
          <p:cNvSpPr txBox="1"/>
          <p:nvPr/>
        </p:nvSpPr>
        <p:spPr>
          <a:xfrm>
            <a:off x="711201" y="1674065"/>
            <a:ext cx="5557619" cy="11633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40" dirty="0">
                <a:solidFill>
                  <a:srgbClr val="D5A2DF"/>
                </a:solidFill>
                <a:latin typeface="JetBrains Mono" pitchFamily="2" charset="0"/>
              </a:rPr>
              <a:t>void</a:t>
            </a:r>
            <a:r>
              <a:rPr lang="en-US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 dirty="0">
                <a:solidFill>
                  <a:srgbClr val="7B6FC4"/>
                </a:solidFill>
                <a:latin typeface="JetBrains Mono" pitchFamily="2" charset="0"/>
              </a:rPr>
              <a:t>Copy</a:t>
            </a:r>
            <a:r>
              <a:rPr lang="en-US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US" sz="1440" dirty="0">
                <a:solidFill>
                  <a:srgbClr val="D5A2DF"/>
                </a:solidFill>
                <a:latin typeface="JetBrains Mono" pitchFamily="2" charset="0"/>
              </a:rPr>
              <a:t>const</a:t>
            </a:r>
            <a:r>
              <a:rPr lang="en-US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 dirty="0">
                <a:solidFill>
                  <a:srgbClr val="D5A2DF"/>
                </a:solidFill>
                <a:latin typeface="JetBrains Mono" pitchFamily="2" charset="0"/>
              </a:rPr>
              <a:t>char</a:t>
            </a:r>
            <a:r>
              <a:rPr lang="en-US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 dirty="0">
                <a:solidFill>
                  <a:srgbClr val="FFFFFF"/>
                </a:solidFill>
                <a:latin typeface="JetBrains Mono" pitchFamily="2" charset="0"/>
              </a:rPr>
              <a:t>*</a:t>
            </a:r>
            <a:r>
              <a:rPr lang="en-US" sz="1440" dirty="0" err="1">
                <a:solidFill>
                  <a:srgbClr val="C8C8C8"/>
                </a:solidFill>
                <a:latin typeface="JetBrains Mono" pitchFamily="2" charset="0"/>
              </a:rPr>
              <a:t>pStr</a:t>
            </a:r>
            <a:r>
              <a:rPr lang="en-US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US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 dirty="0">
                <a:solidFill>
                  <a:srgbClr val="FFFFFF"/>
                </a:solidFill>
                <a:latin typeface="JetBrains Mono" pitchFamily="2" charset="0"/>
              </a:rPr>
              <a:t>{</a:t>
            </a:r>
            <a:endParaRPr lang="en-US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 dirty="0">
                <a:solidFill>
                  <a:srgbClr val="FF48A4"/>
                </a:solidFill>
                <a:latin typeface="JetBrains Mono" pitchFamily="2" charset="0"/>
              </a:rPr>
              <a:t>assert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 dirty="0" err="1">
                <a:solidFill>
                  <a:srgbClr val="C8C8C8"/>
                </a:solidFill>
                <a:latin typeface="JetBrains Mono" pitchFamily="2" charset="0"/>
              </a:rPr>
              <a:t>pStr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!=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 err="1">
                <a:solidFill>
                  <a:srgbClr val="D5A2DF"/>
                </a:solidFill>
                <a:latin typeface="JetBrains Mono" pitchFamily="2" charset="0"/>
              </a:rPr>
              <a:t>nullptr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 dirty="0">
                <a:solidFill>
                  <a:srgbClr val="FF48A4"/>
                </a:solidFill>
                <a:latin typeface="JetBrains Mono" pitchFamily="2" charset="0"/>
              </a:rPr>
              <a:t>assert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 dirty="0" err="1">
                <a:solidFill>
                  <a:srgbClr val="7B6FC4"/>
                </a:solidFill>
                <a:latin typeface="JetBrains Mono" pitchFamily="2" charset="0"/>
              </a:rPr>
              <a:t>strlen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 dirty="0" err="1">
                <a:solidFill>
                  <a:srgbClr val="C8C8C8"/>
                </a:solidFill>
                <a:latin typeface="JetBrains Mono" pitchFamily="2" charset="0"/>
              </a:rPr>
              <a:t>pStr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!=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78C6C"/>
                </a:solidFill>
                <a:latin typeface="JetBrains Mono" pitchFamily="2" charset="0"/>
              </a:rPr>
              <a:t>0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 dirty="0">
                <a:solidFill>
                  <a:srgbClr val="FFFFFF"/>
                </a:solidFill>
                <a:latin typeface="JetBrains Mono" pitchFamily="2" charset="0"/>
              </a:rPr>
              <a:t>	</a:t>
            </a:r>
            <a:r>
              <a:rPr lang="en-IN" sz="1440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itchFamily="2" charset="0"/>
              </a:rPr>
              <a:t>//...</a:t>
            </a:r>
          </a:p>
          <a:p>
            <a:endParaRPr lang="en-IN" sz="1200" dirty="0"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026AED-7B40-45F2-B40B-43E69341C947}"/>
              </a:ext>
            </a:extLst>
          </p:cNvPr>
          <p:cNvSpPr txBox="1"/>
          <p:nvPr/>
        </p:nvSpPr>
        <p:spPr>
          <a:xfrm>
            <a:off x="5663952" y="4983015"/>
            <a:ext cx="5443805" cy="9787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40">
                <a:solidFill>
                  <a:srgbClr val="D5A2DF"/>
                </a:solidFill>
                <a:latin typeface="JetBrains Mono" pitchFamily="2" charset="0"/>
              </a:rPr>
              <a:t>void</a:t>
            </a:r>
            <a:r>
              <a:rPr lang="en-US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>
                <a:solidFill>
                  <a:srgbClr val="DC5503"/>
                </a:solidFill>
                <a:latin typeface="JetBrains Mono" pitchFamily="2" charset="0"/>
              </a:rPr>
              <a:t>List</a:t>
            </a:r>
            <a:r>
              <a:rPr lang="en-US" sz="1440">
                <a:solidFill>
                  <a:srgbClr val="82B7E1"/>
                </a:solidFill>
                <a:latin typeface="JetBrains Mono" pitchFamily="2" charset="0"/>
              </a:rPr>
              <a:t>::</a:t>
            </a:r>
            <a:r>
              <a:rPr lang="en-US" sz="1440">
                <a:solidFill>
                  <a:srgbClr val="7B6FC4"/>
                </a:solidFill>
                <a:latin typeface="JetBrains Mono" pitchFamily="2" charset="0"/>
              </a:rPr>
              <a:t>Partition</a:t>
            </a:r>
            <a:r>
              <a:rPr lang="en-US" sz="144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US" sz="1440" err="1">
                <a:solidFill>
                  <a:srgbClr val="2B91AF"/>
                </a:solidFill>
                <a:latin typeface="JetBrains Mono" pitchFamily="2" charset="0"/>
              </a:rPr>
              <a:t>size_t</a:t>
            </a:r>
            <a:r>
              <a:rPr lang="en-US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>
                <a:solidFill>
                  <a:srgbClr val="C8C8C8"/>
                </a:solidFill>
                <a:latin typeface="JetBrains Mono" pitchFamily="2" charset="0"/>
              </a:rPr>
              <a:t>first</a:t>
            </a:r>
            <a:r>
              <a:rPr lang="en-US" sz="1440">
                <a:solidFill>
                  <a:srgbClr val="FFFFFF"/>
                </a:solidFill>
                <a:latin typeface="JetBrains Mono" pitchFamily="2" charset="0"/>
              </a:rPr>
              <a:t>,</a:t>
            </a:r>
            <a:r>
              <a:rPr lang="en-US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 err="1">
                <a:solidFill>
                  <a:srgbClr val="2B91AF"/>
                </a:solidFill>
                <a:latin typeface="JetBrains Mono" pitchFamily="2" charset="0"/>
              </a:rPr>
              <a:t>size_t</a:t>
            </a:r>
            <a:r>
              <a:rPr lang="en-US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>
                <a:solidFill>
                  <a:srgbClr val="C8C8C8"/>
                </a:solidFill>
                <a:latin typeface="JetBrains Mono" pitchFamily="2" charset="0"/>
              </a:rPr>
              <a:t>last</a:t>
            </a:r>
            <a:r>
              <a:rPr lang="en-US" sz="144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US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US" sz="1440">
                <a:solidFill>
                  <a:srgbClr val="FFFFFF"/>
                </a:solidFill>
                <a:latin typeface="JetBrains Mono" pitchFamily="2" charset="0"/>
              </a:rPr>
              <a:t>{</a:t>
            </a:r>
            <a:endParaRPr lang="en-US" sz="144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>
                <a:solidFill>
                  <a:srgbClr val="FF48A4"/>
                </a:solidFill>
                <a:latin typeface="JetBrains Mono" pitchFamily="2" charset="0"/>
              </a:rPr>
              <a:t>assert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>
                <a:solidFill>
                  <a:srgbClr val="C8C8C8"/>
                </a:solidFill>
                <a:latin typeface="JetBrains Mono" pitchFamily="2" charset="0"/>
              </a:rPr>
              <a:t>first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&gt;=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>
                <a:solidFill>
                  <a:srgbClr val="FBB3C8"/>
                </a:solidFill>
                <a:latin typeface="JetBrains Mono" pitchFamily="2" charset="0"/>
              </a:rPr>
              <a:t>MIN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440">
                <a:solidFill>
                  <a:srgbClr val="FF48A4"/>
                </a:solidFill>
                <a:latin typeface="JetBrains Mono" pitchFamily="2" charset="0"/>
              </a:rPr>
              <a:t>assert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440">
                <a:solidFill>
                  <a:srgbClr val="C8C8C8"/>
                </a:solidFill>
                <a:latin typeface="JetBrains Mono" pitchFamily="2" charset="0"/>
              </a:rPr>
              <a:t>last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 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&lt;=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>
                <a:solidFill>
                  <a:srgbClr val="FBB3C8"/>
                </a:solidFill>
                <a:latin typeface="JetBrains Mono" pitchFamily="2" charset="0"/>
              </a:rPr>
              <a:t>MAX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)</a:t>
            </a:r>
            <a:r>
              <a:rPr lang="en-IN" sz="144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440">
                <a:solidFill>
                  <a:srgbClr val="FFFFFF"/>
                </a:solidFill>
                <a:latin typeface="JetBrains Mono" pitchFamily="2" charset="0"/>
              </a:rPr>
              <a:t>;</a:t>
            </a:r>
            <a:endParaRPr lang="en-IN" sz="144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440">
                <a:solidFill>
                  <a:schemeClr val="tx1">
                    <a:lumMod val="50000"/>
                    <a:lumOff val="50000"/>
                  </a:schemeClr>
                </a:solidFill>
                <a:latin typeface="JetBrains Mono" pitchFamily="2" charset="0"/>
              </a:rPr>
              <a:t>	//...</a:t>
            </a:r>
            <a:endParaRPr lang="en-IN" sz="144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D1CA3-2A8E-46EF-0528-7E45CBDBE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Conditions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8BD6C-1A5F-E262-F2F7-712065A3D833}"/>
              </a:ext>
            </a:extLst>
          </p:cNvPr>
          <p:cNvSpPr txBox="1"/>
          <p:nvPr/>
        </p:nvSpPr>
        <p:spPr>
          <a:xfrm>
            <a:off x="180729" y="1397371"/>
            <a:ext cx="7392463" cy="25299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4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00E6E6"/>
                </a:solidFill>
                <a:latin typeface="Iosevka" panose="02000509030000000004" pitchFamily="49" charset="0"/>
              </a:rPr>
              <a:t>pop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440" dirty="0">
                <a:solidFill>
                  <a:srgbClr val="FF7A17"/>
                </a:solidFill>
                <a:latin typeface="Iosevka" panose="02000509030000000004" pitchFamily="49" charset="0"/>
              </a:rPr>
              <a:t>stack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&lt;</a:t>
            </a:r>
            <a:r>
              <a:rPr lang="en-IN" sz="144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&gt;&amp;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6272A4"/>
                </a:solidFill>
                <a:latin typeface="Iosevka" panose="02000509030000000004" pitchFamily="49" charset="0"/>
              </a:rPr>
              <a:t>//Precondition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!</a:t>
            </a:r>
            <a:r>
              <a:rPr lang="en-IN" sz="1440" dirty="0" err="1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 err="1">
                <a:solidFill>
                  <a:srgbClr val="CCFE89"/>
                </a:solidFill>
                <a:latin typeface="Iosevka" panose="02000509030000000004" pitchFamily="49" charset="0"/>
              </a:rPr>
              <a:t>empty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i="1" dirty="0">
                <a:solidFill>
                  <a:srgbClr val="FFFF00"/>
                </a:solidFill>
                <a:latin typeface="Iosevka" panose="02000509030000000004" pitchFamily="49" charset="0"/>
              </a:rPr>
              <a:t>pre: stack should not be empty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80B0E0"/>
                </a:solidFill>
                <a:latin typeface="Iosevka" panose="02000509030000000004" pitchFamily="49" charset="0"/>
              </a:rPr>
              <a:t>const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0E080"/>
                </a:solidFill>
                <a:latin typeface="Iosevka" panose="02000509030000000004" pitchFamily="49" charset="0"/>
              </a:rPr>
              <a:t>auto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 err="1">
                <a:solidFill>
                  <a:srgbClr val="9CDCFE"/>
                </a:solidFill>
                <a:latin typeface="Iosevka" panose="02000509030000000004" pitchFamily="49" charset="0"/>
              </a:rPr>
              <a:t>old_size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 err="1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 err="1">
                <a:solidFill>
                  <a:srgbClr val="CCFE89"/>
                </a:solidFill>
                <a:latin typeface="Iosevka" panose="02000509030000000004" pitchFamily="49" charset="0"/>
              </a:rPr>
              <a:t>size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80B0E0"/>
                </a:solidFill>
                <a:latin typeface="Iosevka" panose="02000509030000000004" pitchFamily="49" charset="0"/>
              </a:rPr>
              <a:t>const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9CDCFE"/>
                </a:solidFill>
                <a:latin typeface="Iosevka" panose="02000509030000000004" pitchFamily="49" charset="0"/>
              </a:rPr>
              <a:t>top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 err="1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 err="1">
                <a:solidFill>
                  <a:srgbClr val="CCFE89"/>
                </a:solidFill>
                <a:latin typeface="Iosevka" panose="02000509030000000004" pitchFamily="49" charset="0"/>
              </a:rPr>
              <a:t>top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 err="1">
                <a:solidFill>
                  <a:srgbClr val="CCFE89"/>
                </a:solidFill>
                <a:latin typeface="Iosevka" panose="02000509030000000004" pitchFamily="49" charset="0"/>
              </a:rPr>
              <a:t>pop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 err="1">
                <a:solidFill>
                  <a:srgbClr val="9A9A9A"/>
                </a:solidFill>
                <a:latin typeface="Iosevka" panose="02000509030000000004" pitchFamily="49" charset="0"/>
              </a:rPr>
              <a:t>commands</a:t>
            </a:r>
            <a:r>
              <a:rPr lang="en-IN" sz="144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 err="1">
                <a:solidFill>
                  <a:srgbClr val="CCFE89"/>
                </a:solidFill>
                <a:latin typeface="Iosevka" panose="02000509030000000004" pitchFamily="49" charset="0"/>
              </a:rPr>
              <a:t>size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==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 err="1">
                <a:solidFill>
                  <a:srgbClr val="9CDCFE"/>
                </a:solidFill>
                <a:latin typeface="Iosevka" panose="02000509030000000004" pitchFamily="49" charset="0"/>
              </a:rPr>
              <a:t>old_size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-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D93F9"/>
                </a:solidFill>
                <a:latin typeface="Iosevka" panose="02000509030000000004" pitchFamily="49" charset="0"/>
              </a:rPr>
              <a:t>1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i="1" dirty="0">
                <a:solidFill>
                  <a:srgbClr val="FFFF00"/>
                </a:solidFill>
                <a:latin typeface="Iosevka" panose="02000509030000000004" pitchFamily="49" charset="0"/>
              </a:rPr>
              <a:t>post: size decreased by one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9CDCFE"/>
                </a:solidFill>
                <a:latin typeface="Iosevka" panose="02000509030000000004" pitchFamily="49" charset="0"/>
              </a:rPr>
              <a:t>top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                        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44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CDEE1-3CF5-7995-4620-024AF07F2AB2}"/>
              </a:ext>
            </a:extLst>
          </p:cNvPr>
          <p:cNvSpPr txBox="1"/>
          <p:nvPr/>
        </p:nvSpPr>
        <p:spPr>
          <a:xfrm>
            <a:off x="4708943" y="3945761"/>
            <a:ext cx="7054865" cy="27515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40" dirty="0">
                <a:solidFill>
                  <a:srgbClr val="B0E080"/>
                </a:solidFill>
                <a:latin typeface="Iosevka" panose="02000509030000000004" pitchFamily="49" charset="0"/>
              </a:rPr>
              <a:t>void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 err="1">
                <a:solidFill>
                  <a:srgbClr val="00E6E6"/>
                </a:solidFill>
                <a:latin typeface="Iosevka" panose="02000509030000000004" pitchFamily="49" charset="0"/>
              </a:rPr>
              <a:t>start_and_join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!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thr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>
                <a:solidFill>
                  <a:srgbClr val="CCFE89"/>
                </a:solidFill>
                <a:latin typeface="Iosevka" panose="02000509030000000004" pitchFamily="49" charset="0"/>
              </a:rPr>
              <a:t>joinable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i="1" dirty="0">
                <a:solidFill>
                  <a:srgbClr val="FFFF00"/>
                </a:solidFill>
                <a:latin typeface="Iosevka" panose="02000509030000000004" pitchFamily="49" charset="0"/>
              </a:rPr>
              <a:t>pre: thread must not already be running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work_done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08080"/>
                </a:solidFill>
                <a:latin typeface="Iosevka" panose="02000509030000000004" pitchFamily="49" charset="0"/>
              </a:rPr>
              <a:t>false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thr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4EC9B0"/>
                </a:solidFill>
                <a:latin typeface="Iosevka" panose="02000509030000000004" pitchFamily="49" charset="0"/>
              </a:rPr>
              <a:t>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440" dirty="0">
                <a:solidFill>
                  <a:srgbClr val="FF7A17"/>
                </a:solidFill>
                <a:latin typeface="Iosevka" panose="02000509030000000004" pitchFamily="49" charset="0"/>
              </a:rPr>
              <a:t>thread</a:t>
            </a:r>
            <a:r>
              <a:rPr lang="en-IN" sz="1440" dirty="0">
                <a:solidFill>
                  <a:srgbClr val="4EC9B0"/>
                </a:solidFill>
                <a:latin typeface="Iosevka" panose="02000509030000000004" pitchFamily="49" charset="0"/>
              </a:rPr>
              <a:t>{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[</a:t>
            </a:r>
            <a:r>
              <a:rPr lang="en-IN" sz="1440" dirty="0">
                <a:solidFill>
                  <a:srgbClr val="80B0E0"/>
                </a:solidFill>
                <a:latin typeface="Iosevka" panose="02000509030000000004" pitchFamily="49" charset="0"/>
              </a:rPr>
              <a:t>this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]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{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440" dirty="0" err="1">
                <a:solidFill>
                  <a:srgbClr val="00E6E6"/>
                </a:solidFill>
                <a:latin typeface="Iosevka" panose="02000509030000000004" pitchFamily="49" charset="0"/>
              </a:rPr>
              <a:t>do_work</a:t>
            </a: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work_done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08080"/>
                </a:solidFill>
                <a:latin typeface="Iosevka" panose="02000509030000000004" pitchFamily="49" charset="0"/>
              </a:rPr>
              <a:t>true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}</a:t>
            </a:r>
            <a:r>
              <a:rPr lang="en-IN" sz="1440" dirty="0">
                <a:solidFill>
                  <a:srgbClr val="4EC9B0"/>
                </a:solidFill>
                <a:latin typeface="Iosevka" panose="02000509030000000004" pitchFamily="49" charset="0"/>
              </a:rPr>
              <a:t>}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thr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>
                <a:solidFill>
                  <a:srgbClr val="CCFE89"/>
                </a:solidFill>
                <a:latin typeface="Iosevka" panose="02000509030000000004" pitchFamily="49" charset="0"/>
              </a:rPr>
              <a:t>join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!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thr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440" dirty="0">
                <a:solidFill>
                  <a:srgbClr val="CCFE89"/>
                </a:solidFill>
                <a:latin typeface="Iosevka" panose="02000509030000000004" pitchFamily="49" charset="0"/>
              </a:rPr>
              <a:t>joinable</a:t>
            </a:r>
            <a:r>
              <a:rPr lang="en-IN" sz="144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i="1" dirty="0">
                <a:solidFill>
                  <a:srgbClr val="FFFF00"/>
                </a:solidFill>
                <a:latin typeface="Iosevka" panose="02000509030000000004" pitchFamily="49" charset="0"/>
              </a:rPr>
              <a:t>post: thread still running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44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440" dirty="0" err="1">
                <a:solidFill>
                  <a:srgbClr val="EEA4AB"/>
                </a:solidFill>
                <a:latin typeface="Iosevka" panose="02000509030000000004" pitchFamily="49" charset="0"/>
              </a:rPr>
              <a:t>work_done</a:t>
            </a:r>
            <a:r>
              <a:rPr lang="en-IN" sz="1440" dirty="0">
                <a:solidFill>
                  <a:srgbClr val="EEA4AB"/>
                </a:solidFill>
                <a:latin typeface="Iosevka" panose="02000509030000000004" pitchFamily="49" charset="0"/>
              </a:rPr>
              <a:t>_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i="1" dirty="0">
                <a:solidFill>
                  <a:srgbClr val="FFFF00"/>
                </a:solidFill>
                <a:latin typeface="Iosevka" panose="02000509030000000004" pitchFamily="49" charset="0"/>
              </a:rPr>
              <a:t>post: work in progress</a:t>
            </a:r>
            <a:r>
              <a:rPr lang="en-IN" sz="144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44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44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44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44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44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1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69A1-2010-F924-B80D-1429D88D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BFD1B-6F3F-B84B-1A04-53D3D090DBBF}"/>
              </a:ext>
            </a:extLst>
          </p:cNvPr>
          <p:cNvSpPr txBox="1"/>
          <p:nvPr/>
        </p:nvSpPr>
        <p:spPr>
          <a:xfrm>
            <a:off x="1820193" y="1690689"/>
            <a:ext cx="8881513" cy="42288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void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Validate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 err="1">
                <a:solidFill>
                  <a:srgbClr val="80B0E0"/>
                </a:solidFill>
                <a:latin typeface="Iosevka" panose="02000509030000000004" pitchFamily="49" charset="0"/>
              </a:rPr>
              <a:t>const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DDA0DD"/>
                </a:solidFill>
                <a:latin typeface="Iosevka" panose="02000509030000000004" pitchFamily="49" charset="0"/>
              </a:rPr>
              <a:t>m_Balance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invariant: Negative balance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 err="1">
                <a:solidFill>
                  <a:srgbClr val="DDA0DD"/>
                </a:solidFill>
                <a:latin typeface="Iosevka" panose="02000509030000000004" pitchFamily="49" charset="0"/>
              </a:rPr>
              <a:t>currency</a:t>
            </a:r>
            <a:r>
              <a:rPr lang="en-IN" sz="1680" dirty="0" err="1">
                <a:solidFill>
                  <a:srgbClr val="B4B4B4"/>
                </a:solidFill>
                <a:latin typeface="Iosevka" panose="02000509030000000004" pitchFamily="49" charset="0"/>
              </a:rPr>
              <a:t>.</a:t>
            </a:r>
            <a:r>
              <a:rPr lang="en-IN" sz="1680" dirty="0" err="1">
                <a:solidFill>
                  <a:srgbClr val="CCFE89"/>
                </a:solidFill>
                <a:latin typeface="Iosevka" panose="02000509030000000004" pitchFamily="49" charset="0"/>
              </a:rPr>
              <a:t>size</a:t>
            </a:r>
            <a:r>
              <a:rPr lang="en-IN" sz="1680" dirty="0">
                <a:solidFill>
                  <a:srgbClr val="EFB839"/>
                </a:solidFill>
                <a:latin typeface="Iosevka" panose="02000509030000000004" pitchFamily="49" charset="0"/>
              </a:rPr>
              <a:t>()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==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3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invariant: Currency must be 3 letters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void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deposit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long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 err="1">
                <a:solidFill>
                  <a:srgbClr val="B0E080"/>
                </a:solidFill>
                <a:latin typeface="Iosevka" panose="02000509030000000004" pitchFamily="49" charset="0"/>
              </a:rPr>
              <a:t>long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pre: deposit negative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 err="1">
                <a:solidFill>
                  <a:srgbClr val="DDA0DD"/>
                </a:solidFill>
                <a:latin typeface="Iosevka" panose="02000509030000000004" pitchFamily="49" charset="0"/>
              </a:rPr>
              <a:t>m_Balance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+=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Validate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bool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withdraw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B0E080"/>
                </a:solidFill>
                <a:latin typeface="Iosevka" panose="02000509030000000004" pitchFamily="49" charset="0"/>
              </a:rPr>
              <a:t>long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 err="1">
                <a:solidFill>
                  <a:srgbClr val="B0E080"/>
                </a:solidFill>
                <a:latin typeface="Iosevka" panose="02000509030000000004" pitchFamily="49" charset="0"/>
              </a:rPr>
              <a:t>long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i="1" dirty="0">
                <a:solidFill>
                  <a:srgbClr val="FFFF00"/>
                </a:solidFill>
                <a:latin typeface="Iosevka" panose="02000509030000000004" pitchFamily="49" charset="0"/>
              </a:rPr>
              <a:t>pre: withdraw negative</a:t>
            </a:r>
            <a:r>
              <a:rPr lang="en-IN" sz="168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D8A0DF"/>
                </a:solidFill>
                <a:latin typeface="Iosevka" panose="02000509030000000004" pitchFamily="49" charset="0"/>
              </a:rPr>
              <a:t>if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&gt;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 err="1">
                <a:solidFill>
                  <a:srgbClr val="DDA0DD"/>
                </a:solidFill>
                <a:latin typeface="Iosevka" panose="02000509030000000004" pitchFamily="49" charset="0"/>
              </a:rPr>
              <a:t>m_Balance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08080"/>
                </a:solidFill>
                <a:latin typeface="Iosevka" panose="02000509030000000004" pitchFamily="49" charset="0"/>
              </a:rPr>
              <a:t>false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 err="1">
                <a:solidFill>
                  <a:srgbClr val="DDA0DD"/>
                </a:solidFill>
                <a:latin typeface="Iosevka" panose="02000509030000000004" pitchFamily="49" charset="0"/>
              </a:rPr>
              <a:t>m_Balance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-=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9A9A9A"/>
                </a:solidFill>
                <a:latin typeface="Iosevka" panose="02000509030000000004" pitchFamily="49" charset="0"/>
              </a:rPr>
              <a:t>amt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CCFE89"/>
                </a:solidFill>
                <a:latin typeface="Iosevka" panose="02000509030000000004" pitchFamily="49" charset="0"/>
              </a:rPr>
              <a:t>Validate</a:t>
            </a:r>
            <a:r>
              <a:rPr lang="en-IN" sz="1680" dirty="0">
                <a:solidFill>
                  <a:srgbClr val="EA66BA"/>
                </a:solidFill>
                <a:latin typeface="Iosevka" panose="02000509030000000004" pitchFamily="49" charset="0"/>
              </a:rPr>
              <a:t>()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</a:t>
            </a:r>
            <a:r>
              <a:rPr lang="en-IN" sz="168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680" dirty="0">
                <a:solidFill>
                  <a:srgbClr val="E08080"/>
                </a:solidFill>
                <a:latin typeface="Iosevka" panose="02000509030000000004" pitchFamily="49" charset="0"/>
              </a:rPr>
              <a:t>true</a:t>
            </a:r>
            <a:r>
              <a:rPr lang="en-IN" sz="168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680" dirty="0">
                <a:solidFill>
                  <a:srgbClr val="F2F8F8"/>
                </a:solidFill>
                <a:latin typeface="Iosevka" panose="02000509030000000004" pitchFamily="49" charset="0"/>
              </a:rPr>
              <a:t>   </a:t>
            </a:r>
            <a:r>
              <a:rPr lang="en-IN" sz="168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endParaRPr lang="en-IN" sz="168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57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Guidelines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to catch programmer errors, not user errors</a:t>
            </a:r>
          </a:p>
          <a:p>
            <a:r>
              <a:rPr lang="en-US" dirty="0"/>
              <a:t>Don’t use for untrusted data (files, network, user input)</a:t>
            </a:r>
          </a:p>
          <a:p>
            <a:r>
              <a:rPr lang="en-US" dirty="0"/>
              <a:t>Avoid multiple expressions in one </a:t>
            </a:r>
            <a:r>
              <a:rPr lang="en-US" i="1" dirty="0">
                <a:cs typeface="Times New Roman" pitchFamily="18" charset="0"/>
              </a:rPr>
              <a:t>assert </a:t>
            </a:r>
            <a:r>
              <a:rPr lang="en-US" dirty="0"/>
              <a:t>statement. </a:t>
            </a:r>
          </a:p>
          <a:p>
            <a:r>
              <a:rPr lang="en-US" dirty="0"/>
              <a:t>Avoid using function calls inside </a:t>
            </a:r>
            <a:r>
              <a:rPr lang="en-US" i="1" dirty="0">
                <a:cs typeface="Times New Roman" pitchFamily="18" charset="0"/>
              </a:rPr>
              <a:t>assert</a:t>
            </a:r>
            <a:endParaRPr lang="en-US" dirty="0"/>
          </a:p>
          <a:p>
            <a:r>
              <a:rPr lang="en-US" dirty="0"/>
              <a:t>Don’t use assertions as a substitute for error handling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64D1-5BC0-4FD3-DBE5-91F39A75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Guidelines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55F0-16E9-8163-50EB-F6282DA3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Asserts are useful to check for errors that should never occur</a:t>
            </a:r>
          </a:p>
          <a:p>
            <a:r>
              <a:rPr lang="en-IN" dirty="0"/>
              <a:t>Use when the program should stop immediately instead of continuing in inconsistent state</a:t>
            </a:r>
          </a:p>
          <a:p>
            <a:r>
              <a:rPr lang="en-IN" dirty="0"/>
              <a:t>Possibility of cascading failures due to inconsistent or irrecoverable states</a:t>
            </a:r>
          </a:p>
          <a:p>
            <a:r>
              <a:rPr lang="en-IN" dirty="0"/>
              <a:t>Detecting bugs during debugging </a:t>
            </a:r>
          </a:p>
          <a:p>
            <a:r>
              <a:rPr lang="en-IN" dirty="0"/>
              <a:t>Remember, assertions can be turned off</a:t>
            </a:r>
          </a:p>
          <a:p>
            <a:r>
              <a:rPr lang="en-IN" dirty="0"/>
              <a:t>Prefer exceptions for recoverable errors</a:t>
            </a:r>
          </a:p>
        </p:txBody>
      </p:sp>
    </p:spTree>
    <p:extLst>
      <p:ext uri="{BB962C8B-B14F-4D97-AF65-F5344CB8AC3E}">
        <p14:creationId xmlns:p14="http://schemas.microsoft.com/office/powerpoint/2010/main" val="195493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39FEB2-0CBB-7243-C180-38E04A8B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Asserting User Input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CFAA5-9A96-A9F9-28D8-4020AC503967}"/>
              </a:ext>
            </a:extLst>
          </p:cNvPr>
          <p:cNvSpPr txBox="1"/>
          <p:nvPr/>
        </p:nvSpPr>
        <p:spPr>
          <a:xfrm>
            <a:off x="2834806" y="1804509"/>
            <a:ext cx="6647125" cy="18651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read_port_from_config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4EC9B0"/>
                </a:solidFill>
                <a:latin typeface="Iosevka" panose="02000509030000000004" pitchFamily="49" charset="0"/>
              </a:rPr>
              <a:t>string_view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s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parse_int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s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</a:p>
          <a:p>
            <a:pPr>
              <a:buNone/>
            </a:pP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    //Bad: user/config error, not a programmer bug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&gt;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&lt;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65536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92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7F46A-4E54-5A4E-3349-BE8CE3E5AB33}"/>
              </a:ext>
            </a:extLst>
          </p:cNvPr>
          <p:cNvSpPr txBox="1"/>
          <p:nvPr/>
        </p:nvSpPr>
        <p:spPr>
          <a:xfrm>
            <a:off x="2834806" y="3995646"/>
            <a:ext cx="6849883" cy="216059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read_port_from_config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4EC9B0"/>
                </a:solidFill>
                <a:latin typeface="Iosevka" panose="02000509030000000004" pitchFamily="49" charset="0"/>
              </a:rPr>
              <a:t>string_view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s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int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parse_int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s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if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&lt;=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||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&gt;=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65536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throw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44AACC"/>
                </a:solidFill>
                <a:latin typeface="Iosevka" panose="02000509030000000004" pitchFamily="49" charset="0"/>
              </a:rPr>
              <a:t>std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::</a:t>
            </a:r>
            <a:r>
              <a:rPr lang="en-IN" sz="1920" dirty="0" err="1">
                <a:solidFill>
                  <a:srgbClr val="FF7A17"/>
                </a:solidFill>
                <a:latin typeface="Iosevka" panose="02000509030000000004" pitchFamily="49" charset="0"/>
              </a:rPr>
              <a:t>runtime_error</a:t>
            </a:r>
            <a:r>
              <a:rPr lang="en-IN" sz="1920" dirty="0">
                <a:solidFill>
                  <a:srgbClr val="4EC9B0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920" i="1" dirty="0">
                <a:solidFill>
                  <a:srgbClr val="FFFF00"/>
                </a:solidFill>
                <a:latin typeface="Iosevka" panose="02000509030000000004" pitchFamily="49" charset="0"/>
              </a:rPr>
              <a:t>invalid port</a:t>
            </a:r>
            <a:r>
              <a:rPr lang="en-IN" sz="1920" dirty="0">
                <a:solidFill>
                  <a:srgbClr val="E8C9BB"/>
                </a:solidFill>
                <a:latin typeface="Iosevka" panose="02000509030000000004" pitchFamily="49" charset="0"/>
              </a:rPr>
              <a:t>"</a:t>
            </a:r>
            <a:r>
              <a:rPr lang="en-IN" sz="1920" dirty="0">
                <a:solidFill>
                  <a:srgbClr val="4EC9B0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CDCFE"/>
                </a:solidFill>
                <a:latin typeface="Iosevka" panose="02000509030000000004" pitchFamily="49" charset="0"/>
              </a:rPr>
              <a:t>port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92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4AA1F1-FF01-3995-F805-943A23A7A94C}"/>
              </a:ext>
            </a:extLst>
          </p:cNvPr>
          <p:cNvSpPr txBox="1"/>
          <p:nvPr/>
        </p:nvSpPr>
        <p:spPr>
          <a:xfrm>
            <a:off x="3798487" y="3358722"/>
            <a:ext cx="5230219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effectLst/>
                <a:latin typeface="fkGroteskNeue"/>
              </a:defRPr>
            </a:lvl1pPr>
          </a:lstStyle>
          <a:p>
            <a:r>
              <a:rPr lang="en-IN" sz="2160" dirty="0"/>
              <a:t>Avoid asserting external inputs</a:t>
            </a:r>
          </a:p>
        </p:txBody>
      </p:sp>
    </p:spTree>
    <p:extLst>
      <p:ext uri="{BB962C8B-B14F-4D97-AF65-F5344CB8AC3E}">
        <p14:creationId xmlns:p14="http://schemas.microsoft.com/office/powerpoint/2010/main" val="93080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Asserting With Side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0773" y="2729556"/>
            <a:ext cx="7517635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effectLst/>
                <a:latin typeface="fkGroteskNeue"/>
              </a:defRPr>
            </a:lvl1pPr>
          </a:lstStyle>
          <a:p>
            <a:r>
              <a:rPr lang="en-IN" sz="2160" dirty="0"/>
              <a:t>Calls to assert are removed when NDEBUG is defined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A70B5-C521-258B-9385-DDCBBC004088}"/>
              </a:ext>
            </a:extLst>
          </p:cNvPr>
          <p:cNvSpPr txBox="1"/>
          <p:nvPr/>
        </p:nvSpPr>
        <p:spPr>
          <a:xfrm>
            <a:off x="2464567" y="1714048"/>
            <a:ext cx="7517634" cy="7571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60" dirty="0">
                <a:solidFill>
                  <a:srgbClr val="B0E080"/>
                </a:solidFill>
                <a:latin typeface="Iosevka" panose="02000509030000000004" pitchFamily="49" charset="0"/>
              </a:rPr>
              <a:t>char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*</a:t>
            </a:r>
            <a:r>
              <a:rPr lang="en-IN" sz="2160" dirty="0">
                <a:solidFill>
                  <a:srgbClr val="9CDCFE"/>
                </a:solidFill>
                <a:latin typeface="Iosevka" panose="02000509030000000004" pitchFamily="49" charset="0"/>
              </a:rPr>
              <a:t>buff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{}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9CDCFE"/>
                </a:solidFill>
                <a:latin typeface="Iosevka" panose="02000509030000000004" pitchFamily="49" charset="0"/>
              </a:rPr>
              <a:t>buff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B0E080"/>
                </a:solidFill>
                <a:latin typeface="Iosevka" panose="02000509030000000004" pitchFamily="49" charset="0"/>
              </a:rPr>
              <a:t>char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*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00E6E6"/>
                </a:solidFill>
                <a:latin typeface="Iosevka" panose="02000509030000000004" pitchFamily="49" charset="0"/>
              </a:rPr>
              <a:t>malloc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9A9A9A"/>
                </a:solidFill>
                <a:latin typeface="Iosevka" panose="02000509030000000004" pitchFamily="49" charset="0"/>
              </a:rPr>
              <a:t>bytes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!=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E08080"/>
                </a:solidFill>
                <a:latin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endParaRPr lang="en-IN" sz="216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FE8D5-8B07-65AF-6F85-7B3D49E56184}"/>
              </a:ext>
            </a:extLst>
          </p:cNvPr>
          <p:cNvSpPr txBox="1"/>
          <p:nvPr/>
        </p:nvSpPr>
        <p:spPr>
          <a:xfrm>
            <a:off x="3791779" y="3784302"/>
            <a:ext cx="4608443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60" dirty="0">
                <a:solidFill>
                  <a:srgbClr val="B0E080"/>
                </a:solidFill>
                <a:latin typeface="Iosevka" panose="02000509030000000004" pitchFamily="49" charset="0"/>
              </a:rPr>
              <a:t>char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*</a:t>
            </a:r>
            <a:r>
              <a:rPr lang="en-IN" sz="2160" dirty="0">
                <a:solidFill>
                  <a:srgbClr val="9CDCFE"/>
                </a:solidFill>
                <a:latin typeface="Iosevka" panose="02000509030000000004" pitchFamily="49" charset="0"/>
              </a:rPr>
              <a:t>buff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{}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9CDCFE"/>
                </a:solidFill>
                <a:latin typeface="Iosevka" panose="02000509030000000004" pitchFamily="49" charset="0"/>
              </a:rPr>
              <a:t>buff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B0E080"/>
                </a:solidFill>
                <a:latin typeface="Iosevka" panose="02000509030000000004" pitchFamily="49" charset="0"/>
              </a:rPr>
              <a:t>char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*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00E6E6"/>
                </a:solidFill>
                <a:latin typeface="Iosevka" panose="02000509030000000004" pitchFamily="49" charset="0"/>
              </a:rPr>
              <a:t>malloc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9A9A9A"/>
                </a:solidFill>
                <a:latin typeface="Iosevka" panose="02000509030000000004" pitchFamily="49" charset="0"/>
              </a:rPr>
              <a:t>bytes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D8A0DF"/>
                </a:solidFill>
                <a:latin typeface="Iosevka" panose="02000509030000000004" pitchFamily="49" charset="0"/>
              </a:rPr>
              <a:t>if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9CDCFE"/>
                </a:solidFill>
                <a:latin typeface="Iosevka" panose="02000509030000000004" pitchFamily="49" charset="0"/>
              </a:rPr>
              <a:t>buff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==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E08080"/>
                </a:solidFill>
                <a:latin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6272A4"/>
                </a:solidFill>
                <a:latin typeface="Iosevka" panose="02000509030000000004" pitchFamily="49" charset="0"/>
              </a:rPr>
              <a:t>//Handle null condition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endParaRPr lang="en-IN" sz="216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91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88E5-1D91-959A-82FA-C116953B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Asserting Business Logic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8C020D-703E-7420-2EAC-0998D1AF8CA9}"/>
              </a:ext>
            </a:extLst>
          </p:cNvPr>
          <p:cNvSpPr txBox="1"/>
          <p:nvPr/>
        </p:nvSpPr>
        <p:spPr>
          <a:xfrm>
            <a:off x="2699800" y="1545408"/>
            <a:ext cx="6792401" cy="27515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double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ApplyDiscount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double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percentage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//Removed in Release build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percentage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&gt;=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0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&amp;&amp;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percentage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&lt;=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BD93F9"/>
                </a:solidFill>
                <a:latin typeface="Iosevka" panose="02000509030000000004" pitchFamily="49" charset="0"/>
              </a:rPr>
              <a:t>10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 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// ... continues assuming percentage is in range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// may use discount outside range here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//...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EA4AB"/>
                </a:solidFill>
                <a:latin typeface="Iosevka" panose="02000509030000000004" pitchFamily="49" charset="0"/>
              </a:rPr>
              <a:t>price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92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B9C0B-3EFD-7657-201C-4197505A7F36}"/>
              </a:ext>
            </a:extLst>
          </p:cNvPr>
          <p:cNvSpPr txBox="1"/>
          <p:nvPr/>
        </p:nvSpPr>
        <p:spPr>
          <a:xfrm>
            <a:off x="3368372" y="4553884"/>
            <a:ext cx="5455256" cy="18651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double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ApplyDiscount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B0E080"/>
                </a:solidFill>
                <a:latin typeface="Iosevka" panose="02000509030000000004" pitchFamily="49" charset="0"/>
              </a:rPr>
              <a:t>double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percentage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if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!</a:t>
            </a:r>
            <a:r>
              <a:rPr lang="en-IN" sz="1920" dirty="0" err="1">
                <a:solidFill>
                  <a:srgbClr val="00E6E6"/>
                </a:solidFill>
                <a:latin typeface="Iosevka" panose="02000509030000000004" pitchFamily="49" charset="0"/>
              </a:rPr>
              <a:t>WithinRange</a:t>
            </a:r>
            <a:r>
              <a:rPr lang="en-IN" sz="1920" dirty="0">
                <a:solidFill>
                  <a:srgbClr val="EA66BA"/>
                </a:solidFill>
                <a:latin typeface="Iosevka" panose="02000509030000000004" pitchFamily="49" charset="0"/>
              </a:rPr>
              <a:t>(</a:t>
            </a:r>
            <a:r>
              <a:rPr lang="en-IN" sz="1920" dirty="0">
                <a:solidFill>
                  <a:srgbClr val="9A9A9A"/>
                </a:solidFill>
                <a:latin typeface="Iosevka" panose="02000509030000000004" pitchFamily="49" charset="0"/>
              </a:rPr>
              <a:t>percentage</a:t>
            </a:r>
            <a:r>
              <a:rPr lang="en-IN" sz="1920" dirty="0">
                <a:solidFill>
                  <a:srgbClr val="EA66BA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{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    </a:t>
            </a:r>
            <a:r>
              <a:rPr lang="en-IN" sz="1920" dirty="0">
                <a:solidFill>
                  <a:srgbClr val="D8A0DF"/>
                </a:solidFill>
                <a:latin typeface="Iosevka" panose="02000509030000000004" pitchFamily="49" charset="0"/>
              </a:rPr>
              <a:t>return</a:t>
            </a: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1920" dirty="0">
                <a:solidFill>
                  <a:srgbClr val="EEA4AB"/>
                </a:solidFill>
                <a:latin typeface="Iosevka" panose="02000509030000000004" pitchFamily="49" charset="0"/>
              </a:rPr>
              <a:t>price</a:t>
            </a:r>
            <a:r>
              <a:rPr lang="en-IN" sz="192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5ADE5"/>
                </a:solidFill>
                <a:latin typeface="Iosevka" panose="02000509030000000004" pitchFamily="49" charset="0"/>
              </a:rPr>
              <a:t>}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1920" dirty="0">
                <a:solidFill>
                  <a:srgbClr val="6272A4"/>
                </a:solidFill>
                <a:latin typeface="Iosevka" panose="02000509030000000004" pitchFamily="49" charset="0"/>
              </a:rPr>
              <a:t>//Rest of the code</a:t>
            </a:r>
            <a:br>
              <a:rPr lang="en-IN" sz="192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1920" dirty="0">
                <a:solidFill>
                  <a:srgbClr val="EFB839"/>
                </a:solidFill>
                <a:latin typeface="Iosevka" panose="02000509030000000004" pitchFamily="49" charset="0"/>
              </a:rPr>
              <a:t>}</a:t>
            </a:r>
            <a:endParaRPr lang="en-IN" sz="192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1006E-62AA-F282-DE50-255448964B87}"/>
              </a:ext>
            </a:extLst>
          </p:cNvPr>
          <p:cNvSpPr txBox="1"/>
          <p:nvPr/>
        </p:nvSpPr>
        <p:spPr>
          <a:xfrm>
            <a:off x="5886616" y="3493156"/>
            <a:ext cx="4704522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160" dirty="0">
                <a:latin typeface="fkGroteskNeue"/>
              </a:rPr>
              <a:t>In Release build, the check vanishes</a:t>
            </a:r>
            <a:endParaRPr lang="en-IN" sz="2160" dirty="0"/>
          </a:p>
        </p:txBody>
      </p:sp>
    </p:spTree>
    <p:extLst>
      <p:ext uri="{BB962C8B-B14F-4D97-AF65-F5344CB8AC3E}">
        <p14:creationId xmlns:p14="http://schemas.microsoft.com/office/powerpoint/2010/main" val="16164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 Expressions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099CC-D638-47F0-8D93-983E92EBE88E}"/>
              </a:ext>
            </a:extLst>
          </p:cNvPr>
          <p:cNvSpPr txBox="1"/>
          <p:nvPr/>
        </p:nvSpPr>
        <p:spPr>
          <a:xfrm>
            <a:off x="3026664" y="1742176"/>
            <a:ext cx="6138672" cy="287155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680" dirty="0">
                <a:solidFill>
                  <a:srgbClr val="2B91AF"/>
                </a:solidFill>
                <a:latin typeface="JetBrains Mono" pitchFamily="2" charset="0"/>
              </a:rPr>
              <a:t>HWND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7B6FC4"/>
                </a:solidFill>
                <a:latin typeface="JetBrains Mono" pitchFamily="2" charset="0"/>
              </a:rPr>
              <a:t>CreateChildWindow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680" dirty="0">
                <a:solidFill>
                  <a:srgbClr val="2B91AF"/>
                </a:solidFill>
                <a:latin typeface="JetBrains Mono" pitchFamily="2" charset="0"/>
              </a:rPr>
              <a:t>HWND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hWndParent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,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680" dirty="0">
                <a:solidFill>
                  <a:srgbClr val="2B91AF"/>
                </a:solidFill>
                <a:latin typeface="JetBrains Mono" pitchFamily="2" charset="0"/>
              </a:rPr>
              <a:t>LPCSTR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pszClassName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,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680" dirty="0">
                <a:solidFill>
                  <a:srgbClr val="2B91AF"/>
                </a:solidFill>
                <a:latin typeface="JetBrains Mono" pitchFamily="2" charset="0"/>
              </a:rPr>
              <a:t>LPCSTR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pszTitle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{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680" dirty="0">
                <a:solidFill>
                  <a:srgbClr val="D5A2DF"/>
                </a:solidFill>
                <a:latin typeface="JetBrains Mono" pitchFamily="2" charset="0"/>
              </a:rPr>
              <a:t>assert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	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hWndParent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!=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D5A2DF"/>
                </a:solidFill>
                <a:latin typeface="JetBrains Mono" pitchFamily="2" charset="0"/>
              </a:rPr>
              <a:t>nullptr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	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&amp;&amp;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pszClassName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!=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D5A2DF"/>
                </a:solidFill>
                <a:latin typeface="JetBrains Mono" pitchFamily="2" charset="0"/>
              </a:rPr>
              <a:t>nullptr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	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&amp;&amp;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(</a:t>
            </a:r>
            <a:r>
              <a:rPr lang="en-IN" sz="1680" dirty="0" err="1">
                <a:solidFill>
                  <a:srgbClr val="C8C8C8"/>
                </a:solidFill>
                <a:latin typeface="JetBrains Mono" pitchFamily="2" charset="0"/>
              </a:rPr>
              <a:t>pszTitle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!=</a:t>
            </a:r>
            <a:r>
              <a:rPr lang="en-IN" sz="1680" dirty="0">
                <a:solidFill>
                  <a:srgbClr val="DCDCDC"/>
                </a:solidFill>
                <a:latin typeface="Cambria" panose="02040503050406030204" pitchFamily="18" charset="0"/>
              </a:rPr>
              <a:t> </a:t>
            </a:r>
            <a:r>
              <a:rPr lang="en-IN" sz="1680" dirty="0" err="1">
                <a:solidFill>
                  <a:srgbClr val="D5A2DF"/>
                </a:solidFill>
                <a:latin typeface="JetBrains Mono" pitchFamily="2" charset="0"/>
              </a:rPr>
              <a:t>nullptr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)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r>
              <a:rPr lang="en-IN" sz="1680" dirty="0">
                <a:solidFill>
                  <a:srgbClr val="DCDCDC"/>
                </a:solidFill>
                <a:latin typeface="JetBrains Mono" pitchFamily="2" charset="0"/>
              </a:rPr>
              <a:t>	</a:t>
            </a:r>
            <a:r>
              <a:rPr lang="en-IN" sz="1680" dirty="0">
                <a:solidFill>
                  <a:srgbClr val="FFFFFF"/>
                </a:solidFill>
                <a:latin typeface="JetBrains Mono" pitchFamily="2" charset="0"/>
              </a:rPr>
              <a:t>);</a:t>
            </a:r>
            <a:endParaRPr lang="en-IN" sz="1680" dirty="0">
              <a:solidFill>
                <a:srgbClr val="DCDCDC"/>
              </a:solidFill>
              <a:latin typeface="JetBrains Mono" pitchFamily="2" charset="0"/>
            </a:endParaRPr>
          </a:p>
          <a:p>
            <a:endParaRPr lang="en-IN" sz="1260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18BB2-7FB9-CC08-FB14-15BABB3C4F82}"/>
              </a:ext>
            </a:extLst>
          </p:cNvPr>
          <p:cNvSpPr txBox="1"/>
          <p:nvPr/>
        </p:nvSpPr>
        <p:spPr>
          <a:xfrm>
            <a:off x="286247" y="5285099"/>
            <a:ext cx="11270974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effectLst/>
                <a:latin typeface="fkGroteskNeue"/>
              </a:defRPr>
            </a:lvl1pPr>
          </a:lstStyle>
          <a:p>
            <a:r>
              <a:rPr lang="en-IN" sz="2160" dirty="0"/>
              <a:t>Assertion failed: (</a:t>
            </a:r>
            <a:r>
              <a:rPr lang="en-IN" sz="2160" dirty="0" err="1"/>
              <a:t>hWndParent</a:t>
            </a:r>
            <a:r>
              <a:rPr lang="en-IN" sz="2160" dirty="0"/>
              <a:t> != </a:t>
            </a:r>
            <a:r>
              <a:rPr lang="en-IN" sz="2160" dirty="0" err="1"/>
              <a:t>nullptr</a:t>
            </a:r>
            <a:r>
              <a:rPr lang="en-IN" sz="2160" dirty="0"/>
              <a:t>) &amp;&amp; (</a:t>
            </a:r>
            <a:r>
              <a:rPr lang="en-IN" sz="2160" dirty="0" err="1"/>
              <a:t>pszClassName</a:t>
            </a:r>
            <a:r>
              <a:rPr lang="en-IN" sz="2160" dirty="0"/>
              <a:t> != </a:t>
            </a:r>
            <a:r>
              <a:rPr lang="en-IN" sz="2160" dirty="0" err="1"/>
              <a:t>nullptr</a:t>
            </a:r>
            <a:r>
              <a:rPr lang="en-IN" sz="2160" dirty="0"/>
              <a:t>) &amp;&amp; (</a:t>
            </a:r>
            <a:r>
              <a:rPr lang="en-IN" sz="2160" dirty="0" err="1"/>
              <a:t>pszTitle</a:t>
            </a:r>
            <a:r>
              <a:rPr lang="en-IN" sz="2160" dirty="0"/>
              <a:t> != </a:t>
            </a:r>
            <a:r>
              <a:rPr lang="en-IN" sz="2160" dirty="0" err="1"/>
              <a:t>nullptr</a:t>
            </a:r>
            <a:r>
              <a:rPr lang="en-IN" sz="216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5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4751C-F608-9820-46C2-D42D2963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Expressions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27526-CF54-EE1E-623D-AE1856691A04}"/>
              </a:ext>
            </a:extLst>
          </p:cNvPr>
          <p:cNvSpPr txBox="1"/>
          <p:nvPr/>
        </p:nvSpPr>
        <p:spPr>
          <a:xfrm>
            <a:off x="3498906" y="1979769"/>
            <a:ext cx="5194189" cy="27515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160" dirty="0">
                <a:solidFill>
                  <a:srgbClr val="4EC9B0"/>
                </a:solidFill>
                <a:latin typeface="Iosevka" panose="02000509030000000004" pitchFamily="49" charset="0"/>
              </a:rPr>
              <a:t>HWND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00E6E6"/>
                </a:solidFill>
                <a:latin typeface="Iosevka" panose="02000509030000000004" pitchFamily="49" charset="0"/>
              </a:rPr>
              <a:t>CreateChildWindow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(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4EC9B0"/>
                </a:solidFill>
                <a:latin typeface="Iosevka" panose="02000509030000000004" pitchFamily="49" charset="0"/>
              </a:rPr>
              <a:t>HWND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hWndParent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4EC9B0"/>
                </a:solidFill>
                <a:latin typeface="Iosevka" panose="02000509030000000004" pitchFamily="49" charset="0"/>
              </a:rPr>
              <a:t>LPCSTR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pszClassName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,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4EC9B0"/>
                </a:solidFill>
                <a:latin typeface="Iosevka" panose="02000509030000000004" pitchFamily="49" charset="0"/>
              </a:rPr>
              <a:t>LPCSTR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pszTitle</a:t>
            </a: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)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EFB839"/>
                </a:solidFill>
                <a:latin typeface="Iosevka" panose="02000509030000000004" pitchFamily="49" charset="0"/>
              </a:rPr>
              <a:t>{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hWndParent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!=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E08080"/>
                </a:solidFill>
                <a:latin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pszClassName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!=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E08080"/>
                </a:solidFill>
                <a:latin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b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</a:b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   </a:t>
            </a:r>
            <a:r>
              <a:rPr lang="en-IN" sz="2160" dirty="0">
                <a:solidFill>
                  <a:srgbClr val="BD63C5"/>
                </a:solidFill>
                <a:latin typeface="Iosevka" panose="02000509030000000004" pitchFamily="49" charset="0"/>
              </a:rPr>
              <a:t>assert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(</a:t>
            </a:r>
            <a:r>
              <a:rPr lang="en-IN" sz="2160" dirty="0" err="1">
                <a:solidFill>
                  <a:srgbClr val="F8F8F2"/>
                </a:solidFill>
                <a:latin typeface="Iosevka" panose="02000509030000000004" pitchFamily="49" charset="0"/>
              </a:rPr>
              <a:t>pszTitle</a:t>
            </a:r>
            <a:r>
              <a:rPr lang="en-IN" sz="2160" dirty="0">
                <a:solidFill>
                  <a:srgbClr val="F8F8F2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!=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E08080"/>
                </a:solidFill>
                <a:latin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65ADE5"/>
                </a:solidFill>
                <a:latin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</a:rPr>
              <a:t>;</a:t>
            </a:r>
            <a:endParaRPr lang="en-IN" sz="2160" dirty="0">
              <a:solidFill>
                <a:srgbClr val="F2F8F8"/>
              </a:solidFill>
              <a:latin typeface="Iosevka" panose="0200050903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3BAE1-F6F6-A86A-5DC5-34791501D186}"/>
              </a:ext>
            </a:extLst>
          </p:cNvPr>
          <p:cNvSpPr txBox="1"/>
          <p:nvPr/>
        </p:nvSpPr>
        <p:spPr>
          <a:xfrm>
            <a:off x="2973647" y="5756399"/>
            <a:ext cx="6094673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effectLst/>
                <a:latin typeface="fkGroteskNeue"/>
              </a:defRPr>
            </a:lvl1pPr>
          </a:lstStyle>
          <a:p>
            <a:r>
              <a:rPr lang="en-IN" sz="2160" dirty="0"/>
              <a:t>Assertion failed: </a:t>
            </a:r>
            <a:r>
              <a:rPr lang="en-IN" sz="2160" dirty="0" err="1"/>
              <a:t>hWndParent</a:t>
            </a:r>
            <a:r>
              <a:rPr lang="en-IN" sz="2160" dirty="0"/>
              <a:t> != </a:t>
            </a:r>
            <a:r>
              <a:rPr lang="en-IN" sz="2160" dirty="0" err="1"/>
              <a:t>nullptr</a:t>
            </a:r>
            <a:endParaRPr lang="en-IN" sz="2160" dirty="0"/>
          </a:p>
        </p:txBody>
      </p:sp>
    </p:spTree>
    <p:extLst>
      <p:ext uri="{BB962C8B-B14F-4D97-AF65-F5344CB8AC3E}">
        <p14:creationId xmlns:p14="http://schemas.microsoft.com/office/powerpoint/2010/main" val="308867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0035-8723-EED1-B1FA-8BFB6F01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929F0-1ABD-11DC-7ED2-57E44368B4AC}"/>
              </a:ext>
            </a:extLst>
          </p:cNvPr>
          <p:cNvSpPr txBox="1"/>
          <p:nvPr/>
        </p:nvSpPr>
        <p:spPr>
          <a:xfrm>
            <a:off x="2512212" y="2129641"/>
            <a:ext cx="7469989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160" dirty="0">
                <a:solidFill>
                  <a:srgbClr val="569CD6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void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DCDCAA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Foo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569CD6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void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*</a:t>
            </a:r>
            <a:r>
              <a:rPr lang="en-IN" sz="2160" dirty="0">
                <a:solidFill>
                  <a:srgbClr val="9A9A9A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p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{</a:t>
            </a:r>
            <a:endParaRPr lang="en-IN" sz="2160" dirty="0">
              <a:solidFill>
                <a:srgbClr val="F2F8F8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en-IN" sz="2160" dirty="0">
                <a:solidFill>
                  <a:srgbClr val="BEB7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	assert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9A9A9A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p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!=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 err="1">
                <a:solidFill>
                  <a:srgbClr val="569CD6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nullptr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&amp;&amp;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E8C9BB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"</a:t>
            </a:r>
            <a:r>
              <a:rPr lang="en-IN" sz="2160" dirty="0">
                <a:solidFill>
                  <a:srgbClr val="F1FA8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Pointer is null</a:t>
            </a:r>
            <a:r>
              <a:rPr lang="en-IN" sz="2160" dirty="0">
                <a:solidFill>
                  <a:srgbClr val="E8C9BB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"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F2F8F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 </a:t>
            </a:r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;</a:t>
            </a:r>
            <a:endParaRPr lang="en-IN" sz="2160" dirty="0">
              <a:solidFill>
                <a:srgbClr val="F2F8F8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en-IN" sz="2160" dirty="0">
                <a:solidFill>
                  <a:srgbClr val="6272A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	//Rest of the code</a:t>
            </a:r>
          </a:p>
          <a:p>
            <a:endParaRPr lang="en-IN" sz="2160" dirty="0">
              <a:solidFill>
                <a:srgbClr val="F2F8F8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en-IN" sz="2160" dirty="0">
                <a:solidFill>
                  <a:srgbClr val="B4B4B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}</a:t>
            </a:r>
            <a:endParaRPr lang="en-IN" sz="2160" dirty="0"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CDD052-97C1-23E7-677B-67F036FCDDEC}"/>
              </a:ext>
            </a:extLst>
          </p:cNvPr>
          <p:cNvSpPr txBox="1"/>
          <p:nvPr/>
        </p:nvSpPr>
        <p:spPr>
          <a:xfrm>
            <a:off x="3178649" y="4482724"/>
            <a:ext cx="6137112" cy="42473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0" i="0">
                <a:effectLst/>
                <a:latin typeface="fkGroteskNeue"/>
              </a:defRPr>
            </a:lvl1pPr>
          </a:lstStyle>
          <a:p>
            <a:r>
              <a:rPr lang="en-IN" sz="2160" dirty="0"/>
              <a:t>Assertion failed: p != </a:t>
            </a:r>
            <a:r>
              <a:rPr lang="en-IN" sz="2160" dirty="0" err="1"/>
              <a:t>nullptr</a:t>
            </a:r>
            <a:r>
              <a:rPr lang="en-IN" sz="2160" dirty="0"/>
              <a:t> &amp;&amp; "Pointer is null"</a:t>
            </a:r>
          </a:p>
        </p:txBody>
      </p:sp>
    </p:spTree>
    <p:extLst>
      <p:ext uri="{BB962C8B-B14F-4D97-AF65-F5344CB8AC3E}">
        <p14:creationId xmlns:p14="http://schemas.microsoft.com/office/powerpoint/2010/main" val="95880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FD5-9A54-42D6-8E75-19468485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Compile-Time Assertion</a:t>
            </a: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87446F-4DA9-4580-8AF2-445F6FFBD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C++11 provides </a:t>
            </a:r>
            <a:r>
              <a:rPr lang="en-US" i="1" dirty="0" err="1"/>
              <a:t>static_assert</a:t>
            </a:r>
            <a:r>
              <a:rPr lang="en-US" i="1" dirty="0"/>
              <a:t> </a:t>
            </a:r>
            <a:r>
              <a:rPr lang="en-US" dirty="0"/>
              <a:t>to assert expressions at compile-time</a:t>
            </a:r>
          </a:p>
          <a:p>
            <a:r>
              <a:rPr lang="en-US" dirty="0"/>
              <a:t>Accepts an expression &amp; a text message (optional in C++17)</a:t>
            </a:r>
          </a:p>
          <a:p>
            <a:r>
              <a:rPr lang="en-US" dirty="0"/>
              <a:t>The expression must be a compile-time expression convertible to constant bool</a:t>
            </a:r>
          </a:p>
          <a:p>
            <a:r>
              <a:rPr lang="en-US" dirty="0"/>
              <a:t>The expression is not evaluated</a:t>
            </a:r>
          </a:p>
          <a:p>
            <a:r>
              <a:rPr lang="en-US" dirty="0"/>
              <a:t>If the expression returns false, a compile-time error is issued along with the text message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67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D47F1B-7942-4FD9-A55B-2CF14E99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729C1-8CB5-4B91-A134-7604EC64C3A3}"/>
              </a:ext>
            </a:extLst>
          </p:cNvPr>
          <p:cNvSpPr txBox="1"/>
          <p:nvPr/>
        </p:nvSpPr>
        <p:spPr>
          <a:xfrm>
            <a:off x="3352800" y="2051595"/>
            <a:ext cx="5486400" cy="10895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160" dirty="0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template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&lt;</a:t>
            </a:r>
            <a:r>
              <a:rPr lang="en-IN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typename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,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 err="1">
                <a:solidFill>
                  <a:srgbClr val="2B91A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size_t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size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&gt;</a:t>
            </a:r>
            <a:endParaRPr lang="en-IN" sz="2160" dirty="0">
              <a:solidFill>
                <a:srgbClr val="DCDCDC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en-IN" sz="2160" dirty="0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void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7B6FC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Evaluate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en-IN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const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(&amp;</a:t>
            </a:r>
            <a:r>
              <a:rPr lang="en-IN" sz="2160" dirty="0" err="1">
                <a:solidFill>
                  <a:srgbClr val="C8C8C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arr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)[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size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])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{</a:t>
            </a:r>
            <a:endParaRPr lang="en-IN" sz="2160" dirty="0">
              <a:solidFill>
                <a:srgbClr val="DCDCDC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pPr lvl="1"/>
            <a:r>
              <a:rPr lang="en-IN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static_assert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size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&lt;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78C6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128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)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93E97-6D07-41A6-AE45-D847A590D755}"/>
              </a:ext>
            </a:extLst>
          </p:cNvPr>
          <p:cNvSpPr txBox="1"/>
          <p:nvPr/>
        </p:nvSpPr>
        <p:spPr>
          <a:xfrm>
            <a:off x="3196784" y="4138070"/>
            <a:ext cx="6462935" cy="10895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160" dirty="0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template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&lt;</a:t>
            </a:r>
            <a:r>
              <a:rPr lang="en-IN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typename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&gt;</a:t>
            </a:r>
            <a:endParaRPr lang="en-IN" sz="2160" dirty="0">
              <a:solidFill>
                <a:srgbClr val="DCDCDC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fr-FR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void</a:t>
            </a:r>
            <a:r>
              <a:rPr lang="fr-FR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fr-FR" sz="2160" dirty="0" err="1">
                <a:solidFill>
                  <a:srgbClr val="7B6FC4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Serialize</a:t>
            </a:r>
            <a:r>
              <a:rPr lang="fr-FR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fr-FR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const</a:t>
            </a:r>
            <a:r>
              <a:rPr lang="fr-FR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fr-FR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</a:t>
            </a:r>
            <a:r>
              <a:rPr lang="fr-FR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fr-FR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&amp;</a:t>
            </a:r>
            <a:r>
              <a:rPr lang="fr-FR" sz="2160" dirty="0" err="1">
                <a:solidFill>
                  <a:srgbClr val="C8C8C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obj</a:t>
            </a:r>
            <a:r>
              <a:rPr lang="fr-FR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)</a:t>
            </a:r>
            <a:r>
              <a:rPr lang="fr-FR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fr-FR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{</a:t>
            </a:r>
            <a:endParaRPr lang="fr-FR" sz="2160" dirty="0">
              <a:solidFill>
                <a:srgbClr val="DCDCDC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  <a:p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	</a:t>
            </a:r>
            <a:r>
              <a:rPr lang="en-IN" sz="2160" dirty="0" err="1">
                <a:solidFill>
                  <a:srgbClr val="D5A2D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static_assert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(</a:t>
            </a:r>
            <a:r>
              <a:rPr lang="en-IN" sz="2160" dirty="0">
                <a:solidFill>
                  <a:srgbClr val="CAC751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std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::</a:t>
            </a:r>
            <a:r>
              <a:rPr lang="en-IN" sz="2160" dirty="0" err="1">
                <a:solidFill>
                  <a:srgbClr val="FBB3C8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is_trivial_v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&lt;</a:t>
            </a:r>
            <a:r>
              <a:rPr lang="en-IN" sz="2160" dirty="0">
                <a:solidFill>
                  <a:srgbClr val="00A600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T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&gt;)</a:t>
            </a:r>
            <a:r>
              <a:rPr lang="en-IN" sz="2160" dirty="0">
                <a:solidFill>
                  <a:srgbClr val="DCDCDC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 </a:t>
            </a:r>
            <a:r>
              <a:rPr lang="en-IN" sz="2160" dirty="0">
                <a:solidFill>
                  <a:srgbClr val="FFFFFF"/>
                </a:solidFill>
                <a:latin typeface="Iosevka" panose="02000509030000000004" pitchFamily="49" charset="0"/>
                <a:ea typeface="Iosevka" panose="02000509030000000004" pitchFamily="49" charset="0"/>
                <a:cs typeface="Iosevka" panose="02000509030000000004" pitchFamily="49" charset="0"/>
              </a:rPr>
              <a:t>;</a:t>
            </a:r>
            <a:endParaRPr lang="en-IN" sz="2160" dirty="0">
              <a:solidFill>
                <a:srgbClr val="DCDCDC"/>
              </a:solidFill>
              <a:latin typeface="Iosevka" panose="02000509030000000004" pitchFamily="49" charset="0"/>
              <a:ea typeface="Iosevka" panose="02000509030000000004" pitchFamily="49" charset="0"/>
              <a:cs typeface="Iosevka" panose="0200050903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7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Studio Debugger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Powerful debugger best suited for debugging user mode applications</a:t>
            </a:r>
          </a:p>
          <a:p>
            <a:r>
              <a:rPr lang="en-US" dirty="0"/>
              <a:t>Supports a wide array of features including </a:t>
            </a:r>
          </a:p>
          <a:p>
            <a:pPr lvl="1"/>
            <a:r>
              <a:rPr lang="en-US" dirty="0"/>
              <a:t>Watch windows</a:t>
            </a:r>
          </a:p>
          <a:p>
            <a:pPr lvl="1"/>
            <a:r>
              <a:rPr lang="en-US" dirty="0"/>
              <a:t>Breakpoints</a:t>
            </a:r>
          </a:p>
          <a:p>
            <a:pPr lvl="1"/>
            <a:r>
              <a:rPr lang="en-US" dirty="0"/>
              <a:t>Memory windows</a:t>
            </a:r>
          </a:p>
          <a:p>
            <a:pPr lvl="1"/>
            <a:r>
              <a:rPr lang="en-US" dirty="0"/>
              <a:t>Function call stack tracing</a:t>
            </a:r>
          </a:p>
          <a:p>
            <a:pPr lvl="1"/>
            <a:r>
              <a:rPr lang="en-US" dirty="0"/>
              <a:t>Disassembly window</a:t>
            </a:r>
          </a:p>
          <a:p>
            <a:pPr lvl="1"/>
            <a:r>
              <a:rPr lang="en-US" dirty="0"/>
              <a:t>Registers windows</a:t>
            </a:r>
          </a:p>
          <a:p>
            <a:pPr lvl="1"/>
            <a:r>
              <a:rPr lang="en-US" dirty="0"/>
              <a:t>Threads window</a:t>
            </a:r>
          </a:p>
          <a:p>
            <a:r>
              <a:rPr lang="en-IN" dirty="0"/>
              <a:t>Most are accessible only during debugging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2D09-8BE2-4365-952D-EF8A3CF9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Debug Windows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0E5524-8A23-4E91-A6E3-A31680669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142" y="1359373"/>
            <a:ext cx="3041320" cy="51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1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BDF0-8206-4CC0-AAF0-70A1008B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Starting Debugging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E3255-4C2E-4A1C-B721-BD1FC9761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2"/>
          <a:stretch>
            <a:fillRect/>
          </a:stretch>
        </p:blipFill>
        <p:spPr>
          <a:xfrm>
            <a:off x="3025833" y="1696780"/>
            <a:ext cx="3070168" cy="39346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B935F6-52A6-4F4D-9C57-1889A34CBF85}"/>
              </a:ext>
            </a:extLst>
          </p:cNvPr>
          <p:cNvCxnSpPr>
            <a:cxnSpLocks/>
          </p:cNvCxnSpPr>
          <p:nvPr/>
        </p:nvCxnSpPr>
        <p:spPr>
          <a:xfrm flipH="1">
            <a:off x="2342798" y="2564904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E99C189-1B7F-4CE9-91F5-2E8FEC0C526B}"/>
              </a:ext>
            </a:extLst>
          </p:cNvPr>
          <p:cNvSpPr txBox="1"/>
          <p:nvPr/>
        </p:nvSpPr>
        <p:spPr>
          <a:xfrm>
            <a:off x="441787" y="2337382"/>
            <a:ext cx="1901011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Run the program through debugger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A1556-BB93-4BE1-90FA-24CD7BE1555E}"/>
              </a:ext>
            </a:extLst>
          </p:cNvPr>
          <p:cNvSpPr txBox="1"/>
          <p:nvPr/>
        </p:nvSpPr>
        <p:spPr>
          <a:xfrm>
            <a:off x="9740" y="3516292"/>
            <a:ext cx="225682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Jumps into a function during debugging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F434F0-026F-416E-BCFF-DC807BD94053}"/>
              </a:ext>
            </a:extLst>
          </p:cNvPr>
          <p:cNvSpPr txBox="1"/>
          <p:nvPr/>
        </p:nvSpPr>
        <p:spPr>
          <a:xfrm>
            <a:off x="-1155" y="4183320"/>
            <a:ext cx="2256829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Steps over a function during debugging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794079-6F5C-424B-BC10-D6DA2DA8DAE8}"/>
              </a:ext>
            </a:extLst>
          </p:cNvPr>
          <p:cNvCxnSpPr>
            <a:cxnSpLocks/>
          </p:cNvCxnSpPr>
          <p:nvPr/>
        </p:nvCxnSpPr>
        <p:spPr>
          <a:xfrm flipH="1">
            <a:off x="2342798" y="3947458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BB4427-318E-49EA-AA89-07DB8C148002}"/>
              </a:ext>
            </a:extLst>
          </p:cNvPr>
          <p:cNvCxnSpPr>
            <a:cxnSpLocks/>
          </p:cNvCxnSpPr>
          <p:nvPr/>
        </p:nvCxnSpPr>
        <p:spPr>
          <a:xfrm flipH="1">
            <a:off x="2342798" y="4226601"/>
            <a:ext cx="882893" cy="26843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738618F-C0CC-4718-92F4-31F3C840C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639" y="1600298"/>
            <a:ext cx="3760127" cy="46943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876A1F-D170-47F2-9800-23707CB4CF7F}"/>
              </a:ext>
            </a:extLst>
          </p:cNvPr>
          <p:cNvSpPr txBox="1"/>
          <p:nvPr/>
        </p:nvSpPr>
        <p:spPr>
          <a:xfrm>
            <a:off x="10584510" y="4144156"/>
            <a:ext cx="141042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40"/>
              <a:t>Start debugging and pause at this line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9EB319-FBCE-401C-83F5-6961D12CB82A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9862851" y="4522721"/>
            <a:ext cx="721659" cy="28846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06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8D74-930B-47FF-861D-EA9D71130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 &amp; Stop Debugging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43CA0-FC0B-4B35-B56C-5FC16E74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Won’t step into standard library code by default</a:t>
            </a:r>
          </a:p>
          <a:p>
            <a:r>
              <a:rPr lang="en-US" dirty="0"/>
              <a:t>The default can be changed in case you want to step into standard library code</a:t>
            </a:r>
          </a:p>
          <a:p>
            <a:r>
              <a:rPr lang="en-US" dirty="0"/>
              <a:t>If some source is not available during debugging, disassembly is displayed</a:t>
            </a:r>
          </a:p>
        </p:txBody>
      </p:sp>
    </p:spTree>
    <p:extLst>
      <p:ext uri="{BB962C8B-B14F-4D97-AF65-F5344CB8AC3E}">
        <p14:creationId xmlns:p14="http://schemas.microsoft.com/office/powerpoint/2010/main" val="330129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E719-91F6-47FA-B3F1-9EDDE3B7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Debugging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25E59-ED90-4CA0-8DBF-FBC38EB3F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495" y="1359862"/>
            <a:ext cx="2703868" cy="504830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62C549-64B8-4212-9951-DE337D95F7DC}"/>
              </a:ext>
            </a:extLst>
          </p:cNvPr>
          <p:cNvCxnSpPr>
            <a:cxnSpLocks/>
          </p:cNvCxnSpPr>
          <p:nvPr/>
        </p:nvCxnSpPr>
        <p:spPr>
          <a:xfrm flipH="1">
            <a:off x="4220159" y="1832546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0EBC6D-D105-40FB-A15F-E011C9579BD7}"/>
              </a:ext>
            </a:extLst>
          </p:cNvPr>
          <p:cNvSpPr txBox="1"/>
          <p:nvPr/>
        </p:nvSpPr>
        <p:spPr>
          <a:xfrm>
            <a:off x="2116939" y="1408264"/>
            <a:ext cx="2114621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Continue debugging if paused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A60778-D670-4A8E-8DC2-0A7947A01A10}"/>
              </a:ext>
            </a:extLst>
          </p:cNvPr>
          <p:cNvCxnSpPr>
            <a:cxnSpLocks/>
          </p:cNvCxnSpPr>
          <p:nvPr/>
        </p:nvCxnSpPr>
        <p:spPr>
          <a:xfrm flipH="1">
            <a:off x="4243810" y="2209891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AB5F2-7EAD-428E-812D-3BF6106491B2}"/>
              </a:ext>
            </a:extLst>
          </p:cNvPr>
          <p:cNvSpPr txBox="1"/>
          <p:nvPr/>
        </p:nvSpPr>
        <p:spPr>
          <a:xfrm>
            <a:off x="2105538" y="2036128"/>
            <a:ext cx="2114621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Stop debugging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17FEB-E2DA-46FA-A494-735C7FFAF194}"/>
              </a:ext>
            </a:extLst>
          </p:cNvPr>
          <p:cNvSpPr txBox="1"/>
          <p:nvPr/>
        </p:nvSpPr>
        <p:spPr>
          <a:xfrm>
            <a:off x="2105538" y="2695054"/>
            <a:ext cx="2114621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Restart debugging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A5F835-3301-497C-B97B-35728D0567B9}"/>
              </a:ext>
            </a:extLst>
          </p:cNvPr>
          <p:cNvCxnSpPr>
            <a:cxnSpLocks/>
          </p:cNvCxnSpPr>
          <p:nvPr/>
        </p:nvCxnSpPr>
        <p:spPr>
          <a:xfrm flipH="1">
            <a:off x="4220159" y="2934110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6A1B7E-22E4-4DD9-9DBA-ECDD1C2A9855}"/>
              </a:ext>
            </a:extLst>
          </p:cNvPr>
          <p:cNvSpPr txBox="1"/>
          <p:nvPr/>
        </p:nvSpPr>
        <p:spPr>
          <a:xfrm>
            <a:off x="2261244" y="3931397"/>
            <a:ext cx="1935264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80"/>
              <a:t>Step out of a function quickly during debugging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586371-95F0-44FE-8F5D-3B4012DFE876}"/>
              </a:ext>
            </a:extLst>
          </p:cNvPr>
          <p:cNvCxnSpPr>
            <a:cxnSpLocks/>
          </p:cNvCxnSpPr>
          <p:nvPr/>
        </p:nvCxnSpPr>
        <p:spPr>
          <a:xfrm flipH="1">
            <a:off x="4220159" y="4283722"/>
            <a:ext cx="90168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53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BB8B-C2CA-4ADB-A717-A6A93004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More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D39FE5-9840-42C2-98BF-6BC4C1EAE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124944"/>
          </a:xfrm>
        </p:spPr>
        <p:txBody>
          <a:bodyPr>
            <a:normAutofit/>
          </a:bodyPr>
          <a:lstStyle/>
          <a:p>
            <a:r>
              <a:rPr lang="en-IN"/>
              <a:t>During debugging, you have the following options</a:t>
            </a:r>
          </a:p>
          <a:p>
            <a:pPr lvl="1"/>
            <a:r>
              <a:rPr lang="en-IN"/>
              <a:t>execute code line by line</a:t>
            </a:r>
          </a:p>
          <a:p>
            <a:pPr lvl="1"/>
            <a:r>
              <a:rPr lang="en-IN"/>
              <a:t>restart debugging</a:t>
            </a:r>
          </a:p>
          <a:p>
            <a:pPr lvl="1"/>
            <a:r>
              <a:rPr lang="en-IN"/>
              <a:t>stop debugging</a:t>
            </a:r>
          </a:p>
          <a:p>
            <a:pPr lvl="1"/>
            <a:r>
              <a:rPr lang="en-IN"/>
              <a:t>continue program execution</a:t>
            </a:r>
          </a:p>
          <a:p>
            <a:pPr lvl="1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3C2F1-0F1E-45AA-8690-BF512A09E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399" y="4984373"/>
            <a:ext cx="6595110" cy="8458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C3B932-BA14-415E-A674-0FD6B3D2C738}"/>
              </a:ext>
            </a:extLst>
          </p:cNvPr>
          <p:cNvCxnSpPr>
            <a:cxnSpLocks/>
          </p:cNvCxnSpPr>
          <p:nvPr/>
        </p:nvCxnSpPr>
        <p:spPr>
          <a:xfrm>
            <a:off x="6268819" y="4465915"/>
            <a:ext cx="0" cy="659683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C96485-AA82-4E88-B98F-86A98E9D4C7C}"/>
              </a:ext>
            </a:extLst>
          </p:cNvPr>
          <p:cNvCxnSpPr>
            <a:cxnSpLocks/>
          </p:cNvCxnSpPr>
          <p:nvPr/>
        </p:nvCxnSpPr>
        <p:spPr>
          <a:xfrm>
            <a:off x="7578953" y="3688229"/>
            <a:ext cx="0" cy="148714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6C99AB-78D6-443A-84A1-6FC0475A00B3}"/>
              </a:ext>
            </a:extLst>
          </p:cNvPr>
          <p:cNvCxnSpPr>
            <a:cxnSpLocks/>
          </p:cNvCxnSpPr>
          <p:nvPr/>
        </p:nvCxnSpPr>
        <p:spPr>
          <a:xfrm>
            <a:off x="7824192" y="3162672"/>
            <a:ext cx="0" cy="2042237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BCAAFC-351D-4AC0-9755-A9F7F0BDA633}"/>
              </a:ext>
            </a:extLst>
          </p:cNvPr>
          <p:cNvCxnSpPr>
            <a:cxnSpLocks/>
          </p:cNvCxnSpPr>
          <p:nvPr/>
        </p:nvCxnSpPr>
        <p:spPr>
          <a:xfrm>
            <a:off x="8601878" y="2478494"/>
            <a:ext cx="0" cy="2647104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CD7234-87DA-4615-8B75-9EBAA4017026}"/>
              </a:ext>
            </a:extLst>
          </p:cNvPr>
          <p:cNvCxnSpPr>
            <a:cxnSpLocks/>
          </p:cNvCxnSpPr>
          <p:nvPr/>
        </p:nvCxnSpPr>
        <p:spPr>
          <a:xfrm flipH="1">
            <a:off x="6268819" y="2478494"/>
            <a:ext cx="233305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4AECFD-A00A-4448-AF0F-9AA215CB9F98}"/>
              </a:ext>
            </a:extLst>
          </p:cNvPr>
          <p:cNvCxnSpPr>
            <a:cxnSpLocks/>
          </p:cNvCxnSpPr>
          <p:nvPr/>
        </p:nvCxnSpPr>
        <p:spPr>
          <a:xfrm flipH="1">
            <a:off x="5059085" y="3162672"/>
            <a:ext cx="276510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3FF334-DA57-470F-AA21-4E179B61F95F}"/>
              </a:ext>
            </a:extLst>
          </p:cNvPr>
          <p:cNvCxnSpPr>
            <a:cxnSpLocks/>
          </p:cNvCxnSpPr>
          <p:nvPr/>
        </p:nvCxnSpPr>
        <p:spPr>
          <a:xfrm flipH="1">
            <a:off x="4813846" y="3680123"/>
            <a:ext cx="276510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8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4395-1027-432A-AACA-9BC032F2C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Datatips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EA8BF-31C6-441C-AA9D-C77CD06AA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convenient way to view variable information</a:t>
            </a:r>
          </a:p>
          <a:p>
            <a:r>
              <a:rPr lang="en-US" dirty="0"/>
              <a:t>Can be set only in debug mode</a:t>
            </a:r>
          </a:p>
          <a:p>
            <a:r>
              <a:rPr lang="en-US" dirty="0"/>
              <a:t>Hovering over a variable displays a data tip that contains the name &amp; current value</a:t>
            </a:r>
          </a:p>
          <a:p>
            <a:r>
              <a:rPr lang="en-US" dirty="0"/>
              <a:t>Can be pinned and dragged anywhere afterwards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79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067832-C2DB-4BCF-A51D-0AB215BB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err="1">
                <a:cs typeface="Calibri"/>
              </a:rPr>
              <a:t>Datatips</a:t>
            </a:r>
            <a:endParaRPr lang="en-IN" err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8320C-B9DE-47BE-85C4-2BA763DC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595" y="2616640"/>
            <a:ext cx="4194810" cy="126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5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B9CE-CEFE-44EE-95BF-DC685BF0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Locals &amp; Autos Window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33C8B-C6E4-4967-82F1-BC2BB803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Locals displays values of all variables declared in the current local scope</a:t>
            </a:r>
          </a:p>
          <a:p>
            <a:r>
              <a:rPr lang="en-US" dirty="0"/>
              <a:t>In member functions, doesn’t show member variables, only </a:t>
            </a:r>
            <a:r>
              <a:rPr lang="en-US" i="1" dirty="0"/>
              <a:t>this</a:t>
            </a:r>
            <a:r>
              <a:rPr lang="en-US" dirty="0"/>
              <a:t> pointer &amp; local variables</a:t>
            </a:r>
          </a:p>
          <a:p>
            <a:r>
              <a:rPr lang="en-US" dirty="0"/>
              <a:t>Autos is similar except it shows all enclosing scope variables, including class members</a:t>
            </a:r>
          </a:p>
          <a:p>
            <a:pPr lvl="1"/>
            <a:r>
              <a:rPr lang="en-US" dirty="0"/>
              <a:t>Only the variables on the last three lines are shown</a:t>
            </a:r>
          </a:p>
          <a:p>
            <a:r>
              <a:rPr lang="en-US" dirty="0"/>
              <a:t>Global &amp; static variables are not displayed; Autos window only displays them if they’re used</a:t>
            </a:r>
          </a:p>
        </p:txBody>
      </p:sp>
    </p:spTree>
    <p:extLst>
      <p:ext uri="{BB962C8B-B14F-4D97-AF65-F5344CB8AC3E}">
        <p14:creationId xmlns:p14="http://schemas.microsoft.com/office/powerpoint/2010/main" val="48052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398861-0283-4CB0-92A9-4F94FD1A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278B2-2E79-4A39-9312-0B0C42507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54" y="1754666"/>
            <a:ext cx="4534681" cy="346492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17378F4-72CD-4F08-907A-C2C88BA5B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5" y="1752385"/>
            <a:ext cx="3517542" cy="388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1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err="1"/>
              <a:t>Watc</a:t>
            </a:r>
            <a:r>
              <a:rPr lang="en-IN" err="1"/>
              <a:t>hes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Studio provide four types of variable windows:</a:t>
            </a:r>
          </a:p>
          <a:p>
            <a:pPr lvl="1"/>
            <a:r>
              <a:rPr lang="en-US" dirty="0" err="1"/>
              <a:t>Quickwatch</a:t>
            </a:r>
            <a:r>
              <a:rPr lang="en-US" dirty="0"/>
              <a:t> (</a:t>
            </a:r>
            <a:r>
              <a:rPr lang="en-US" dirty="0" err="1"/>
              <a:t>Datatip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Locals</a:t>
            </a:r>
          </a:p>
          <a:p>
            <a:pPr lvl="1"/>
            <a:r>
              <a:rPr lang="en-US" dirty="0"/>
              <a:t>Autos</a:t>
            </a:r>
          </a:p>
          <a:p>
            <a:pPr lvl="1"/>
            <a:r>
              <a:rPr lang="en-US" dirty="0"/>
              <a:t>Watch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30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6C7A-CA8E-6401-0CD2-8E9F48BD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1406E-55DE-1624-B4AE-E37E031C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persistent, customizable window that displays values of variables &amp; expressions</a:t>
            </a:r>
          </a:p>
          <a:p>
            <a:r>
              <a:rPr lang="en-US" dirty="0"/>
              <a:t>Unlike Autos &amp; Locals, the variables stick and remain visible across frames</a:t>
            </a:r>
          </a:p>
          <a:p>
            <a:r>
              <a:rPr lang="en-US" dirty="0"/>
              <a:t>Can accept any valid expression; even nested members of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999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Watch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addition to displaying value of a variable, a watch window provides a lot of features</a:t>
            </a:r>
          </a:p>
          <a:p>
            <a:r>
              <a:rPr lang="en-US" dirty="0"/>
              <a:t>During debugging, it can</a:t>
            </a:r>
          </a:p>
          <a:p>
            <a:pPr lvl="1"/>
            <a:r>
              <a:rPr lang="en-US" dirty="0"/>
              <a:t>evaluate expressions </a:t>
            </a:r>
          </a:p>
          <a:p>
            <a:pPr lvl="1"/>
            <a:r>
              <a:rPr lang="en-US" dirty="0"/>
              <a:t>invoke simple C functions</a:t>
            </a:r>
          </a:p>
          <a:p>
            <a:pPr lvl="1"/>
            <a:r>
              <a:rPr lang="en-US" dirty="0"/>
              <a:t>accept format specifiers </a:t>
            </a:r>
          </a:p>
          <a:p>
            <a:pPr lvl="1"/>
            <a:r>
              <a:rPr lang="en-US" dirty="0"/>
              <a:t>change the value of variables at runtime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07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731E-AF2C-4651-A237-2268BE24C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Expression Evaluation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6DC7-4BD3-4F1E-86DC-9480865E6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 can invoke C functions &amp; debugger intrinsic functions in watch (string functions)</a:t>
            </a:r>
          </a:p>
          <a:p>
            <a:r>
              <a:rPr lang="en-US"/>
              <a:t>May not support all types of expressions e.g., expressions that require calls to constructors/destructors, conversions, etc.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69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3FF5-55A5-B51B-723C-0A6F5C56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B6952-07BB-4609-A4F3-06BA7E93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93" y="2014163"/>
            <a:ext cx="3868615" cy="361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0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Breakpoints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Breakpoints are special markers that pause the program while debugging </a:t>
            </a:r>
          </a:p>
          <a:p>
            <a:r>
              <a:rPr lang="en-US" dirty="0"/>
              <a:t>Work only during debugging</a:t>
            </a:r>
          </a:p>
          <a:p>
            <a:r>
              <a:rPr lang="en-US" dirty="0"/>
              <a:t>The program is said to be in break mode</a:t>
            </a:r>
          </a:p>
          <a:p>
            <a:r>
              <a:rPr lang="en-US" dirty="0"/>
              <a:t>Helps to inspect variables, memory, call stack, etc., and then step or continue</a:t>
            </a:r>
          </a:p>
          <a:p>
            <a:r>
              <a:rPr lang="en-US" dirty="0"/>
              <a:t>Additionally, you can run to current line &amp; break instead of setting a breakpoint</a:t>
            </a:r>
          </a:p>
          <a:p>
            <a:r>
              <a:rPr lang="en-US" dirty="0"/>
              <a:t>Can be of various types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3BB72-D4D5-9FE5-506C-7333AFD5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Breakpoint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07E03-E511-1AC1-9406-C75BCAEBF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Simple</a:t>
            </a:r>
          </a:p>
          <a:p>
            <a:r>
              <a:rPr lang="en-US" dirty="0"/>
              <a:t>Address</a:t>
            </a:r>
          </a:p>
          <a:p>
            <a:r>
              <a:rPr lang="en-US" dirty="0"/>
              <a:t>Conditional</a:t>
            </a:r>
          </a:p>
          <a:p>
            <a:r>
              <a:rPr lang="en-US" dirty="0"/>
              <a:t>Hit Count</a:t>
            </a:r>
          </a:p>
          <a:p>
            <a:r>
              <a:rPr lang="en-US" dirty="0"/>
              <a:t>Function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Temporary</a:t>
            </a:r>
          </a:p>
          <a:p>
            <a:r>
              <a:rPr lang="en-US" dirty="0"/>
              <a:t>Actions &amp; </a:t>
            </a:r>
            <a:r>
              <a:rPr lang="en-US" dirty="0" err="1"/>
              <a:t>Tracepoints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1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Tracepoints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Tracepoints</a:t>
            </a:r>
            <a:r>
              <a:rPr lang="en-US" dirty="0"/>
              <a:t> are special kind of breakpoints that perform a custom action when the breakpoint is hit in addition to breaking program execution</a:t>
            </a:r>
          </a:p>
          <a:p>
            <a:r>
              <a:rPr lang="en-US" dirty="0"/>
              <a:t>There are two options that decide the action when the breakpoint is hit</a:t>
            </a:r>
          </a:p>
          <a:p>
            <a:pPr lvl="1"/>
            <a:r>
              <a:rPr lang="en-US" dirty="0"/>
              <a:t>Print a message and/or</a:t>
            </a:r>
          </a:p>
          <a:p>
            <a:pPr lvl="1"/>
            <a:r>
              <a:rPr lang="en-US" dirty="0"/>
              <a:t>Execute a macro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Tracepoints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239C6E-AF72-42DB-B7D9-8D0D0570A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209" y="2468356"/>
            <a:ext cx="6845582" cy="175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2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9446-749F-4DCA-83B0-91621A36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Important Windows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BF3ED-BC50-490A-A167-8872BC02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Debuggers can provide lot of information during debugging</a:t>
            </a:r>
          </a:p>
          <a:p>
            <a:r>
              <a:rPr lang="en-US"/>
              <a:t>More debug information can be displayed in the following windows</a:t>
            </a:r>
          </a:p>
          <a:p>
            <a:pPr lvl="1"/>
            <a:r>
              <a:rPr lang="en-US"/>
              <a:t>Call Stack</a:t>
            </a:r>
          </a:p>
          <a:p>
            <a:pPr lvl="1"/>
            <a:r>
              <a:rPr lang="en-US"/>
              <a:t>Disassembly</a:t>
            </a:r>
          </a:p>
          <a:p>
            <a:pPr lvl="1"/>
            <a:r>
              <a:rPr lang="en-US"/>
              <a:t>Expressions</a:t>
            </a:r>
          </a:p>
          <a:p>
            <a:pPr lvl="1"/>
            <a:r>
              <a:rPr lang="en-US"/>
              <a:t>Threads</a:t>
            </a:r>
          </a:p>
          <a:p>
            <a:pPr lvl="1"/>
            <a:r>
              <a:rPr lang="en-US"/>
              <a:t>Memory</a:t>
            </a:r>
          </a:p>
          <a:p>
            <a:pPr lvl="1"/>
            <a:r>
              <a:rPr lang="en-US"/>
              <a:t>etc...</a:t>
            </a:r>
          </a:p>
        </p:txBody>
      </p:sp>
    </p:spTree>
    <p:extLst>
      <p:ext uri="{BB962C8B-B14F-4D97-AF65-F5344CB8AC3E}">
        <p14:creationId xmlns:p14="http://schemas.microsoft.com/office/powerpoint/2010/main" val="321022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F4BE-3233-42A2-9A79-8D48D0F9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Call Stack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CA1C3-AEB7-4866-9F65-AA924A01C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window is only visible during debugging</a:t>
            </a:r>
          </a:p>
          <a:p>
            <a:r>
              <a:rPr lang="en-IN" dirty="0"/>
              <a:t>Displays the active chain of function calls on the current thread</a:t>
            </a:r>
          </a:p>
          <a:p>
            <a:pPr lvl="1"/>
            <a:r>
              <a:rPr lang="en-IN" dirty="0"/>
              <a:t>most recent frame are at the top and callers below</a:t>
            </a:r>
            <a:endParaRPr lang="en-US" dirty="0"/>
          </a:p>
          <a:p>
            <a:r>
              <a:rPr lang="en-IN" dirty="0"/>
              <a:t>Helps reconstruct the execution path during debugging</a:t>
            </a:r>
          </a:p>
          <a:p>
            <a:r>
              <a:rPr lang="en-IN" dirty="0"/>
              <a:t>Double‑click a frame to navigate and make it the active frame; Autos/Locals update to that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2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019B-C4FF-4BB6-91F7-B14AB1D7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Disassembly</a:t>
            </a:r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852423-EE83-4106-BF82-DEE7B548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Shows the generated assembly code during debugging</a:t>
            </a:r>
          </a:p>
          <a:p>
            <a:r>
              <a:rPr lang="en-US" dirty="0"/>
              <a:t>It can be used to understand the code generated by the compiler</a:t>
            </a:r>
          </a:p>
          <a:p>
            <a:r>
              <a:rPr lang="en-US" dirty="0"/>
              <a:t>e.g., virtual function call, optimized code, etc.</a:t>
            </a:r>
          </a:p>
          <a:p>
            <a:r>
              <a:rPr lang="en-US" dirty="0"/>
              <a:t>It is possible to step through the disassembly during debugging</a:t>
            </a:r>
          </a:p>
          <a:p>
            <a:r>
              <a:rPr lang="en-US" dirty="0"/>
              <a:t>Available through Debug menu in Visual Studio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59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AF6C-D9CE-A905-F8D5-9DE8C90D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Window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8DC07-B469-F4F1-B157-7BCC04FB4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the raw view of the process memory during debugging</a:t>
            </a:r>
          </a:p>
          <a:p>
            <a:r>
              <a:rPr lang="en-US" dirty="0"/>
              <a:t>The data can be viewed in different formats and columns</a:t>
            </a:r>
          </a:p>
          <a:p>
            <a:r>
              <a:rPr lang="en-US" dirty="0"/>
              <a:t>Useful to confirm member offsets or endianness</a:t>
            </a:r>
          </a:p>
          <a:p>
            <a:r>
              <a:rPr lang="en-US" dirty="0"/>
              <a:t>Available only during debugging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73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1928-D156-4258-8BD7-94922282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5A1DE-459E-455E-9297-189673737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Refers to memory allocation on heap</a:t>
            </a:r>
          </a:p>
          <a:p>
            <a:r>
              <a:rPr lang="en-IN" dirty="0"/>
              <a:t>This memory is allocated at runtime</a:t>
            </a:r>
          </a:p>
          <a:p>
            <a:r>
              <a:rPr lang="en-IN" dirty="0"/>
              <a:t>Dynamic memory can be accessed throughout the program (as long as you have the address)</a:t>
            </a:r>
          </a:p>
          <a:p>
            <a:r>
              <a:rPr lang="en-IN" dirty="0"/>
              <a:t>Dynamic memory has to be released manually by the programmer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DEDA6-8D99-959E-A570-A3EFBDB5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4830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74CF-55AB-4C53-ADC4-D35A13D2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Dynamic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CD14C-EF14-41B0-B732-72D4C8E69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Required size of memory may be unknown at compile time</a:t>
            </a:r>
          </a:p>
          <a:p>
            <a:pPr lvl="1"/>
            <a:r>
              <a:rPr lang="en-IN" dirty="0"/>
              <a:t>loading information from external source</a:t>
            </a:r>
          </a:p>
          <a:p>
            <a:pPr lvl="1"/>
            <a:r>
              <a:rPr lang="en-IN" dirty="0"/>
              <a:t>build data structures without fixed size</a:t>
            </a:r>
          </a:p>
          <a:p>
            <a:r>
              <a:rPr lang="en-IN" dirty="0"/>
              <a:t>More control over lifetime of data</a:t>
            </a:r>
          </a:p>
          <a:p>
            <a:pPr lvl="1"/>
            <a:r>
              <a:rPr lang="en-IN" dirty="0"/>
              <a:t>lifetime of stack based data has limited by scope</a:t>
            </a:r>
          </a:p>
          <a:p>
            <a:pPr lvl="1"/>
            <a:r>
              <a:rPr lang="en-IN" dirty="0"/>
              <a:t>creating big objects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ED8C1-C82D-2998-35FA-E698B1D6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962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1928-D156-4258-8BD7-94922282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Memory Allocation in 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5A1DE-459E-455E-9297-189673737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 provides the following functions to allocate memory at runtime</a:t>
            </a:r>
          </a:p>
          <a:p>
            <a:pPr lvl="1"/>
            <a:r>
              <a:rPr lang="en-IN" dirty="0"/>
              <a:t>malloc : allocates raw memory on the heap</a:t>
            </a:r>
          </a:p>
          <a:p>
            <a:pPr lvl="1"/>
            <a:r>
              <a:rPr lang="en-IN" dirty="0" err="1"/>
              <a:t>calloc</a:t>
            </a:r>
            <a:r>
              <a:rPr lang="en-IN" dirty="0"/>
              <a:t> : allocates raw memory and initializes to zero</a:t>
            </a:r>
          </a:p>
          <a:p>
            <a:pPr lvl="1"/>
            <a:r>
              <a:rPr lang="en-IN" dirty="0" err="1"/>
              <a:t>realloc</a:t>
            </a:r>
            <a:r>
              <a:rPr lang="en-IN" dirty="0"/>
              <a:t> : can change the size of memory block</a:t>
            </a:r>
          </a:p>
          <a:p>
            <a:pPr lvl="1"/>
            <a:r>
              <a:rPr lang="en-IN" dirty="0"/>
              <a:t>free : releases the memory allocated by other functions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1D56-D588-0723-24C5-F7352EFF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7943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9EE4-A1DF-4815-B209-1084372A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 Allocation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676C-7D6F-4337-8550-BA0AE2B40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Not very useful in C++</a:t>
            </a:r>
          </a:p>
          <a:p>
            <a:r>
              <a:rPr lang="en-IN" dirty="0"/>
              <a:t>Cannot initialize memory</a:t>
            </a:r>
          </a:p>
          <a:p>
            <a:r>
              <a:rPr lang="en-IN" dirty="0"/>
              <a:t>Constructors cannot be invoked during allocation</a:t>
            </a:r>
          </a:p>
          <a:p>
            <a:r>
              <a:rPr lang="en-IN" dirty="0"/>
              <a:t>Destructor cannot be invoked during deallocation</a:t>
            </a:r>
          </a:p>
          <a:p>
            <a:r>
              <a:rPr lang="en-IN" dirty="0"/>
              <a:t>Cannot be customized</a:t>
            </a:r>
          </a:p>
          <a:p>
            <a:r>
              <a:rPr lang="en-IN" dirty="0"/>
              <a:t>Return NULL on failure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BD245-FCBE-B53D-BAA0-6B45CD86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251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2919-5029-4AC5-99B4-0698B40D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C++ Allocation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5891-16C9-40B7-8826-75D084C08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C++ provides only two operators for allocating dynamic memory</a:t>
            </a:r>
          </a:p>
          <a:p>
            <a:r>
              <a:rPr lang="en-IN" dirty="0"/>
              <a:t>The operators have several forms</a:t>
            </a:r>
          </a:p>
          <a:p>
            <a:pPr lvl="1"/>
            <a:r>
              <a:rPr lang="en-IN" i="1" dirty="0"/>
              <a:t>new</a:t>
            </a:r>
            <a:r>
              <a:rPr lang="en-IN" dirty="0"/>
              <a:t> : allocates memory and optionally initializes  it (by calling constructor)</a:t>
            </a:r>
          </a:p>
          <a:p>
            <a:pPr lvl="1"/>
            <a:r>
              <a:rPr lang="en-IN" i="1" dirty="0"/>
              <a:t>delete</a:t>
            </a:r>
            <a:r>
              <a:rPr lang="en-IN" dirty="0"/>
              <a:t> : releases memory after optionally calling a destructor</a:t>
            </a:r>
          </a:p>
          <a:p>
            <a:pPr lvl="1"/>
            <a:r>
              <a:rPr lang="en-IN" i="1" dirty="0"/>
              <a:t>new[] </a:t>
            </a:r>
            <a:r>
              <a:rPr lang="en-IN" dirty="0"/>
              <a:t>: allocates memory for an array</a:t>
            </a:r>
          </a:p>
          <a:p>
            <a:pPr lvl="1"/>
            <a:r>
              <a:rPr lang="en-IN" i="1" dirty="0"/>
              <a:t>delete[] </a:t>
            </a:r>
            <a:r>
              <a:rPr lang="en-IN" dirty="0"/>
              <a:t>: releases memory for an array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31DE7-0DFA-D9DD-EFF5-48A0890A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318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938ABE-0D4C-4F19-B51F-603FBE1A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new 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176E1-AAEC-45C5-A00B-D46D5460BFDA}"/>
              </a:ext>
            </a:extLst>
          </p:cNvPr>
          <p:cNvSpPr txBox="1"/>
          <p:nvPr/>
        </p:nvSpPr>
        <p:spPr>
          <a:xfrm>
            <a:off x="838200" y="2326982"/>
            <a:ext cx="4229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i="1" dirty="0"/>
              <a:t>Number *</a:t>
            </a:r>
            <a:r>
              <a:rPr lang="en-IN" sz="2400" i="1" dirty="0" err="1"/>
              <a:t>ptr</a:t>
            </a:r>
            <a:r>
              <a:rPr lang="en-IN" sz="2400" i="1" dirty="0"/>
              <a:t> = new Number{5} 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8BC62-A57F-4619-B0A7-6952A51D6AF5}"/>
              </a:ext>
            </a:extLst>
          </p:cNvPr>
          <p:cNvSpPr txBox="1"/>
          <p:nvPr/>
        </p:nvSpPr>
        <p:spPr>
          <a:xfrm>
            <a:off x="2943905" y="3897372"/>
            <a:ext cx="2123723" cy="4616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IN" sz="2400" dirty="0"/>
              <a:t>new expression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46F51-A8D3-4B4D-B732-6A6681900382}"/>
              </a:ext>
            </a:extLst>
          </p:cNvPr>
          <p:cNvSpPr txBox="1"/>
          <p:nvPr/>
        </p:nvSpPr>
        <p:spPr>
          <a:xfrm>
            <a:off x="7371366" y="3653855"/>
            <a:ext cx="4160178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IN" i="1" dirty="0"/>
              <a:t>void *operator new(</a:t>
            </a:r>
            <a:r>
              <a:rPr lang="en-IN" i="1" dirty="0" err="1"/>
              <a:t>size_t</a:t>
            </a:r>
            <a:r>
              <a:rPr lang="en-IN" i="1" dirty="0"/>
              <a:t> size){</a:t>
            </a:r>
          </a:p>
          <a:p>
            <a:r>
              <a:rPr lang="en-IN" i="1" dirty="0"/>
              <a:t>//Allocate memory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3F3AAE-BF3A-40B5-8591-8D52D51B6DA4}"/>
              </a:ext>
            </a:extLst>
          </p:cNvPr>
          <p:cNvCxnSpPr>
            <a:cxnSpLocks/>
          </p:cNvCxnSpPr>
          <p:nvPr/>
        </p:nvCxnSpPr>
        <p:spPr>
          <a:xfrm>
            <a:off x="5238750" y="3968690"/>
            <a:ext cx="19050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482B31-BCB5-43B2-8A29-DD7FE39F8102}"/>
              </a:ext>
            </a:extLst>
          </p:cNvPr>
          <p:cNvCxnSpPr>
            <a:cxnSpLocks/>
          </p:cNvCxnSpPr>
          <p:nvPr/>
        </p:nvCxnSpPr>
        <p:spPr>
          <a:xfrm>
            <a:off x="3086100" y="2788647"/>
            <a:ext cx="0" cy="86520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1B27659-9FA3-441C-A5C9-D534D57EDADC}"/>
              </a:ext>
            </a:extLst>
          </p:cNvPr>
          <p:cNvSpPr txBox="1"/>
          <p:nvPr/>
        </p:nvSpPr>
        <p:spPr>
          <a:xfrm>
            <a:off x="5753108" y="3599358"/>
            <a:ext cx="914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Invoke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CE562D-A533-4C57-9CC0-3E45E44C8DB2}"/>
              </a:ext>
            </a:extLst>
          </p:cNvPr>
          <p:cNvCxnSpPr>
            <a:cxnSpLocks/>
          </p:cNvCxnSpPr>
          <p:nvPr/>
        </p:nvCxnSpPr>
        <p:spPr>
          <a:xfrm flipH="1">
            <a:off x="5238750" y="4263787"/>
            <a:ext cx="1905000" cy="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AD98838-0897-435F-8F79-53E3F52F19C5}"/>
              </a:ext>
            </a:extLst>
          </p:cNvPr>
          <p:cNvSpPr txBox="1"/>
          <p:nvPr/>
        </p:nvSpPr>
        <p:spPr>
          <a:xfrm>
            <a:off x="5595281" y="4340572"/>
            <a:ext cx="1248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Memory 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DE0A5-F787-4434-B9CA-6EDF59702A9B}"/>
              </a:ext>
            </a:extLst>
          </p:cNvPr>
          <p:cNvSpPr txBox="1"/>
          <p:nvPr/>
        </p:nvSpPr>
        <p:spPr>
          <a:xfrm>
            <a:off x="3972284" y="3045361"/>
            <a:ext cx="212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/>
              <a:t>Intialize</a:t>
            </a:r>
            <a:r>
              <a:rPr lang="en-IN" dirty="0"/>
              <a:t>/Invoke </a:t>
            </a:r>
            <a:r>
              <a:rPr lang="en-IN" dirty="0" err="1"/>
              <a:t>ctor</a:t>
            </a:r>
            <a:endParaRPr lang="en-I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7AA740F-2E8B-4D68-B1F1-C566202DCCC0}"/>
              </a:ext>
            </a:extLst>
          </p:cNvPr>
          <p:cNvCxnSpPr>
            <a:cxnSpLocks/>
          </p:cNvCxnSpPr>
          <p:nvPr/>
        </p:nvCxnSpPr>
        <p:spPr>
          <a:xfrm flipH="1" flipV="1">
            <a:off x="4006429" y="2788647"/>
            <a:ext cx="1" cy="86520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5BD91B-8D0A-4BFE-9F8C-46DA5DDA066C}"/>
              </a:ext>
            </a:extLst>
          </p:cNvPr>
          <p:cNvGrpSpPr/>
          <p:nvPr/>
        </p:nvGrpSpPr>
        <p:grpSpPr>
          <a:xfrm>
            <a:off x="2134330" y="1506022"/>
            <a:ext cx="1380395" cy="820960"/>
            <a:chOff x="2134330" y="1506022"/>
            <a:chExt cx="1380395" cy="820960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6928780-E167-4CE1-8C24-AA95F5DBCB1F}"/>
                </a:ext>
              </a:extLst>
            </p:cNvPr>
            <p:cNvCxnSpPr>
              <a:cxnSpLocks/>
            </p:cNvCxnSpPr>
            <p:nvPr/>
          </p:nvCxnSpPr>
          <p:spPr>
            <a:xfrm>
              <a:off x="2295525" y="1894378"/>
              <a:ext cx="0" cy="432604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FA07DFC-C877-4997-8308-15146376F4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5525" y="1894378"/>
              <a:ext cx="1208995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F2E9DA1-F441-4CBE-B9EB-8AA6032C5628}"/>
                </a:ext>
              </a:extLst>
            </p:cNvPr>
            <p:cNvCxnSpPr>
              <a:cxnSpLocks/>
            </p:cNvCxnSpPr>
            <p:nvPr/>
          </p:nvCxnSpPr>
          <p:spPr>
            <a:xfrm>
              <a:off x="3504520" y="1894378"/>
              <a:ext cx="0" cy="432604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17165C-E47C-49C8-95CA-933C831CC6D0}"/>
                </a:ext>
              </a:extLst>
            </p:cNvPr>
            <p:cNvSpPr txBox="1"/>
            <p:nvPr/>
          </p:nvSpPr>
          <p:spPr>
            <a:xfrm>
              <a:off x="2134330" y="1506022"/>
              <a:ext cx="1380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0xc001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0E9515-716C-9144-36F9-850AB774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8111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20" grpId="0"/>
      <p:bldP spid="24" grpId="0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EF94-A91C-41F7-B264-A15A6AFD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391E-D4DD-40F9-ADD8-C2CEE6E3E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delete expression </a:t>
            </a:r>
          </a:p>
          <a:p>
            <a:pPr lvl="1"/>
            <a:r>
              <a:rPr lang="en-IN" dirty="0"/>
              <a:t>invokes destructor if one is present</a:t>
            </a:r>
          </a:p>
          <a:p>
            <a:pPr lvl="1"/>
            <a:r>
              <a:rPr lang="en-IN" dirty="0"/>
              <a:t>invokes operator delete that releases the memory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D50A8-DC18-02E6-9EB9-B72315FD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6850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1CF3-B72E-451D-A45E-20B09090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new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B0BF-60B6-446F-8996-30D68DB1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new expression invokes </a:t>
            </a:r>
            <a:r>
              <a:rPr lang="en-IN" i="1" dirty="0"/>
              <a:t>operator new </a:t>
            </a:r>
            <a:r>
              <a:rPr lang="en-IN" dirty="0"/>
              <a:t>function</a:t>
            </a:r>
          </a:p>
          <a:p>
            <a:r>
              <a:rPr lang="en-IN" i="1" dirty="0"/>
              <a:t>operator new </a:t>
            </a:r>
            <a:r>
              <a:rPr lang="en-IN" dirty="0"/>
              <a:t>function will try to allocate memory</a:t>
            </a:r>
          </a:p>
          <a:p>
            <a:r>
              <a:rPr lang="en-IN" dirty="0"/>
              <a:t>On failure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it throws an exception of type </a:t>
            </a:r>
            <a:r>
              <a:rPr lang="en-US" i="1" dirty="0" err="1">
                <a:solidFill>
                  <a:srgbClr val="000000"/>
                </a:solidFill>
              </a:rPr>
              <a:t>bad_alloc</a:t>
            </a:r>
            <a:r>
              <a:rPr lang="en-US" dirty="0">
                <a:solidFill>
                  <a:srgbClr val="000000"/>
                </a:solidFill>
              </a:rPr>
              <a:t>( default behavior)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it calls a function set by </a:t>
            </a:r>
            <a:r>
              <a:rPr lang="en-US" i="1" dirty="0" err="1">
                <a:solidFill>
                  <a:srgbClr val="000000"/>
                </a:solidFill>
              </a:rPr>
              <a:t>set_new_handler</a:t>
            </a:r>
            <a:r>
              <a:rPr lang="en-US" i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function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it returns NULL (if </a:t>
            </a:r>
            <a:r>
              <a:rPr lang="en-US" i="1" dirty="0" err="1">
                <a:solidFill>
                  <a:srgbClr val="000000"/>
                </a:solidFill>
              </a:rPr>
              <a:t>nothrow</a:t>
            </a:r>
            <a:r>
              <a:rPr lang="en-US" dirty="0">
                <a:solidFill>
                  <a:srgbClr val="000000"/>
                </a:solidFill>
              </a:rPr>
              <a:t> version of new is used)</a:t>
            </a:r>
          </a:p>
          <a:p>
            <a:r>
              <a:rPr lang="en-IN" dirty="0"/>
              <a:t>On success</a:t>
            </a:r>
          </a:p>
          <a:p>
            <a:pPr lvl="1"/>
            <a:r>
              <a:rPr lang="en-IN" dirty="0"/>
              <a:t>the constructor is invoked</a:t>
            </a:r>
          </a:p>
          <a:p>
            <a:pPr lvl="1"/>
            <a:r>
              <a:rPr lang="en-IN" dirty="0"/>
              <a:t>memory address is returned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480B-060E-584E-7131-62EF981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512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Non-throwing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</a:t>
            </a:r>
            <a:r>
              <a:rPr lang="en-US" i="1" dirty="0"/>
              <a:t>new</a:t>
            </a:r>
            <a:r>
              <a:rPr lang="en-US" dirty="0"/>
              <a:t> does not throw an exception if it fails, but returns </a:t>
            </a:r>
            <a:r>
              <a:rPr lang="en-US" i="1" dirty="0" err="1"/>
              <a:t>nullptr</a:t>
            </a:r>
            <a:endParaRPr lang="en-US" i="1" dirty="0"/>
          </a:p>
          <a:p>
            <a:r>
              <a:rPr lang="en-US" dirty="0"/>
              <a:t>It is useful when it may not be possible to catch the </a:t>
            </a:r>
            <a:r>
              <a:rPr lang="en-US"/>
              <a:t>exception </a:t>
            </a:r>
          </a:p>
          <a:p>
            <a:r>
              <a:rPr lang="en-US"/>
              <a:t>For </a:t>
            </a:r>
            <a:r>
              <a:rPr lang="en-US" dirty="0"/>
              <a:t>example, you may be calling C++ code from C code. In such case, the exception if thrown, cannot be caught</a:t>
            </a:r>
          </a:p>
          <a:p>
            <a:r>
              <a:rPr lang="en-US" dirty="0"/>
              <a:t>Or an application &amp; library compiled with different compilers call each others’ code that may throw exceptions. There is no guarantee that such exceptions can be caught by either application or the library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F4C9A-EA55-49ED-F798-E626E93F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740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872E-43D4-4330-907F-05D7723B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2C2B-9E11-4BD5-BA84-A5C57A3E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600" y="1825625"/>
            <a:ext cx="93472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i="1" dirty="0"/>
              <a:t>Object *</a:t>
            </a:r>
            <a:r>
              <a:rPr lang="en-IN" i="1" dirty="0" err="1"/>
              <a:t>pObj</a:t>
            </a:r>
            <a:r>
              <a:rPr lang="en-IN" i="1" dirty="0"/>
              <a:t> = new (std::</a:t>
            </a:r>
            <a:r>
              <a:rPr lang="en-IN" i="1" dirty="0" err="1"/>
              <a:t>nothrow</a:t>
            </a:r>
            <a:r>
              <a:rPr lang="en-IN" i="1" dirty="0"/>
              <a:t>) Object{} ;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accent5">
                    <a:lumMod val="75000"/>
                  </a:schemeClr>
                </a:solidFill>
              </a:rPr>
              <a:t>//Check the value of </a:t>
            </a:r>
            <a:r>
              <a:rPr lang="en-IN" i="1" dirty="0" err="1">
                <a:solidFill>
                  <a:schemeClr val="accent5">
                    <a:lumMod val="75000"/>
                  </a:schemeClr>
                </a:solidFill>
              </a:rPr>
              <a:t>pObj</a:t>
            </a:r>
            <a:r>
              <a:rPr lang="en-IN" i="1" dirty="0">
                <a:solidFill>
                  <a:schemeClr val="accent5">
                    <a:lumMod val="75000"/>
                  </a:schemeClr>
                </a:solidFill>
              </a:rPr>
              <a:t> for </a:t>
            </a:r>
            <a:r>
              <a:rPr lang="en-IN" i="1" dirty="0" err="1">
                <a:solidFill>
                  <a:schemeClr val="accent5">
                    <a:lumMod val="75000"/>
                  </a:schemeClr>
                </a:solidFill>
              </a:rPr>
              <a:t>nullptr</a:t>
            </a:r>
            <a:endParaRPr lang="en-IN" i="1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375F1-E440-DEF5-3DFE-D1D63885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802010"/>
      </p:ext>
    </p:extLst>
  </p:cSld>
  <p:clrMapOvr>
    <a:masterClrMapping/>
  </p:clrMapOvr>
  <p:transition spd="slow">
    <p:push dir="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 new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form of new allocates memory at the address specified by the user</a:t>
            </a:r>
          </a:p>
          <a:p>
            <a:r>
              <a:rPr lang="en-US" dirty="0"/>
              <a:t>Useful for creating objects at designated memory locations</a:t>
            </a:r>
          </a:p>
          <a:p>
            <a:pPr lvl="1"/>
            <a:r>
              <a:rPr lang="en-US" dirty="0"/>
              <a:t>useful in embedded devices where objects may be stored at known locations</a:t>
            </a:r>
          </a:p>
          <a:p>
            <a:pPr lvl="1"/>
            <a:r>
              <a:rPr lang="en-US" dirty="0"/>
              <a:t>memory pooling</a:t>
            </a:r>
          </a:p>
          <a:p>
            <a:r>
              <a:rPr lang="en-US" dirty="0"/>
              <a:t>You may need to call the destructor explicitly for objects that have been created by placement new</a:t>
            </a:r>
          </a:p>
          <a:p>
            <a:r>
              <a:rPr lang="en-US" dirty="0"/>
              <a:t>Standard library uses placement new in allocators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4E76-6BC8-C722-E89E-EFE13943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5960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872E-43D4-4330-907F-05D7723B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82C2B-9E11-4BD5-BA84-A5C57A3E3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3028949"/>
            <a:ext cx="10429875" cy="31480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i="1" dirty="0"/>
              <a:t>Type *</a:t>
            </a:r>
            <a:r>
              <a:rPr lang="en-IN" sz="3200" i="1" dirty="0" err="1"/>
              <a:t>ptr</a:t>
            </a:r>
            <a:r>
              <a:rPr lang="en-IN" sz="3200" i="1" dirty="0"/>
              <a:t> = new (&lt;memory address&gt;) Type{} ;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D2C0F-6CF3-564F-92F4-35A6CD11D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141263"/>
      </p:ext>
    </p:extLst>
  </p:cSld>
  <p:clrMapOvr>
    <a:masterClrMapping/>
  </p:clrMapOvr>
  <p:transition spd="slow">
    <p:push dir="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B2A7BA-34A8-41E9-9D24-D489EB43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new functions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DFD4B2-0939-4FCC-A0FE-D52DC001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867908"/>
              </p:ext>
            </p:extLst>
          </p:nvPr>
        </p:nvGraphicFramePr>
        <p:xfrm>
          <a:off x="323850" y="1769904"/>
          <a:ext cx="11572875" cy="40386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064116">
                  <a:extLst>
                    <a:ext uri="{9D8B030D-6E8A-4147-A177-3AD203B41FA5}">
                      <a16:colId xmlns:a16="http://schemas.microsoft.com/office/drawing/2014/main" val="943387622"/>
                    </a:ext>
                  </a:extLst>
                </a:gridCol>
                <a:gridCol w="750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18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Expression</a:t>
                      </a:r>
                      <a:endParaRPr lang="en-IN" sz="2800" dirty="0">
                        <a:solidFill>
                          <a:srgbClr val="000000"/>
                        </a:solidFill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Function</a:t>
                      </a:r>
                      <a:endParaRPr lang="en-IN" sz="2800" dirty="0">
                        <a:solidFill>
                          <a:srgbClr val="000000"/>
                        </a:solidFill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 *p = new T ;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)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</a:t>
                      </a:r>
                      <a:r>
                        <a:rPr lang="en-IN" sz="2400" i="1" dirty="0"/>
                        <a:t> *p = new (std::</a:t>
                      </a:r>
                      <a:r>
                        <a:rPr lang="en-IN" sz="2400" i="1" dirty="0" err="1"/>
                        <a:t>nothrow</a:t>
                      </a:r>
                      <a:r>
                        <a:rPr lang="en-IN" sz="2400" i="1" dirty="0"/>
                        <a:t>)T ;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, const std::</a:t>
                      </a:r>
                      <a:r>
                        <a:rPr lang="en-US" sz="2400" dirty="0" err="1"/>
                        <a:t>nothrow_t</a:t>
                      </a:r>
                      <a:r>
                        <a:rPr lang="en-US" sz="2400" dirty="0"/>
                        <a:t> &amp;)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</a:t>
                      </a:r>
                      <a:r>
                        <a:rPr lang="en-IN" sz="2400" i="1" dirty="0"/>
                        <a:t> *p = new (address)T ;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, void *)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1" dirty="0">
                          <a:solidFill>
                            <a:srgbClr val="000000"/>
                          </a:solidFill>
                          <a:latin typeface="+mn-lt"/>
                        </a:rPr>
                        <a:t>T *p = new (</a:t>
                      </a:r>
                      <a:r>
                        <a:rPr lang="en-US" sz="2400" b="0" i="1" dirty="0" err="1">
                          <a:solidFill>
                            <a:srgbClr val="000000"/>
                          </a:solidFill>
                          <a:latin typeface="+mn-lt"/>
                        </a:rPr>
                        <a:t>args</a:t>
                      </a:r>
                      <a:r>
                        <a:rPr lang="en-US" sz="2400" b="0" i="1" dirty="0">
                          <a:solidFill>
                            <a:srgbClr val="000000"/>
                          </a:solidFill>
                          <a:latin typeface="+mn-lt"/>
                        </a:rPr>
                        <a:t>…)T ;</a:t>
                      </a: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void* operator new (</a:t>
                      </a:r>
                      <a:r>
                        <a:rPr lang="en-US" sz="2400" dirty="0"/>
                        <a:t>std::</a:t>
                      </a:r>
                      <a:r>
                        <a:rPr lang="en-US" sz="2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size_t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count,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args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... );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081598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 *p = new T[n] ;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new[](std::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)</a:t>
                      </a:r>
                      <a:endParaRPr lang="en-US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</a:t>
                      </a:r>
                      <a:r>
                        <a:rPr lang="en-IN" sz="2400" i="1" dirty="0"/>
                        <a:t> *p = new (std::</a:t>
                      </a:r>
                      <a:r>
                        <a:rPr lang="en-IN" sz="2400" i="1" dirty="0" err="1"/>
                        <a:t>nothrow</a:t>
                      </a:r>
                      <a:r>
                        <a:rPr lang="en-IN" sz="2400" i="1" dirty="0"/>
                        <a:t>)T[n] ;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new[](std::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, const std::</a:t>
                      </a:r>
                      <a:r>
                        <a:rPr lang="en-US" sz="2400" dirty="0" err="1"/>
                        <a:t>nothrow_t</a:t>
                      </a:r>
                      <a:r>
                        <a:rPr lang="en-US" sz="2400" dirty="0"/>
                        <a:t> &amp;)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T</a:t>
                      </a:r>
                      <a:r>
                        <a:rPr lang="en-IN" sz="2400" i="1" dirty="0"/>
                        <a:t> *p = new (address)T[n] ;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*operator new[](std::</a:t>
                      </a:r>
                      <a:r>
                        <a:rPr lang="en-US" sz="2400" dirty="0" err="1"/>
                        <a:t>size_t</a:t>
                      </a:r>
                      <a:r>
                        <a:rPr lang="en-US" sz="2400" dirty="0"/>
                        <a:t>, void *)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1" dirty="0">
                          <a:solidFill>
                            <a:srgbClr val="000000"/>
                          </a:solidFill>
                          <a:latin typeface="+mn-lt"/>
                        </a:rPr>
                        <a:t>T *p = new (</a:t>
                      </a:r>
                      <a:r>
                        <a:rPr lang="en-US" sz="2400" b="0" i="1" dirty="0" err="1">
                          <a:solidFill>
                            <a:srgbClr val="000000"/>
                          </a:solidFill>
                          <a:latin typeface="+mn-lt"/>
                        </a:rPr>
                        <a:t>args</a:t>
                      </a:r>
                      <a:r>
                        <a:rPr lang="en-US" sz="2400" b="0" i="1" dirty="0">
                          <a:solidFill>
                            <a:srgbClr val="000000"/>
                          </a:solidFill>
                          <a:latin typeface="+mn-lt"/>
                        </a:rPr>
                        <a:t>…)T[n] ;</a:t>
                      </a: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void* operator new[] (</a:t>
                      </a:r>
                      <a:r>
                        <a:rPr lang="en-US" sz="2400" dirty="0"/>
                        <a:t>std::</a:t>
                      </a:r>
                      <a:r>
                        <a:rPr lang="en-US" sz="2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size_t</a:t>
                      </a:r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count, </a:t>
                      </a:r>
                      <a:r>
                        <a:rPr lang="en-US" sz="2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args</a:t>
                      </a:r>
                      <a:r>
                        <a:rPr lang="en-US" sz="2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... );</a:t>
                      </a:r>
                      <a:endParaRPr lang="en-US" sz="2400" b="1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66718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7E97CF-D4B2-33C8-5B9C-036BF847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5817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B2A7BA-34A8-41E9-9D24-D489EB43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delete functions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DFD4B2-0939-4FCC-A0FE-D52DC001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75615"/>
              </p:ext>
            </p:extLst>
          </p:nvPr>
        </p:nvGraphicFramePr>
        <p:xfrm>
          <a:off x="364374" y="1893729"/>
          <a:ext cx="11463251" cy="403860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4488873">
                  <a:extLst>
                    <a:ext uri="{9D8B030D-6E8A-4147-A177-3AD203B41FA5}">
                      <a16:colId xmlns:a16="http://schemas.microsoft.com/office/drawing/2014/main" val="943387622"/>
                    </a:ext>
                  </a:extLst>
                </a:gridCol>
                <a:gridCol w="697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018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Expression</a:t>
                      </a:r>
                      <a:endParaRPr lang="en-IN" sz="2800" dirty="0">
                        <a:solidFill>
                          <a:srgbClr val="000000"/>
                        </a:solidFill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Function</a:t>
                      </a:r>
                      <a:endParaRPr lang="en-IN" sz="2800" dirty="0">
                        <a:solidFill>
                          <a:srgbClr val="000000"/>
                        </a:solidFill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delete p ;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operator delete(void *)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operator delete (void *, const std::</a:t>
                      </a:r>
                      <a:r>
                        <a:rPr lang="en-US" sz="2400" dirty="0" err="1"/>
                        <a:t>nothrow</a:t>
                      </a:r>
                      <a:r>
                        <a:rPr lang="en-US" sz="2400" dirty="0"/>
                        <a:t> &amp;)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operator delete (void *, void *)</a:t>
                      </a: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operator delete(</a:t>
                      </a:r>
                      <a:r>
                        <a:rPr lang="en-US" sz="2400" dirty="0"/>
                        <a:t>void *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…)</a:t>
                      </a: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966653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delete[] p;</a:t>
                      </a:r>
                      <a:endParaRPr lang="en-US" sz="2400" b="1" i="1" dirty="0">
                        <a:solidFill>
                          <a:srgbClr val="000000"/>
                        </a:solidFill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void operator delete [](void *)</a:t>
                      </a:r>
                      <a:endParaRPr lang="en-US" sz="2400" b="1" i="1" dirty="0">
                        <a:latin typeface="Arial Narrow" pitchFamily="34" charset="0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</a:rPr>
                        <a:t>void operator delete [](</a:t>
                      </a:r>
                      <a:r>
                        <a:rPr lang="en-US" sz="2400" dirty="0"/>
                        <a:t>void *</a:t>
                      </a:r>
                      <a:r>
                        <a:rPr lang="en-US" sz="2400" dirty="0">
                          <a:latin typeface="+mn-lt"/>
                        </a:rPr>
                        <a:t>, const std::</a:t>
                      </a:r>
                      <a:r>
                        <a:rPr lang="en-US" sz="2400" dirty="0" err="1">
                          <a:latin typeface="+mn-lt"/>
                        </a:rPr>
                        <a:t>nothrow</a:t>
                      </a:r>
                      <a:r>
                        <a:rPr lang="en-US" sz="2400" dirty="0">
                          <a:latin typeface="+mn-lt"/>
                        </a:rPr>
                        <a:t> &amp;)</a:t>
                      </a:r>
                      <a:endParaRPr lang="en-IN" sz="2400" b="1" i="1" dirty="0"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</a:rPr>
                        <a:t>void operator delete [](</a:t>
                      </a:r>
                      <a:r>
                        <a:rPr lang="en-US" sz="2400" dirty="0"/>
                        <a:t>void *</a:t>
                      </a:r>
                      <a:r>
                        <a:rPr lang="en-US" sz="2400" dirty="0">
                          <a:latin typeface="+mn-lt"/>
                        </a:rPr>
                        <a:t>, void *)</a:t>
                      </a:r>
                      <a:endParaRPr lang="en-IN" sz="2400" b="1" i="1" dirty="0"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07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i="1" dirty="0">
                        <a:latin typeface="+mn-lt"/>
                      </a:endParaRP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operator delete[](</a:t>
                      </a:r>
                      <a:r>
                        <a:rPr lang="en-US" sz="2400" dirty="0"/>
                        <a:t>void *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2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…)</a:t>
                      </a:r>
                    </a:p>
                  </a:txBody>
                  <a:tcPr marT="38100" marB="3810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518923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8749B3-6AAC-5DEF-9F20-B0460D596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2528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malloc vs new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malloc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423215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Function</a:t>
            </a:r>
          </a:p>
          <a:p>
            <a:r>
              <a:rPr lang="en-IN" dirty="0"/>
              <a:t>Requires size during allocation</a:t>
            </a:r>
          </a:p>
          <a:p>
            <a:r>
              <a:rPr lang="en-IN" dirty="0"/>
              <a:t>Cannot initialize memory</a:t>
            </a:r>
          </a:p>
          <a:p>
            <a:r>
              <a:rPr lang="en-IN" dirty="0"/>
              <a:t>Cannot call constructors</a:t>
            </a:r>
          </a:p>
          <a:p>
            <a:r>
              <a:rPr lang="en-IN" dirty="0"/>
              <a:t>Returns void pointer that needs to be type casted</a:t>
            </a:r>
          </a:p>
          <a:p>
            <a:r>
              <a:rPr lang="en-IN" dirty="0"/>
              <a:t>Cannot be customized</a:t>
            </a:r>
          </a:p>
          <a:p>
            <a:r>
              <a:rPr lang="en-IN" dirty="0"/>
              <a:t>malloc, </a:t>
            </a:r>
            <a:r>
              <a:rPr lang="en-IN" dirty="0" err="1"/>
              <a:t>calloc</a:t>
            </a:r>
            <a:r>
              <a:rPr lang="en-IN" dirty="0"/>
              <a:t> &amp; </a:t>
            </a:r>
            <a:r>
              <a:rPr lang="en-IN" dirty="0" err="1"/>
              <a:t>realloc</a:t>
            </a:r>
            <a:endParaRPr lang="en-IN" dirty="0"/>
          </a:p>
          <a:p>
            <a:r>
              <a:rPr lang="en-IN" dirty="0"/>
              <a:t>Return NULL on failure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new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23215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Operator</a:t>
            </a:r>
          </a:p>
          <a:p>
            <a:r>
              <a:rPr lang="en-IN" dirty="0"/>
              <a:t>Size is ascertained from the type</a:t>
            </a:r>
          </a:p>
          <a:p>
            <a:r>
              <a:rPr lang="en-IN" dirty="0"/>
              <a:t>Can initialize memory</a:t>
            </a:r>
          </a:p>
          <a:p>
            <a:r>
              <a:rPr lang="en-IN" dirty="0"/>
              <a:t>Can call constructors</a:t>
            </a:r>
          </a:p>
          <a:p>
            <a:r>
              <a:rPr lang="en-IN" dirty="0"/>
              <a:t>Returns correct type of pointer</a:t>
            </a:r>
          </a:p>
          <a:p>
            <a:r>
              <a:rPr lang="en-IN" dirty="0"/>
              <a:t>Can be customized through overloading</a:t>
            </a:r>
          </a:p>
          <a:p>
            <a:r>
              <a:rPr lang="en-IN" dirty="0"/>
              <a:t>Has different forms</a:t>
            </a:r>
          </a:p>
          <a:p>
            <a:r>
              <a:rPr lang="en-IN" dirty="0"/>
              <a:t>Throws exception on failure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82566-05D9-9989-3D92-719112FD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5081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CBE6179-1565-4DD7-837D-F37DC7B4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19D393-CB64-4550-87FB-C36EC4D89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Manual memory management can lead to various issues if not done correctly</a:t>
            </a:r>
          </a:p>
          <a:p>
            <a:r>
              <a:rPr lang="en-IN" dirty="0"/>
              <a:t>These issues arise due to various reasons</a:t>
            </a:r>
          </a:p>
          <a:p>
            <a:pPr lvl="1"/>
            <a:r>
              <a:rPr lang="en-IN" dirty="0"/>
              <a:t>Failing to allocate memory for a pointer before using it</a:t>
            </a:r>
          </a:p>
          <a:p>
            <a:pPr lvl="1"/>
            <a:r>
              <a:rPr lang="en-IN" dirty="0"/>
              <a:t>Allocating insufficient memory that leads to overwrites</a:t>
            </a:r>
          </a:p>
          <a:p>
            <a:pPr lvl="1"/>
            <a:r>
              <a:rPr lang="en-IN" dirty="0"/>
              <a:t>Accessing memory after it has been freed</a:t>
            </a:r>
          </a:p>
          <a:p>
            <a:pPr lvl="1"/>
            <a:r>
              <a:rPr lang="en-IN" dirty="0"/>
              <a:t>Freeing same memory twice</a:t>
            </a:r>
          </a:p>
          <a:p>
            <a:pPr lvl="1"/>
            <a:r>
              <a:rPr lang="en-IN" dirty="0"/>
              <a:t>Not freeing memory after it is no longer required</a:t>
            </a: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030DF-1683-EB38-7182-D9F6F083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6490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04A4-B6CA-49B1-B0EB-DC3CCC4F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Uninitialized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4E93-42A6-4845-9079-FEC9F8E61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pointer holds a memory address</a:t>
            </a:r>
          </a:p>
          <a:p>
            <a:r>
              <a:rPr lang="en-IN" dirty="0"/>
              <a:t>If not initialized, it will contain an unknown value</a:t>
            </a:r>
          </a:p>
          <a:p>
            <a:pPr lvl="1"/>
            <a:r>
              <a:rPr lang="en-IN" dirty="0"/>
              <a:t>possibly a valid memory address</a:t>
            </a:r>
          </a:p>
          <a:p>
            <a:pPr lvl="1"/>
            <a:r>
              <a:rPr lang="en-IN" dirty="0"/>
              <a:t>invalid </a:t>
            </a:r>
            <a:r>
              <a:rPr lang="en-IN"/>
              <a:t>memory address</a:t>
            </a:r>
          </a:p>
          <a:p>
            <a:pPr lvl="1"/>
            <a:r>
              <a:rPr lang="en-IN" dirty="0"/>
              <a:t>difficult to validate the pointer</a:t>
            </a:r>
          </a:p>
          <a:p>
            <a:r>
              <a:rPr lang="en-IN" dirty="0"/>
              <a:t>Accessing such memory address may lead to disastrous consequences</a:t>
            </a:r>
          </a:p>
          <a:p>
            <a:r>
              <a:rPr lang="en-IN" dirty="0"/>
              <a:t>Most compilers warn about uninitialized variables</a:t>
            </a:r>
          </a:p>
          <a:p>
            <a:r>
              <a:rPr lang="en-IN" dirty="0"/>
              <a:t>Always initialize pointers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94871-1470-3A0D-43D5-92BADC61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0009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0979-4A44-4E31-A692-B2F5AEFB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Overwrite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A59D9-9320-4C12-972C-693D1E7E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Caused when insufficient memory is allocated</a:t>
            </a:r>
          </a:p>
          <a:p>
            <a:r>
              <a:rPr lang="en-IN" dirty="0"/>
              <a:t>Data stored in this memory may overflow into surrounding area</a:t>
            </a:r>
          </a:p>
          <a:p>
            <a:r>
              <a:rPr lang="en-IN" dirty="0"/>
              <a:t>Leads to loss of data, or worse, program crash</a:t>
            </a:r>
          </a:p>
          <a:p>
            <a:r>
              <a:rPr lang="en-IN" dirty="0"/>
              <a:t>Common in dynamic arrays, strings, etc.</a:t>
            </a:r>
          </a:p>
          <a:p>
            <a:r>
              <a:rPr lang="en-IN" dirty="0"/>
              <a:t>Use standard library containers instead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48F8-D29F-B137-9956-C9768D37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5366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229E-6B90-4C32-9BE7-0D1CF711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Dangling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D5F54-0E76-44C2-BA8C-43E05D5C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After deleting memory, its address still remains in the pointer</a:t>
            </a:r>
          </a:p>
          <a:p>
            <a:r>
              <a:rPr lang="en-IN" dirty="0"/>
              <a:t>Consequently, the pointer continues pointing to the memory (which is no longer valid)</a:t>
            </a:r>
          </a:p>
          <a:p>
            <a:r>
              <a:rPr lang="en-IN" dirty="0"/>
              <a:t>Such a pointer is said to be dangling</a:t>
            </a:r>
          </a:p>
          <a:p>
            <a:r>
              <a:rPr lang="en-IN" dirty="0"/>
              <a:t>This can cause two problems</a:t>
            </a:r>
          </a:p>
          <a:p>
            <a:pPr lvl="1"/>
            <a:r>
              <a:rPr lang="en-IN" dirty="0"/>
              <a:t>the same memory may be deleted again unknowingly (called double-delete)</a:t>
            </a:r>
          </a:p>
          <a:p>
            <a:pPr lvl="1"/>
            <a:r>
              <a:rPr lang="en-IN" dirty="0"/>
              <a:t>pointer may be used without knowing it’s dangling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96053-57B6-FABD-FFD7-6B1748F1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361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E045-6632-4FD8-9F6B-573E867F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Avoiding Dangling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BF95C-2B2E-4F0F-8826-8C74E46B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avoid dangling pointer, assign </a:t>
            </a:r>
            <a:r>
              <a:rPr lang="en-IN" i="1" dirty="0" err="1"/>
              <a:t>nullptr</a:t>
            </a:r>
            <a:r>
              <a:rPr lang="en-IN" dirty="0"/>
              <a:t> immediately after deleting it</a:t>
            </a:r>
          </a:p>
          <a:p>
            <a:r>
              <a:rPr lang="en-IN" dirty="0"/>
              <a:t>If the pointer is accessed again, it will cause an access violation</a:t>
            </a:r>
          </a:p>
          <a:p>
            <a:r>
              <a:rPr lang="en-IN" dirty="0"/>
              <a:t>Deleting a null pointer is not an error; delete treats it like a no-op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E09AD-AED6-2152-C593-CBEFE22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0735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2AFE-7806-421A-B098-165FEE5F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Leak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2AF7F-0C4E-428C-862D-7F2493984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Caused when memory is allocated, but not released afterwards</a:t>
            </a:r>
          </a:p>
          <a:p>
            <a:r>
              <a:rPr lang="en-IN" dirty="0"/>
              <a:t>The address may be lost and the memory can never be reclaimed</a:t>
            </a:r>
          </a:p>
          <a:p>
            <a:r>
              <a:rPr lang="en-IN" dirty="0"/>
              <a:t>If this happens with large allocations and/or repeatedly while the programming is running, the heap memory will run out</a:t>
            </a:r>
          </a:p>
          <a:p>
            <a:pPr lvl="1"/>
            <a:r>
              <a:rPr lang="en-IN" dirty="0"/>
              <a:t>may cause the OS to increase the </a:t>
            </a:r>
            <a:r>
              <a:rPr lang="en-IN" dirty="0" err="1"/>
              <a:t>pagefile</a:t>
            </a:r>
            <a:r>
              <a:rPr lang="en-IN" dirty="0"/>
              <a:t> size</a:t>
            </a:r>
          </a:p>
          <a:p>
            <a:pPr lvl="1"/>
            <a:r>
              <a:rPr lang="en-IN" dirty="0"/>
              <a:t>will drastically reduce the performance of the system</a:t>
            </a:r>
          </a:p>
          <a:p>
            <a:pPr lvl="1"/>
            <a:r>
              <a:rPr lang="en-IN" dirty="0"/>
              <a:t>in worst case, your program will be killed by the OS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6CC1-5455-C6A5-AAAD-2A1AD9DB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5947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6620-4B42-44D1-80E0-9025C4E0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Avoid Memory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E352-D5E3-4316-A12E-F92709F8B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correct coding practices</a:t>
            </a:r>
          </a:p>
          <a:p>
            <a:r>
              <a:rPr lang="en-IN" dirty="0"/>
              <a:t>Use standard library components instead of rolling your own implementation</a:t>
            </a:r>
          </a:p>
          <a:p>
            <a:r>
              <a:rPr lang="en-IN" dirty="0"/>
              <a:t>Use tools to detect memory related issues</a:t>
            </a:r>
          </a:p>
          <a:p>
            <a:pPr lvl="1"/>
            <a:r>
              <a:rPr lang="en-IN" dirty="0"/>
              <a:t>Insure++</a:t>
            </a:r>
          </a:p>
          <a:p>
            <a:pPr lvl="1"/>
            <a:r>
              <a:rPr lang="en-IN" dirty="0" err="1"/>
              <a:t>Valgrind</a:t>
            </a:r>
            <a:endParaRPr lang="en-IN" dirty="0"/>
          </a:p>
          <a:p>
            <a:pPr lvl="1"/>
            <a:r>
              <a:rPr lang="en-IN" dirty="0"/>
              <a:t>Visual Studio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92C0C-BDB1-3520-D169-8D5F88E1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9068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0F77-8836-48FD-8997-BD2B110C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Detecting Heap Buffer Overflows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547B2-45A6-4F1E-B1CE-C0A684069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Visual Studio heap manager provides a function called </a:t>
            </a:r>
            <a:r>
              <a:rPr lang="en-IN" i="1" dirty="0"/>
              <a:t>_</a:t>
            </a:r>
            <a:r>
              <a:rPr lang="en-IN" i="1" dirty="0" err="1"/>
              <a:t>CrtCheckMemory</a:t>
            </a:r>
            <a:r>
              <a:rPr lang="en-IN" i="1" dirty="0"/>
              <a:t> </a:t>
            </a:r>
            <a:r>
              <a:rPr lang="en-IN" dirty="0"/>
              <a:t>that checks for heap consistency</a:t>
            </a:r>
          </a:p>
          <a:p>
            <a:r>
              <a:rPr lang="en-IN" dirty="0"/>
              <a:t>If the heap memory is consistent it returns a non-zero value</a:t>
            </a:r>
          </a:p>
          <a:p>
            <a:r>
              <a:rPr lang="en-IN" dirty="0"/>
              <a:t>If it detects an overwrite in a memory block, it</a:t>
            </a:r>
          </a:p>
          <a:p>
            <a:pPr lvl="1"/>
            <a:r>
              <a:rPr lang="en-IN" dirty="0"/>
              <a:t>returns 0</a:t>
            </a:r>
          </a:p>
          <a:p>
            <a:pPr lvl="1"/>
            <a:r>
              <a:rPr lang="en-IN" dirty="0"/>
              <a:t>dumps basic information in the output window</a:t>
            </a:r>
          </a:p>
          <a:p>
            <a:r>
              <a:rPr lang="en-IN" dirty="0"/>
              <a:t>By default, </a:t>
            </a:r>
            <a:r>
              <a:rPr lang="en-IN" i="1" dirty="0"/>
              <a:t>free() </a:t>
            </a:r>
            <a:r>
              <a:rPr lang="en-IN" dirty="0"/>
              <a:t>&amp; </a:t>
            </a:r>
            <a:r>
              <a:rPr lang="en-IN" i="1" dirty="0"/>
              <a:t>delete</a:t>
            </a:r>
            <a:r>
              <a:rPr lang="en-IN" dirty="0"/>
              <a:t> automatically call this function before releasing the memory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A6CFC-00C5-DAE2-DF34-0D645728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654629"/>
      </p:ext>
    </p:extLst>
  </p:cSld>
  <p:clrMapOvr>
    <a:masterClrMapping/>
  </p:clrMapOvr>
  <p:transition spd="slow">
    <p:push dir="u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826B-4678-4EAA-B02B-A5D18277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FB153-EA99-4503-940E-8D70DC6E7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931" y="1569214"/>
            <a:ext cx="3895725" cy="2628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6E04F5-8A17-4558-A749-7B883280A606}"/>
              </a:ext>
            </a:extLst>
          </p:cNvPr>
          <p:cNvSpPr/>
          <p:nvPr/>
        </p:nvSpPr>
        <p:spPr>
          <a:xfrm>
            <a:off x="658762" y="1915707"/>
            <a:ext cx="4011561" cy="9679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D5A2D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dirty="0">
                <a:solidFill>
                  <a:srgbClr val="D5A2D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*)</a:t>
            </a:r>
            <a:r>
              <a:rPr lang="en-IN" dirty="0">
                <a:solidFill>
                  <a:srgbClr val="8181E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malloc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 err="1">
                <a:solidFill>
                  <a:srgbClr val="8181E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strcpy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"Hello"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8181E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free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DF87C2-5295-4CD0-9AA6-22DE1266E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30" y="4608437"/>
            <a:ext cx="7200900" cy="13620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91B034-A0CA-4F67-AF19-7003B25E5137}"/>
              </a:ext>
            </a:extLst>
          </p:cNvPr>
          <p:cNvSpPr/>
          <p:nvPr/>
        </p:nvSpPr>
        <p:spPr>
          <a:xfrm>
            <a:off x="658762" y="3168071"/>
            <a:ext cx="4011561" cy="9679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D5A2D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82B7E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D5A2D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char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IN" dirty="0">
                <a:solidFill>
                  <a:srgbClr val="F78C6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 err="1">
                <a:solidFill>
                  <a:srgbClr val="8181E2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strcpy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C3E88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"Hello"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82B7E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delete []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</a:t>
            </a:r>
            <a:r>
              <a:rPr lang="en-IN" dirty="0">
                <a:solidFill>
                  <a:srgbClr val="DCDCD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dirty="0">
                <a:solidFill>
                  <a:srgbClr val="FFFF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11C2E-3EF2-4E3A-FF3C-354AACB7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270062"/>
      </p:ext>
    </p:extLst>
  </p:cSld>
  <p:clrMapOvr>
    <a:masterClrMapping/>
  </p:clrMapOvr>
  <p:transition spd="slow">
    <p:push dir="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733D-47BF-458B-B3F1-14DAA707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Detecting Memory Leaks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3F2F6-D62C-40C4-81C9-5D028030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Visual Studio CRT library provides a function called </a:t>
            </a:r>
            <a:r>
              <a:rPr lang="en-IN" i="1" dirty="0"/>
              <a:t>_</a:t>
            </a:r>
            <a:r>
              <a:rPr lang="en-IN" i="1" dirty="0" err="1"/>
              <a:t>CrtDumpMemoryLeaks</a:t>
            </a:r>
            <a:r>
              <a:rPr lang="en-IN" i="1" dirty="0"/>
              <a:t>()</a:t>
            </a:r>
          </a:p>
          <a:p>
            <a:r>
              <a:rPr lang="en-IN" dirty="0"/>
              <a:t>Just like other CRT debug functions, it works only in debug build</a:t>
            </a:r>
          </a:p>
          <a:p>
            <a:r>
              <a:rPr lang="en-IN" dirty="0"/>
              <a:t>Once invoked, it goes through all allocated memory blocks</a:t>
            </a:r>
          </a:p>
          <a:p>
            <a:r>
              <a:rPr lang="en-IN" dirty="0"/>
              <a:t>Any block that is not marked as free is a leaked block</a:t>
            </a:r>
          </a:p>
          <a:p>
            <a:pPr lvl="1"/>
            <a:r>
              <a:rPr lang="en-IN" dirty="0"/>
              <a:t>it dumps diagnostic message in the output window</a:t>
            </a:r>
          </a:p>
          <a:p>
            <a:pPr lvl="1"/>
            <a:r>
              <a:rPr lang="en-IN"/>
              <a:t>returns 1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398D6-6C17-FB9E-C4FF-EF4E2251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9667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E71A-C5AF-45D3-B004-7C8BE8DC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Diagnostic Dump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9CBF7D-34AA-4380-8AC0-183DE0CC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462" y="2638425"/>
            <a:ext cx="4791075" cy="158115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A44592-9AD7-4813-AFA5-4C2D3674918A}"/>
              </a:ext>
            </a:extLst>
          </p:cNvPr>
          <p:cNvCxnSpPr>
            <a:cxnSpLocks/>
          </p:cNvCxnSpPr>
          <p:nvPr/>
        </p:nvCxnSpPr>
        <p:spPr>
          <a:xfrm flipH="1">
            <a:off x="3009014" y="3221666"/>
            <a:ext cx="797774" cy="0"/>
          </a:xfrm>
          <a:prstGeom prst="straightConnector1">
            <a:avLst/>
          </a:prstGeom>
          <a:ln w="19050">
            <a:solidFill>
              <a:srgbClr val="EF894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D09E42-A123-40D5-B3D0-BD6F5591F6D7}"/>
              </a:ext>
            </a:extLst>
          </p:cNvPr>
          <p:cNvSpPr txBox="1"/>
          <p:nvPr/>
        </p:nvSpPr>
        <p:spPr>
          <a:xfrm>
            <a:off x="1094061" y="3037000"/>
            <a:ext cx="212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Allocation Index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F1C8CF-530C-4E96-9D53-CC807D0637E6}"/>
              </a:ext>
            </a:extLst>
          </p:cNvPr>
          <p:cNvCxnSpPr>
            <a:cxnSpLocks/>
          </p:cNvCxnSpPr>
          <p:nvPr/>
        </p:nvCxnSpPr>
        <p:spPr>
          <a:xfrm>
            <a:off x="4625163" y="3406332"/>
            <a:ext cx="0" cy="1082970"/>
          </a:xfrm>
          <a:prstGeom prst="straightConnector1">
            <a:avLst/>
          </a:prstGeom>
          <a:ln w="19050">
            <a:solidFill>
              <a:srgbClr val="EF894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3062DC-8D58-4B3A-842A-DDC061652688}"/>
              </a:ext>
            </a:extLst>
          </p:cNvPr>
          <p:cNvSpPr txBox="1"/>
          <p:nvPr/>
        </p:nvSpPr>
        <p:spPr>
          <a:xfrm>
            <a:off x="3700462" y="4441449"/>
            <a:ext cx="212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Type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9A529B-E281-49BD-92F7-8A6A57A9EED5}"/>
              </a:ext>
            </a:extLst>
          </p:cNvPr>
          <p:cNvCxnSpPr>
            <a:cxnSpLocks/>
          </p:cNvCxnSpPr>
          <p:nvPr/>
        </p:nvCxnSpPr>
        <p:spPr>
          <a:xfrm flipV="1">
            <a:off x="6443330" y="2354929"/>
            <a:ext cx="0" cy="786810"/>
          </a:xfrm>
          <a:prstGeom prst="straightConnector1">
            <a:avLst/>
          </a:prstGeom>
          <a:ln w="19050">
            <a:solidFill>
              <a:srgbClr val="EF894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76CC5C-FACC-45D7-83A5-46B995B5FAD1}"/>
              </a:ext>
            </a:extLst>
          </p:cNvPr>
          <p:cNvSpPr txBox="1"/>
          <p:nvPr/>
        </p:nvSpPr>
        <p:spPr>
          <a:xfrm>
            <a:off x="5214574" y="1985597"/>
            <a:ext cx="2752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Leaked Memory Address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F712D8-216C-40E4-910B-51A4FF6D70A5}"/>
              </a:ext>
            </a:extLst>
          </p:cNvPr>
          <p:cNvCxnSpPr>
            <a:cxnSpLocks/>
          </p:cNvCxnSpPr>
          <p:nvPr/>
        </p:nvCxnSpPr>
        <p:spPr>
          <a:xfrm>
            <a:off x="7081284" y="2796364"/>
            <a:ext cx="2101702" cy="0"/>
          </a:xfrm>
          <a:prstGeom prst="straightConnector1">
            <a:avLst/>
          </a:prstGeom>
          <a:ln w="19050">
            <a:solidFill>
              <a:srgbClr val="EF894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F10633-27D2-43CA-947B-A78B6EAF518D}"/>
              </a:ext>
            </a:extLst>
          </p:cNvPr>
          <p:cNvSpPr txBox="1"/>
          <p:nvPr/>
        </p:nvSpPr>
        <p:spPr>
          <a:xfrm>
            <a:off x="9008423" y="2604789"/>
            <a:ext cx="142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Size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B9A80-B88D-462F-801B-B529CE6B2B90}"/>
              </a:ext>
            </a:extLst>
          </p:cNvPr>
          <p:cNvSpPr txBox="1"/>
          <p:nvPr/>
        </p:nvSpPr>
        <p:spPr>
          <a:xfrm>
            <a:off x="9017432" y="3260518"/>
            <a:ext cx="1423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FC380C-ABC3-4BCC-8A6F-8DEDC9E96CE3}"/>
              </a:ext>
            </a:extLst>
          </p:cNvPr>
          <p:cNvCxnSpPr>
            <a:cxnSpLocks/>
          </p:cNvCxnSpPr>
          <p:nvPr/>
        </p:nvCxnSpPr>
        <p:spPr>
          <a:xfrm>
            <a:off x="8389088" y="3445184"/>
            <a:ext cx="793898" cy="0"/>
          </a:xfrm>
          <a:prstGeom prst="straightConnector1">
            <a:avLst/>
          </a:prstGeom>
          <a:ln w="19050">
            <a:solidFill>
              <a:srgbClr val="EF894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337CE7-6A22-4921-A906-B1CA2D97F974}"/>
              </a:ext>
            </a:extLst>
          </p:cNvPr>
          <p:cNvCxnSpPr>
            <a:cxnSpLocks/>
          </p:cNvCxnSpPr>
          <p:nvPr/>
        </p:nvCxnSpPr>
        <p:spPr>
          <a:xfrm flipV="1">
            <a:off x="7081284" y="2796364"/>
            <a:ext cx="2867" cy="240637"/>
          </a:xfrm>
          <a:prstGeom prst="straightConnector1">
            <a:avLst/>
          </a:prstGeom>
          <a:ln w="19050">
            <a:solidFill>
              <a:srgbClr val="EF894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945D09A-3A7B-4E78-96AE-DB36492EFA51}"/>
              </a:ext>
            </a:extLst>
          </p:cNvPr>
          <p:cNvSpPr txBox="1"/>
          <p:nvPr/>
        </p:nvSpPr>
        <p:spPr>
          <a:xfrm>
            <a:off x="5730065" y="4405531"/>
            <a:ext cx="14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387FF3-A256-4716-9D53-C6EF55661983}"/>
              </a:ext>
            </a:extLst>
          </p:cNvPr>
          <p:cNvSpPr txBox="1"/>
          <p:nvPr/>
        </p:nvSpPr>
        <p:spPr>
          <a:xfrm>
            <a:off x="5730065" y="4765226"/>
            <a:ext cx="14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3C999B-642F-408D-9ABD-A66C92D86954}"/>
              </a:ext>
            </a:extLst>
          </p:cNvPr>
          <p:cNvSpPr txBox="1"/>
          <p:nvPr/>
        </p:nvSpPr>
        <p:spPr>
          <a:xfrm>
            <a:off x="5730064" y="5124921"/>
            <a:ext cx="14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CD29E7-1D39-442C-98A8-6EFB9E900884}"/>
              </a:ext>
            </a:extLst>
          </p:cNvPr>
          <p:cNvSpPr txBox="1"/>
          <p:nvPr/>
        </p:nvSpPr>
        <p:spPr>
          <a:xfrm>
            <a:off x="5730063" y="5455239"/>
            <a:ext cx="14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IGNORE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1DCD1A-10E3-438F-B967-A73CF10A7A4F}"/>
              </a:ext>
            </a:extLst>
          </p:cNvPr>
          <p:cNvSpPr txBox="1"/>
          <p:nvPr/>
        </p:nvSpPr>
        <p:spPr>
          <a:xfrm>
            <a:off x="5730062" y="5772475"/>
            <a:ext cx="142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28331-B598-1362-8994-CE43F1BE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866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4" grpId="0"/>
      <p:bldP spid="16" grpId="0"/>
      <p:bldP spid="19" grpId="0"/>
      <p:bldP spid="27" grpId="0"/>
      <p:bldP spid="29" grpId="0"/>
      <p:bldP spid="30" grpId="0"/>
      <p:bldP spid="31" grpId="0"/>
      <p:bldP spid="3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E302-442E-43E3-BC17-4E5AE301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Checkpoints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74FFC-04E8-4D46-B308-680C2094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Debug heap manager provides functions to capture the state of the heap</a:t>
            </a:r>
          </a:p>
          <a:p>
            <a:pPr lvl="1"/>
            <a:r>
              <a:rPr lang="en-IN" dirty="0"/>
              <a:t>also called as checkpoint</a:t>
            </a:r>
          </a:p>
          <a:p>
            <a:r>
              <a:rPr lang="en-IN" dirty="0"/>
              <a:t>Different states can be captured and compared</a:t>
            </a:r>
          </a:p>
          <a:p>
            <a:r>
              <a:rPr lang="en-IN" dirty="0"/>
              <a:t>If there is a difference between the older &amp; newer heap state, that indicates a possibility of a leak</a:t>
            </a:r>
          </a:p>
          <a:p>
            <a:r>
              <a:rPr lang="en-IN" dirty="0"/>
              <a:t>Any number of states can be saved &amp; compared; the application can keep on running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AEEEA-C29A-8605-8C57-C3FDD7B01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9720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9343-06F4-488A-8E87-F7C272790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Debug Heap Functions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E68C2D-4EED-406F-8F60-1E5D53FA53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3229966"/>
              </p:ext>
            </p:extLst>
          </p:nvPr>
        </p:nvGraphicFramePr>
        <p:xfrm>
          <a:off x="838200" y="2527374"/>
          <a:ext cx="10515600" cy="222504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3244702">
                  <a:extLst>
                    <a:ext uri="{9D8B030D-6E8A-4147-A177-3AD203B41FA5}">
                      <a16:colId xmlns:a16="http://schemas.microsoft.com/office/drawing/2014/main" val="2008489744"/>
                    </a:ext>
                  </a:extLst>
                </a:gridCol>
                <a:gridCol w="7270898">
                  <a:extLst>
                    <a:ext uri="{9D8B030D-6E8A-4147-A177-3AD203B41FA5}">
                      <a16:colId xmlns:a16="http://schemas.microsoft.com/office/drawing/2014/main" val="3957262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9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_</a:t>
                      </a:r>
                      <a:r>
                        <a:rPr lang="en-IN" i="1" dirty="0" err="1"/>
                        <a:t>CrtMemState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Structure to hold the memory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99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_</a:t>
                      </a:r>
                      <a:r>
                        <a:rPr lang="en-IN" i="1" dirty="0" err="1"/>
                        <a:t>CrtMemCheckpoint</a:t>
                      </a:r>
                      <a:r>
                        <a:rPr lang="en-IN" i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Captures the current state of the heap in _</a:t>
                      </a:r>
                      <a:r>
                        <a:rPr lang="en-IN" i="1" dirty="0" err="1"/>
                        <a:t>CrtMemState</a:t>
                      </a:r>
                      <a:r>
                        <a:rPr lang="en-IN" dirty="0"/>
                        <a:t>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449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_</a:t>
                      </a:r>
                      <a:r>
                        <a:rPr lang="en-IN" i="1" dirty="0" err="1"/>
                        <a:t>CrtMemDifference</a:t>
                      </a:r>
                      <a:r>
                        <a:rPr lang="en-IN" i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Compares two checkpoints &amp; returns 1 if they’re different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701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_</a:t>
                      </a:r>
                      <a:r>
                        <a:rPr lang="en-IN" i="1" dirty="0" err="1"/>
                        <a:t>CrtMemDumpAllObjectsSince</a:t>
                      </a:r>
                      <a:r>
                        <a:rPr lang="en-IN" i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Dumps the blocks that have been allocated since an earlier 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645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i="1" dirty="0"/>
                        <a:t>_</a:t>
                      </a:r>
                      <a:r>
                        <a:rPr lang="en-IN" i="1" dirty="0" err="1"/>
                        <a:t>CrtMemDumpStatistics</a:t>
                      </a:r>
                      <a:r>
                        <a:rPr lang="en-IN" i="1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Dumps the difference between the block types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79720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52635-EB1C-107A-257F-7AA66E1C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181933"/>
      </p:ext>
    </p:extLst>
  </p:cSld>
  <p:clrMapOvr>
    <a:masterClrMapping/>
  </p:clrMapOvr>
  <p:transition spd="slow">
    <p:push dir="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C851-6D54-4FB4-894D-BF29DCA3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 Mode &amp; Type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6F95A-E29D-48D7-9FD6-AB243754C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heap reporting </a:t>
            </a:r>
            <a:r>
              <a:rPr lang="en-IN" i="1" dirty="0"/>
              <a:t>_</a:t>
            </a:r>
            <a:r>
              <a:rPr lang="en-IN" i="1" dirty="0" err="1"/>
              <a:t>Crt</a:t>
            </a:r>
            <a:r>
              <a:rPr lang="en-IN" i="1" dirty="0"/>
              <a:t> </a:t>
            </a:r>
            <a:r>
              <a:rPr lang="en-IN" dirty="0"/>
              <a:t>functions display different kinds of messages</a:t>
            </a:r>
          </a:p>
          <a:p>
            <a:r>
              <a:rPr lang="en-IN" dirty="0"/>
              <a:t>Some messages are displayed in Visual Studio output window and some in a separate Window</a:t>
            </a:r>
          </a:p>
          <a:p>
            <a:r>
              <a:rPr lang="en-IN" dirty="0"/>
              <a:t>The type of messages that are displayed can be controlled by report type</a:t>
            </a:r>
          </a:p>
          <a:p>
            <a:r>
              <a:rPr lang="en-IN" dirty="0"/>
              <a:t>Report mode can be used to decide where to display the messages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7E80F-F4AB-7ED5-A3AF-4A5D99E54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8317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CF70-5EF8-4E11-AF3D-CAD5635D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6BDD-672A-4F58-8906-5A2C3E2BA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three report types that can be set by the user</a:t>
            </a:r>
          </a:p>
          <a:p>
            <a:pPr lvl="1"/>
            <a:r>
              <a:rPr lang="en-IN" i="1" dirty="0"/>
              <a:t>_CRT_WARN </a:t>
            </a:r>
            <a:r>
              <a:rPr lang="en-IN" dirty="0"/>
              <a:t>– represents warnings &amp; other information that do not need immediate attention e.g. memory leaks</a:t>
            </a:r>
          </a:p>
          <a:p>
            <a:pPr lvl="1"/>
            <a:r>
              <a:rPr lang="en-IN" i="1" dirty="0"/>
              <a:t>_CRT_ERROR </a:t>
            </a:r>
            <a:r>
              <a:rPr lang="en-IN" dirty="0"/>
              <a:t>– unrecoverable problems that require immediate attention e.g. calling abort()</a:t>
            </a:r>
          </a:p>
          <a:p>
            <a:pPr lvl="1"/>
            <a:r>
              <a:rPr lang="en-IN" i="1" dirty="0"/>
              <a:t>_CRT_ASSERT </a:t>
            </a:r>
            <a:r>
              <a:rPr lang="en-IN" dirty="0"/>
              <a:t>– assertion failures e.g. heap corruption messages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D7691-1844-14A0-E2D1-AA8CEBEB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039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D4E06-7D98-41C7-B303-B0C79C2C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36AB5-C969-43B0-8EDC-373037EB9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Following report modes are supported</a:t>
            </a:r>
          </a:p>
          <a:p>
            <a:pPr lvl="1"/>
            <a:r>
              <a:rPr lang="en-IN" i="1" dirty="0"/>
              <a:t>_CRTDBG_MODE_DEBUG </a:t>
            </a:r>
            <a:r>
              <a:rPr lang="en-IN" dirty="0"/>
              <a:t>– message is written to debugger output window</a:t>
            </a:r>
          </a:p>
          <a:p>
            <a:pPr lvl="1"/>
            <a:r>
              <a:rPr lang="en-IN" i="1" dirty="0"/>
              <a:t>_CRTDBG_MODE_FILE </a:t>
            </a:r>
            <a:r>
              <a:rPr lang="en-IN" dirty="0"/>
              <a:t>– message is written to a user-defined file</a:t>
            </a:r>
          </a:p>
          <a:p>
            <a:pPr lvl="1"/>
            <a:r>
              <a:rPr lang="en-IN" i="1" dirty="0"/>
              <a:t>_CRTDBG_MODE_WNDW </a:t>
            </a:r>
            <a:r>
              <a:rPr lang="en-IN" dirty="0"/>
              <a:t>– message is displayed in a message box with </a:t>
            </a:r>
            <a:r>
              <a:rPr lang="en-IN" b="1" dirty="0"/>
              <a:t>Abort</a:t>
            </a:r>
            <a:r>
              <a:rPr lang="en-IN" dirty="0"/>
              <a:t>, </a:t>
            </a:r>
            <a:r>
              <a:rPr lang="en-IN" b="1" dirty="0"/>
              <a:t>Retry</a:t>
            </a:r>
            <a:r>
              <a:rPr lang="en-IN" dirty="0"/>
              <a:t> &amp; </a:t>
            </a:r>
            <a:r>
              <a:rPr lang="en-IN" b="1" dirty="0"/>
              <a:t>Ignore</a:t>
            </a:r>
            <a:r>
              <a:rPr lang="en-IN" dirty="0"/>
              <a:t> buttons</a:t>
            </a:r>
          </a:p>
          <a:p>
            <a:pPr lvl="1"/>
            <a:r>
              <a:rPr lang="en-IN" i="1" dirty="0"/>
              <a:t>_CRTDBG_REPORT_MODE </a:t>
            </a:r>
            <a:r>
              <a:rPr lang="en-IN" dirty="0"/>
              <a:t>– returns the current mode for a specific report</a:t>
            </a:r>
          </a:p>
          <a:p>
            <a:pPr lvl="1"/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4BFA0-8138-FD66-D275-77F8DA1F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7212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E8FB-D783-4261-880E-A2303BD1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D4205-4B73-44B4-909D-F60E1F89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VS debug heap library detects leaks by storing extra information when memory is requested</a:t>
            </a:r>
          </a:p>
          <a:p>
            <a:r>
              <a:rPr lang="en-IN" dirty="0"/>
              <a:t>Allocates a bigger memory block that contains the following information</a:t>
            </a:r>
          </a:p>
          <a:p>
            <a:pPr lvl="1"/>
            <a:r>
              <a:rPr lang="en-IN" dirty="0"/>
              <a:t>line number</a:t>
            </a:r>
          </a:p>
          <a:p>
            <a:pPr lvl="1"/>
            <a:r>
              <a:rPr lang="en-IN" dirty="0"/>
              <a:t>file name</a:t>
            </a:r>
          </a:p>
          <a:p>
            <a:pPr lvl="1"/>
            <a:r>
              <a:rPr lang="en-IN" dirty="0"/>
              <a:t>type of block</a:t>
            </a:r>
          </a:p>
          <a:p>
            <a:pPr lvl="1"/>
            <a:r>
              <a:rPr lang="en-IN" dirty="0"/>
              <a:t>size of requested memory</a:t>
            </a:r>
          </a:p>
          <a:p>
            <a:pPr lvl="1"/>
            <a:r>
              <a:rPr lang="en-IN" dirty="0"/>
              <a:t>pointer to previous &amp; next block</a:t>
            </a:r>
          </a:p>
          <a:p>
            <a:r>
              <a:rPr lang="en-IN" dirty="0"/>
              <a:t>Essentially, multiple blocks form a two-way linked list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C3C1F-13B8-8451-BCA4-06C85395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8236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0F30A3-7263-4306-A201-64C4EDEA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CA5D9-73B1-4340-87D7-7DEE0F766723}"/>
              </a:ext>
            </a:extLst>
          </p:cNvPr>
          <p:cNvSpPr txBox="1"/>
          <p:nvPr/>
        </p:nvSpPr>
        <p:spPr>
          <a:xfrm>
            <a:off x="1197881" y="1847565"/>
            <a:ext cx="3555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/>
              <a:t>int *</a:t>
            </a:r>
            <a:r>
              <a:rPr lang="en-IN" sz="2400" i="1" dirty="0" err="1"/>
              <a:t>ptr</a:t>
            </a:r>
            <a:r>
              <a:rPr lang="en-IN" sz="2400" i="1" dirty="0"/>
              <a:t> = new int{6} 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5453C2-FB69-4C37-AB44-0DDB25AAC82B}"/>
              </a:ext>
            </a:extLst>
          </p:cNvPr>
          <p:cNvGrpSpPr/>
          <p:nvPr/>
        </p:nvGrpSpPr>
        <p:grpSpPr>
          <a:xfrm>
            <a:off x="4201566" y="4041814"/>
            <a:ext cx="3544788" cy="899330"/>
            <a:chOff x="4201566" y="4041814"/>
            <a:chExt cx="3544788" cy="8993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11DC5C3-5F9B-4F7B-97B7-A3C6383CCFD0}"/>
                </a:ext>
              </a:extLst>
            </p:cNvPr>
            <p:cNvSpPr/>
            <p:nvPr/>
          </p:nvSpPr>
          <p:spPr>
            <a:xfrm>
              <a:off x="6752798" y="4041814"/>
              <a:ext cx="496779" cy="899330"/>
            </a:xfrm>
            <a:prstGeom prst="rect">
              <a:avLst/>
            </a:prstGeom>
            <a:solidFill>
              <a:srgbClr val="CC5D1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FB5AE14-D45E-4F4F-AA37-7B2F548CDD3D}"/>
                </a:ext>
              </a:extLst>
            </p:cNvPr>
            <p:cNvSpPr/>
            <p:nvPr/>
          </p:nvSpPr>
          <p:spPr>
            <a:xfrm>
              <a:off x="6256020" y="4041814"/>
              <a:ext cx="496778" cy="89933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9ADDF4-4E60-4901-8AA1-F580F53AB16A}"/>
                </a:ext>
              </a:extLst>
            </p:cNvPr>
            <p:cNvSpPr/>
            <p:nvPr/>
          </p:nvSpPr>
          <p:spPr>
            <a:xfrm>
              <a:off x="4201566" y="4041814"/>
              <a:ext cx="2054454" cy="8993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8FF12D-B4CF-4FB8-9705-5177910D39EC}"/>
                </a:ext>
              </a:extLst>
            </p:cNvPr>
            <p:cNvSpPr/>
            <p:nvPr/>
          </p:nvSpPr>
          <p:spPr>
            <a:xfrm>
              <a:off x="7249576" y="4041814"/>
              <a:ext cx="496778" cy="89933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282E493-9D8D-49FD-8190-AC0F5BE7F7E1}"/>
              </a:ext>
            </a:extLst>
          </p:cNvPr>
          <p:cNvSpPr/>
          <p:nvPr/>
        </p:nvSpPr>
        <p:spPr>
          <a:xfrm>
            <a:off x="1650334" y="4041814"/>
            <a:ext cx="1321466" cy="8993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Memory Block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50ED8-1BEC-4A65-BED4-03027D092799}"/>
              </a:ext>
            </a:extLst>
          </p:cNvPr>
          <p:cNvSpPr/>
          <p:nvPr/>
        </p:nvSpPr>
        <p:spPr>
          <a:xfrm>
            <a:off x="8980774" y="4041814"/>
            <a:ext cx="1321466" cy="89933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Memory Block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DDA8BD8-9C5B-4722-A196-DACFE966EC9A}"/>
              </a:ext>
            </a:extLst>
          </p:cNvPr>
          <p:cNvCxnSpPr>
            <a:cxnSpLocks/>
          </p:cNvCxnSpPr>
          <p:nvPr/>
        </p:nvCxnSpPr>
        <p:spPr>
          <a:xfrm>
            <a:off x="2971800" y="4303737"/>
            <a:ext cx="1229766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23292F-B22C-41DA-AC11-8DB062A55BAC}"/>
              </a:ext>
            </a:extLst>
          </p:cNvPr>
          <p:cNvCxnSpPr>
            <a:cxnSpLocks/>
          </p:cNvCxnSpPr>
          <p:nvPr/>
        </p:nvCxnSpPr>
        <p:spPr>
          <a:xfrm>
            <a:off x="7746354" y="4294554"/>
            <a:ext cx="1229766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861D68-57F0-4DF1-B941-3DEBB784A725}"/>
              </a:ext>
            </a:extLst>
          </p:cNvPr>
          <p:cNvCxnSpPr>
            <a:cxnSpLocks/>
          </p:cNvCxnSpPr>
          <p:nvPr/>
        </p:nvCxnSpPr>
        <p:spPr>
          <a:xfrm>
            <a:off x="7746354" y="4759374"/>
            <a:ext cx="1229766" cy="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lg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A4DDB3-F8AC-42A5-97FD-4E2D9EEEE7AB}"/>
              </a:ext>
            </a:extLst>
          </p:cNvPr>
          <p:cNvCxnSpPr>
            <a:cxnSpLocks/>
          </p:cNvCxnSpPr>
          <p:nvPr/>
        </p:nvCxnSpPr>
        <p:spPr>
          <a:xfrm>
            <a:off x="2971800" y="4779108"/>
            <a:ext cx="1229766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lgDash"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F32BB6-FAB2-4B57-9E9A-83A6A203189C}"/>
              </a:ext>
            </a:extLst>
          </p:cNvPr>
          <p:cNvCxnSpPr>
            <a:cxnSpLocks/>
          </p:cNvCxnSpPr>
          <p:nvPr/>
        </p:nvCxnSpPr>
        <p:spPr>
          <a:xfrm>
            <a:off x="6752798" y="3279814"/>
            <a:ext cx="0" cy="7620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2A3C172-2213-4D42-9B61-C853B8CCA759}"/>
              </a:ext>
            </a:extLst>
          </p:cNvPr>
          <p:cNvSpPr txBox="1"/>
          <p:nvPr/>
        </p:nvSpPr>
        <p:spPr>
          <a:xfrm>
            <a:off x="6284893" y="2806264"/>
            <a:ext cx="935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i="1" dirty="0" err="1"/>
              <a:t>ptr</a:t>
            </a:r>
            <a:endParaRPr lang="en-IN" sz="2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9F5FAF-289D-49FC-AB8D-FA3D4A419F0A}"/>
              </a:ext>
            </a:extLst>
          </p:cNvPr>
          <p:cNvSpPr txBox="1"/>
          <p:nvPr/>
        </p:nvSpPr>
        <p:spPr>
          <a:xfrm>
            <a:off x="4484819" y="494114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Block Header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9C021-85DB-4E08-A907-E2EF7BF3C2F3}"/>
              </a:ext>
            </a:extLst>
          </p:cNvPr>
          <p:cNvSpPr txBox="1"/>
          <p:nvPr/>
        </p:nvSpPr>
        <p:spPr>
          <a:xfrm>
            <a:off x="6383508" y="5448512"/>
            <a:ext cx="1458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Guard Bytes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CD7377-9BDD-4ECE-B1B8-FB81077876B0}"/>
              </a:ext>
            </a:extLst>
          </p:cNvPr>
          <p:cNvCxnSpPr>
            <a:cxnSpLocks/>
          </p:cNvCxnSpPr>
          <p:nvPr/>
        </p:nvCxnSpPr>
        <p:spPr>
          <a:xfrm>
            <a:off x="7497965" y="4941144"/>
            <a:ext cx="0" cy="52293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439FAF-191E-4F9D-91FA-6890444DA49A}"/>
              </a:ext>
            </a:extLst>
          </p:cNvPr>
          <p:cNvCxnSpPr>
            <a:cxnSpLocks/>
          </p:cNvCxnSpPr>
          <p:nvPr/>
        </p:nvCxnSpPr>
        <p:spPr>
          <a:xfrm>
            <a:off x="6545465" y="4941144"/>
            <a:ext cx="0" cy="522937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F1A917-791C-54EF-60EA-04A90A9D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18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5" grpId="0"/>
      <p:bldP spid="26" grpId="0"/>
      <p:bldP spid="2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8BAC-EF4F-4071-8F9A-E26F61B3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Block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824FEB-2060-432E-B522-CA2A08CF9A41}"/>
              </a:ext>
            </a:extLst>
          </p:cNvPr>
          <p:cNvGrpSpPr/>
          <p:nvPr/>
        </p:nvGrpSpPr>
        <p:grpSpPr>
          <a:xfrm>
            <a:off x="3658102" y="2493034"/>
            <a:ext cx="4685338" cy="1651619"/>
            <a:chOff x="4201566" y="4041814"/>
            <a:chExt cx="2551233" cy="89933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8BE8F0-4258-4249-AADC-25D592E9B14A}"/>
                </a:ext>
              </a:extLst>
            </p:cNvPr>
            <p:cNvSpPr/>
            <p:nvPr/>
          </p:nvSpPr>
          <p:spPr>
            <a:xfrm>
              <a:off x="6256020" y="4041814"/>
              <a:ext cx="496779" cy="899330"/>
            </a:xfrm>
            <a:prstGeom prst="rect">
              <a:avLst/>
            </a:prstGeom>
            <a:solidFill>
              <a:srgbClr val="CC5D1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93BE71-7244-44F1-AD02-D18FFAFE62B9}"/>
                </a:ext>
              </a:extLst>
            </p:cNvPr>
            <p:cNvSpPr/>
            <p:nvPr/>
          </p:nvSpPr>
          <p:spPr>
            <a:xfrm>
              <a:off x="4201566" y="4041814"/>
              <a:ext cx="2054454" cy="8993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struct </a:t>
              </a:r>
              <a:r>
                <a:rPr lang="en-IN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ptMemoryBlockHeader</a:t>
              </a:r>
              <a:endParaRPr lang="en-IN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0D5175-0013-4371-9C15-51A1561C1682}"/>
              </a:ext>
            </a:extLst>
          </p:cNvPr>
          <p:cNvSpPr txBox="1"/>
          <p:nvPr/>
        </p:nvSpPr>
        <p:spPr>
          <a:xfrm>
            <a:off x="7149956" y="4577667"/>
            <a:ext cx="147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Memory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F486E66E-1E03-483E-A95C-3B5A5A1189E3}"/>
              </a:ext>
            </a:extLst>
          </p:cNvPr>
          <p:cNvSpPr/>
          <p:nvPr/>
        </p:nvSpPr>
        <p:spPr>
          <a:xfrm rot="16200000">
            <a:off x="7779694" y="3956752"/>
            <a:ext cx="215158" cy="912334"/>
          </a:xfrm>
          <a:prstGeom prst="leftBrace">
            <a:avLst>
              <a:gd name="adj1" fmla="val 8333"/>
              <a:gd name="adj2" fmla="val 502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B8C27-542F-4244-B8D1-D6D6AAB10BAC}"/>
              </a:ext>
            </a:extLst>
          </p:cNvPr>
          <p:cNvSpPr txBox="1"/>
          <p:nvPr/>
        </p:nvSpPr>
        <p:spPr>
          <a:xfrm>
            <a:off x="2838871" y="1563191"/>
            <a:ext cx="163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allocated_mem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E9EC77-1270-4E9C-81CE-819443671CC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658102" y="1932523"/>
            <a:ext cx="0" cy="5605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F3C957-B91D-417F-A35F-4A885AC712CC}"/>
              </a:ext>
            </a:extLst>
          </p:cNvPr>
          <p:cNvSpPr txBox="1"/>
          <p:nvPr/>
        </p:nvSpPr>
        <p:spPr>
          <a:xfrm>
            <a:off x="6827306" y="157552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user_mem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89BABC-E794-43CD-BA6D-8602F5B44F2D}"/>
              </a:ext>
            </a:extLst>
          </p:cNvPr>
          <p:cNvCxnSpPr>
            <a:cxnSpLocks/>
          </p:cNvCxnSpPr>
          <p:nvPr/>
        </p:nvCxnSpPr>
        <p:spPr>
          <a:xfrm>
            <a:off x="7422982" y="1932523"/>
            <a:ext cx="0" cy="5605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FA995-A0B3-B8F9-FD0E-5BA18F23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675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31EF-F4D6-4D1B-9336-69DD376E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DB6F-416B-4BB4-B5BF-5D3F43901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user only gets a portion of this memory block</a:t>
            </a:r>
          </a:p>
          <a:p>
            <a:r>
              <a:rPr lang="en-IN" dirty="0"/>
              <a:t>When the user releases the memory, the block is removed from the list</a:t>
            </a:r>
          </a:p>
          <a:p>
            <a:r>
              <a:rPr lang="en-IN" dirty="0"/>
              <a:t>Any memory that is not released will still have corresponding blocks in the list</a:t>
            </a:r>
          </a:p>
          <a:p>
            <a:r>
              <a:rPr lang="en-IN" dirty="0"/>
              <a:t>These blocks are dumped as leaks through </a:t>
            </a:r>
            <a:r>
              <a:rPr lang="en-IN" i="1" dirty="0"/>
              <a:t>_</a:t>
            </a:r>
            <a:r>
              <a:rPr lang="en-IN" i="1" dirty="0" err="1"/>
              <a:t>CrtDumpMemoryLeaks</a:t>
            </a:r>
            <a:r>
              <a:rPr lang="en-IN" i="1" dirty="0"/>
              <a:t>()</a:t>
            </a:r>
          </a:p>
          <a:p>
            <a:r>
              <a:rPr lang="en-IN" dirty="0"/>
              <a:t>The information about the leak is picked from the block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133BC-A03E-B210-4B8D-CCD06A5D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556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9768-BF8F-4D85-87D6-D52EACE5C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Implementation (Detecting Memory Overwrites)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11DD2-C02F-445A-AC49-61B7F9AA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Various ways to implement</a:t>
            </a:r>
          </a:p>
          <a:p>
            <a:pPr lvl="1"/>
            <a:r>
              <a:rPr lang="en-IN" dirty="0"/>
              <a:t>surround allocated memory with known values</a:t>
            </a:r>
          </a:p>
          <a:p>
            <a:pPr lvl="1"/>
            <a:r>
              <a:rPr lang="en-IN" dirty="0"/>
              <a:t>memory surrounding allocated memory is put in read-only pages</a:t>
            </a:r>
          </a:p>
          <a:p>
            <a:r>
              <a:rPr lang="en-IN" dirty="0"/>
              <a:t>Visual Studio &amp; other tools use these approaches to detect memory overwrites</a:t>
            </a:r>
          </a:p>
          <a:p>
            <a:r>
              <a:rPr lang="en-IN" dirty="0"/>
              <a:t>The user’s allocated memory is surrounded by known values (0xFDFDFDFD)</a:t>
            </a:r>
          </a:p>
          <a:p>
            <a:r>
              <a:rPr lang="en-IN" dirty="0"/>
              <a:t>This area is called </a:t>
            </a:r>
            <a:r>
              <a:rPr lang="en-IN" i="1" dirty="0" err="1"/>
              <a:t>NoMansLand</a:t>
            </a:r>
            <a:endParaRPr lang="en-IN" i="1" dirty="0"/>
          </a:p>
          <a:p>
            <a:r>
              <a:rPr lang="en-IN" dirty="0"/>
              <a:t>If the values in </a:t>
            </a:r>
            <a:r>
              <a:rPr lang="en-IN" i="1" dirty="0" err="1"/>
              <a:t>NoMansLand</a:t>
            </a:r>
            <a:r>
              <a:rPr lang="en-IN" dirty="0"/>
              <a:t> change, that indicates heap corruption</a:t>
            </a: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F0599-BFF3-37D2-F06D-1AF77355F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530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8BAC-EF4F-4071-8F9A-E26F61B3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Block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824FEB-2060-432E-B522-CA2A08CF9A41}"/>
              </a:ext>
            </a:extLst>
          </p:cNvPr>
          <p:cNvGrpSpPr/>
          <p:nvPr/>
        </p:nvGrpSpPr>
        <p:grpSpPr>
          <a:xfrm>
            <a:off x="2835481" y="2726116"/>
            <a:ext cx="6521038" cy="1651621"/>
            <a:chOff x="4201566" y="4041813"/>
            <a:chExt cx="3550798" cy="8993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8BE8F0-4258-4249-AADC-25D592E9B14A}"/>
                </a:ext>
              </a:extLst>
            </p:cNvPr>
            <p:cNvSpPr/>
            <p:nvPr/>
          </p:nvSpPr>
          <p:spPr>
            <a:xfrm>
              <a:off x="6256020" y="4041814"/>
              <a:ext cx="496779" cy="8993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IN" sz="1600" dirty="0"/>
                <a:t>0XFDFDFDFD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93BE71-7244-44F1-AD02-D18FFAFE62B9}"/>
                </a:ext>
              </a:extLst>
            </p:cNvPr>
            <p:cNvSpPr/>
            <p:nvPr/>
          </p:nvSpPr>
          <p:spPr>
            <a:xfrm>
              <a:off x="4201566" y="4041814"/>
              <a:ext cx="2054454" cy="8993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i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B326798-8FFF-4D64-9578-3ABD6DD2E60B}"/>
                </a:ext>
              </a:extLst>
            </p:cNvPr>
            <p:cNvSpPr/>
            <p:nvPr/>
          </p:nvSpPr>
          <p:spPr>
            <a:xfrm>
              <a:off x="6757679" y="4041814"/>
              <a:ext cx="496779" cy="899330"/>
            </a:xfrm>
            <a:prstGeom prst="rect">
              <a:avLst/>
            </a:prstGeom>
            <a:solidFill>
              <a:srgbClr val="CC5D1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C42C574-47F7-4EF5-851C-47E88D29D9D9}"/>
                </a:ext>
              </a:extLst>
            </p:cNvPr>
            <p:cNvSpPr/>
            <p:nvPr/>
          </p:nvSpPr>
          <p:spPr>
            <a:xfrm>
              <a:off x="7255585" y="4041813"/>
              <a:ext cx="496779" cy="8993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IN" sz="1600" dirty="0"/>
                <a:t>0XFDFDFDFD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10D5175-0013-4371-9C15-51A1561C1682}"/>
              </a:ext>
            </a:extLst>
          </p:cNvPr>
          <p:cNvSpPr txBox="1"/>
          <p:nvPr/>
        </p:nvSpPr>
        <p:spPr>
          <a:xfrm>
            <a:off x="7250362" y="4810748"/>
            <a:ext cx="147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Memory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F486E66E-1E03-483E-A95C-3B5A5A1189E3}"/>
              </a:ext>
            </a:extLst>
          </p:cNvPr>
          <p:cNvSpPr/>
          <p:nvPr/>
        </p:nvSpPr>
        <p:spPr>
          <a:xfrm rot="16200000">
            <a:off x="7880100" y="4189833"/>
            <a:ext cx="215158" cy="912334"/>
          </a:xfrm>
          <a:prstGeom prst="leftBrace">
            <a:avLst>
              <a:gd name="adj1" fmla="val 8333"/>
              <a:gd name="adj2" fmla="val 502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B8C27-542F-4244-B8D1-D6D6AAB10BAC}"/>
              </a:ext>
            </a:extLst>
          </p:cNvPr>
          <p:cNvSpPr txBox="1"/>
          <p:nvPr/>
        </p:nvSpPr>
        <p:spPr>
          <a:xfrm>
            <a:off x="2016251" y="1796274"/>
            <a:ext cx="163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allocated_mem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E9EC77-1270-4E9C-81CE-819443671CC6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835482" y="2165606"/>
            <a:ext cx="0" cy="560511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89BABC-E794-43CD-BA6D-8602F5B44F2D}"/>
              </a:ext>
            </a:extLst>
          </p:cNvPr>
          <p:cNvCxnSpPr>
            <a:cxnSpLocks/>
          </p:cNvCxnSpPr>
          <p:nvPr/>
        </p:nvCxnSpPr>
        <p:spPr>
          <a:xfrm>
            <a:off x="7117407" y="1796274"/>
            <a:ext cx="0" cy="929842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EEC704A-0908-44C5-BB2D-EFC1EFA9A926}"/>
              </a:ext>
            </a:extLst>
          </p:cNvPr>
          <p:cNvSpPr txBox="1"/>
          <p:nvPr/>
        </p:nvSpPr>
        <p:spPr>
          <a:xfrm>
            <a:off x="7304063" y="1586364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NoMansLand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05EE8C-D544-4441-B94D-F60107D3FDB1}"/>
              </a:ext>
            </a:extLst>
          </p:cNvPr>
          <p:cNvCxnSpPr>
            <a:cxnSpLocks/>
          </p:cNvCxnSpPr>
          <p:nvPr/>
        </p:nvCxnSpPr>
        <p:spPr>
          <a:xfrm>
            <a:off x="8917712" y="1796274"/>
            <a:ext cx="0" cy="929842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7876F4-E8BC-4CB5-BEA2-D56CBED5D131}"/>
              </a:ext>
            </a:extLst>
          </p:cNvPr>
          <p:cNvCxnSpPr>
            <a:cxnSpLocks/>
          </p:cNvCxnSpPr>
          <p:nvPr/>
        </p:nvCxnSpPr>
        <p:spPr>
          <a:xfrm>
            <a:off x="8782050" y="1789460"/>
            <a:ext cx="135662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E1EBCF-4D80-4D83-A019-285740DBBFC0}"/>
              </a:ext>
            </a:extLst>
          </p:cNvPr>
          <p:cNvCxnSpPr>
            <a:cxnSpLocks/>
          </p:cNvCxnSpPr>
          <p:nvPr/>
        </p:nvCxnSpPr>
        <p:spPr>
          <a:xfrm>
            <a:off x="7126491" y="1802004"/>
            <a:ext cx="123871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603FC85-B47E-468D-AF10-32A6A09AA1AC}"/>
              </a:ext>
            </a:extLst>
          </p:cNvPr>
          <p:cNvSpPr/>
          <p:nvPr/>
        </p:nvSpPr>
        <p:spPr>
          <a:xfrm>
            <a:off x="4426863" y="4753579"/>
            <a:ext cx="1426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Block Header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74C10E29-9BF7-446B-8C1E-CFB3C30426EA}"/>
              </a:ext>
            </a:extLst>
          </p:cNvPr>
          <p:cNvSpPr/>
          <p:nvPr/>
        </p:nvSpPr>
        <p:spPr>
          <a:xfrm rot="16200000">
            <a:off x="5070571" y="2314388"/>
            <a:ext cx="215158" cy="4685337"/>
          </a:xfrm>
          <a:prstGeom prst="leftBrace">
            <a:avLst>
              <a:gd name="adj1" fmla="val 8333"/>
              <a:gd name="adj2" fmla="val 5023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0C4C1-A6E3-5C1A-8A29-BBD7E347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483456"/>
      </p:ext>
    </p:extLst>
  </p:cSld>
  <p:clrMapOvr>
    <a:masterClrMapping/>
  </p:clrMapOvr>
  <p:transition spd="slow">
    <p:push dir="u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950F-82F9-42DD-86C6-79BA5FC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 Studio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8DFA-032B-44DE-9723-181D35354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Visual Studio provides a function called </a:t>
            </a:r>
            <a:r>
              <a:rPr lang="en-IN" i="1" dirty="0"/>
              <a:t>_</a:t>
            </a:r>
            <a:r>
              <a:rPr lang="en-IN" i="1" dirty="0" err="1"/>
              <a:t>CrtCheckMemory</a:t>
            </a:r>
            <a:r>
              <a:rPr lang="en-IN" dirty="0"/>
              <a:t> to check for overwrites</a:t>
            </a:r>
          </a:p>
          <a:p>
            <a:r>
              <a:rPr lang="en-IN" dirty="0"/>
              <a:t>The heap manager allocates extra memory </a:t>
            </a:r>
          </a:p>
          <a:p>
            <a:r>
              <a:rPr lang="en-IN" dirty="0"/>
              <a:t>The user’s allocated memory is surrounded by </a:t>
            </a:r>
            <a:r>
              <a:rPr lang="en-IN" dirty="0" err="1"/>
              <a:t>NoMansLand</a:t>
            </a:r>
            <a:endParaRPr lang="en-IN" dirty="0"/>
          </a:p>
          <a:p>
            <a:r>
              <a:rPr lang="en-IN" dirty="0"/>
              <a:t>This area contains known values (0xFDFDFDFD)</a:t>
            </a:r>
          </a:p>
          <a:p>
            <a:r>
              <a:rPr lang="en-IN" dirty="0"/>
              <a:t>The function checks for these known values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84508-FD3E-AF6B-2DFC-2900EF0B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learning.poash.com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964636"/>
      </p:ext>
    </p:extLst>
  </p:cSld>
  <p:clrMapOvr>
    <a:masterClrMapping/>
  </p:clrMapOvr>
  <p:transition spd="slow">
    <p:push dir="u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0F30A3-7263-4306-A201-64C4EDEA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DC5C3-5F9B-4F7B-97B7-A3C6383CCFD0}"/>
              </a:ext>
            </a:extLst>
          </p:cNvPr>
          <p:cNvSpPr/>
          <p:nvPr/>
        </p:nvSpPr>
        <p:spPr>
          <a:xfrm>
            <a:off x="5397909" y="3168756"/>
            <a:ext cx="1396181" cy="8160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CA5D9-73B1-4340-87D7-7DEE0F766723}"/>
              </a:ext>
            </a:extLst>
          </p:cNvPr>
          <p:cNvSpPr txBox="1"/>
          <p:nvPr/>
        </p:nvSpPr>
        <p:spPr>
          <a:xfrm>
            <a:off x="2244212" y="3381675"/>
            <a:ext cx="2259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int *p = new int{100} 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A3E34-EABA-4E09-9051-AD4C6C358E67}"/>
              </a:ext>
            </a:extLst>
          </p:cNvPr>
          <p:cNvSpPr/>
          <p:nvPr/>
        </p:nvSpPr>
        <p:spPr>
          <a:xfrm>
            <a:off x="5397909" y="4100052"/>
            <a:ext cx="1396181" cy="477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0xFDFDFDFD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B5AE14-D45E-4F4F-AA37-7B2F548CDD3D}"/>
              </a:ext>
            </a:extLst>
          </p:cNvPr>
          <p:cNvSpPr/>
          <p:nvPr/>
        </p:nvSpPr>
        <p:spPr>
          <a:xfrm>
            <a:off x="5397908" y="2566012"/>
            <a:ext cx="1396181" cy="477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0xFDFDFDFD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D29D187-4EE9-45FA-820F-42D54C838DC3}"/>
              </a:ext>
            </a:extLst>
          </p:cNvPr>
          <p:cNvSpPr/>
          <p:nvPr/>
        </p:nvSpPr>
        <p:spPr>
          <a:xfrm>
            <a:off x="4739147" y="2566012"/>
            <a:ext cx="570271" cy="201152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185BA6-7942-48E8-8701-98031C54C830}"/>
              </a:ext>
            </a:extLst>
          </p:cNvPr>
          <p:cNvSpPr txBox="1"/>
          <p:nvPr/>
        </p:nvSpPr>
        <p:spPr>
          <a:xfrm>
            <a:off x="7022689" y="2620089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Header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831F43-28EB-47AB-B397-E83026AD9B16}"/>
              </a:ext>
            </a:extLst>
          </p:cNvPr>
          <p:cNvSpPr txBox="1"/>
          <p:nvPr/>
        </p:nvSpPr>
        <p:spPr>
          <a:xfrm>
            <a:off x="7022689" y="4153879"/>
            <a:ext cx="80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Footer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E94BC8-80EB-4001-85C8-7BCDC545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learning.poash.com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23185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Po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dem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my" id="{77642D1A-6C14-4848-8E3D-CE96DEDDFB9F}" vid="{4237F7EC-4979-42F6-944C-1CF21C5DC90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Poash</Template>
  <TotalTime>9616</TotalTime>
  <Words>5775</Words>
  <Application>Microsoft Office PowerPoint</Application>
  <PresentationFormat>Widescreen</PresentationFormat>
  <Paragraphs>820</Paragraphs>
  <Slides>104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104</vt:i4>
      </vt:variant>
    </vt:vector>
  </HeadingPairs>
  <TitlesOfParts>
    <vt:vector size="119" baseType="lpstr">
      <vt:lpstr>Arial</vt:lpstr>
      <vt:lpstr>Arial Narrow</vt:lpstr>
      <vt:lpstr>Calibri</vt:lpstr>
      <vt:lpstr>Calibri Light</vt:lpstr>
      <vt:lpstr>Cambria</vt:lpstr>
      <vt:lpstr>Cascadia Mono</vt:lpstr>
      <vt:lpstr>Consolas</vt:lpstr>
      <vt:lpstr>fkGroteskNeue</vt:lpstr>
      <vt:lpstr>Iosevka</vt:lpstr>
      <vt:lpstr>JetBrains Mono</vt:lpstr>
      <vt:lpstr>Symbol</vt:lpstr>
      <vt:lpstr>Times New Roman</vt:lpstr>
      <vt:lpstr>Poash</vt:lpstr>
      <vt:lpstr>Udemy</vt:lpstr>
      <vt:lpstr>Office Theme</vt:lpstr>
      <vt:lpstr>Detecting Memory Leaks in C/C++ Applications using Visual Studio</vt:lpstr>
      <vt:lpstr>learning@poash</vt:lpstr>
      <vt:lpstr>learning@poash</vt:lpstr>
      <vt:lpstr>learning@poash</vt:lpstr>
      <vt:lpstr>Objectives</vt:lpstr>
      <vt:lpstr>Process</vt:lpstr>
      <vt:lpstr>Process</vt:lpstr>
      <vt:lpstr>Variables</vt:lpstr>
      <vt:lpstr>Pointer</vt:lpstr>
      <vt:lpstr>Pointer</vt:lpstr>
      <vt:lpstr>Byte Ordering</vt:lpstr>
      <vt:lpstr>Example</vt:lpstr>
      <vt:lpstr>What is a bug?</vt:lpstr>
      <vt:lpstr>What is debugging?</vt:lpstr>
      <vt:lpstr>Debugging Tools</vt:lpstr>
      <vt:lpstr>Windows Debuggers</vt:lpstr>
      <vt:lpstr>Debugging Without Debuggers</vt:lpstr>
      <vt:lpstr>Tracing/Logging</vt:lpstr>
      <vt:lpstr>Function Tracing (MSVC)</vt:lpstr>
      <vt:lpstr>Example</vt:lpstr>
      <vt:lpstr>C++20 std::source_location</vt:lpstr>
      <vt:lpstr>Example</vt:lpstr>
      <vt:lpstr>Reporting Macros</vt:lpstr>
      <vt:lpstr>Macros</vt:lpstr>
      <vt:lpstr>PowerPoint Presentation</vt:lpstr>
      <vt:lpstr>Format Specifiers</vt:lpstr>
      <vt:lpstr>ANSI C Assertion</vt:lpstr>
      <vt:lpstr>Usage</vt:lpstr>
      <vt:lpstr>Visual C++ Asserts </vt:lpstr>
      <vt:lpstr>Preconditions</vt:lpstr>
      <vt:lpstr>Post Conditions</vt:lpstr>
      <vt:lpstr>Invariants</vt:lpstr>
      <vt:lpstr>Guidelines</vt:lpstr>
      <vt:lpstr>Guidelines</vt:lpstr>
      <vt:lpstr>Asserting User Input</vt:lpstr>
      <vt:lpstr>Asserting With Side Effects</vt:lpstr>
      <vt:lpstr>Asserting Business Logic</vt:lpstr>
      <vt:lpstr>Complex Expressions</vt:lpstr>
      <vt:lpstr>Complex Expressions</vt:lpstr>
      <vt:lpstr>Messages</vt:lpstr>
      <vt:lpstr>Compile-Time Assertion</vt:lpstr>
      <vt:lpstr>Example</vt:lpstr>
      <vt:lpstr>Visual Studio Debugger</vt:lpstr>
      <vt:lpstr>Debug Windows</vt:lpstr>
      <vt:lpstr>Starting Debugging</vt:lpstr>
      <vt:lpstr>Start &amp; Stop Debugging</vt:lpstr>
      <vt:lpstr>Debugging Commands</vt:lpstr>
      <vt:lpstr>More Commands</vt:lpstr>
      <vt:lpstr>Datatips</vt:lpstr>
      <vt:lpstr>Datatips</vt:lpstr>
      <vt:lpstr>Locals &amp; Autos Window</vt:lpstr>
      <vt:lpstr>PowerPoint Presentation</vt:lpstr>
      <vt:lpstr>Watches</vt:lpstr>
      <vt:lpstr>Watch</vt:lpstr>
      <vt:lpstr>Watch Window</vt:lpstr>
      <vt:lpstr>Expression Evaluation</vt:lpstr>
      <vt:lpstr>PowerPoint Presentation</vt:lpstr>
      <vt:lpstr>Breakpoints</vt:lpstr>
      <vt:lpstr>Breakpoint Types</vt:lpstr>
      <vt:lpstr>Tracepoints</vt:lpstr>
      <vt:lpstr>Tracepoints</vt:lpstr>
      <vt:lpstr>Important Windows</vt:lpstr>
      <vt:lpstr>Call Stack</vt:lpstr>
      <vt:lpstr>Disassembly</vt:lpstr>
      <vt:lpstr>Memory Window</vt:lpstr>
      <vt:lpstr>Dynamic Memory Allocation</vt:lpstr>
      <vt:lpstr>Why Dynamic Memory</vt:lpstr>
      <vt:lpstr>Dynamic Memory Allocation in C</vt:lpstr>
      <vt:lpstr>C Allocation Functions</vt:lpstr>
      <vt:lpstr>C++ Allocation Operators</vt:lpstr>
      <vt:lpstr>How new works</vt:lpstr>
      <vt:lpstr>delete</vt:lpstr>
      <vt:lpstr>How new works</vt:lpstr>
      <vt:lpstr>Non-throwing new</vt:lpstr>
      <vt:lpstr>Syntax</vt:lpstr>
      <vt:lpstr>Placement new</vt:lpstr>
      <vt:lpstr>Syntax</vt:lpstr>
      <vt:lpstr>operator new functions</vt:lpstr>
      <vt:lpstr>operator delete functions</vt:lpstr>
      <vt:lpstr>malloc vs new</vt:lpstr>
      <vt:lpstr>Issues</vt:lpstr>
      <vt:lpstr>Uninitialized Pointers</vt:lpstr>
      <vt:lpstr>Memory Overwrite</vt:lpstr>
      <vt:lpstr>Dangling Pointer</vt:lpstr>
      <vt:lpstr>Avoiding Dangling Pointer</vt:lpstr>
      <vt:lpstr>Memory Leak</vt:lpstr>
      <vt:lpstr>Avoid Memory Issues</vt:lpstr>
      <vt:lpstr>Detecting Heap Buffer Overflows</vt:lpstr>
      <vt:lpstr>Example</vt:lpstr>
      <vt:lpstr>Detecting Memory Leaks</vt:lpstr>
      <vt:lpstr>Diagnostic Dump</vt:lpstr>
      <vt:lpstr>Memory Checkpoints</vt:lpstr>
      <vt:lpstr>Debug Heap Functions</vt:lpstr>
      <vt:lpstr>Report Mode &amp; Type </vt:lpstr>
      <vt:lpstr>Report Type</vt:lpstr>
      <vt:lpstr>Report Mode</vt:lpstr>
      <vt:lpstr>Implementation</vt:lpstr>
      <vt:lpstr>Implementation</vt:lpstr>
      <vt:lpstr>Memory Block</vt:lpstr>
      <vt:lpstr>Implementation</vt:lpstr>
      <vt:lpstr>Implementation (Detecting Memory Overwrites)</vt:lpstr>
      <vt:lpstr>Memory Block</vt:lpstr>
      <vt:lpstr>Visual Studio Implementation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Pointers and Applications</dc:title>
  <dc:creator>Umar Lone</dc:creator>
  <cp:lastModifiedBy>Umar Lone</cp:lastModifiedBy>
  <cp:revision>148</cp:revision>
  <dcterms:created xsi:type="dcterms:W3CDTF">2017-10-14T15:35:24Z</dcterms:created>
  <dcterms:modified xsi:type="dcterms:W3CDTF">2025-10-26T04:41:12Z</dcterms:modified>
</cp:coreProperties>
</file>